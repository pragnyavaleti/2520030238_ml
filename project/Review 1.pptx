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p:cViewPr varScale="1">
        <p:scale>
          <a:sx n="84" d="100"/>
          <a:sy n="84" d="100"/>
        </p:scale>
        <p:origin x="658"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200" b="1" i="0">
                <a:solidFill>
                  <a:schemeClr val="bg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9/3/2026</a:t>
            </a:fld>
            <a:endParaRPr lang="en-US"/>
          </a:p>
        </p:txBody>
      </p:sp>
      <p:sp>
        <p:nvSpPr>
          <p:cNvPr id="6" name="Holder 6"/>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9/3/2026</a:t>
            </a:fld>
            <a:endParaRPr lang="en-US"/>
          </a:p>
        </p:txBody>
      </p:sp>
      <p:sp>
        <p:nvSpPr>
          <p:cNvPr id="6" name="Holder 6"/>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9/3/2026</a:t>
            </a:fld>
            <a:endParaRPr lang="en-US"/>
          </a:p>
        </p:txBody>
      </p:sp>
      <p:sp>
        <p:nvSpPr>
          <p:cNvPr id="7" name="Holder 7"/>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9/3/2026</a:t>
            </a:fld>
            <a:endParaRPr lang="en-US"/>
          </a:p>
        </p:txBody>
      </p:sp>
      <p:sp>
        <p:nvSpPr>
          <p:cNvPr id="5" name="Holder 5"/>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9/3/2026</a:t>
            </a:fld>
            <a:endParaRPr lang="en-US"/>
          </a:p>
        </p:txBody>
      </p:sp>
      <p:sp>
        <p:nvSpPr>
          <p:cNvPr id="4" name="Holder 4"/>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AF7F0"/>
          </a:solidFill>
        </p:spPr>
        <p:txBody>
          <a:bodyPr wrap="square" lIns="0" tIns="0" rIns="0" bIns="0" rtlCol="0"/>
          <a:lstStyle/>
          <a:p>
            <a:endParaRPr/>
          </a:p>
        </p:txBody>
      </p:sp>
      <p:sp>
        <p:nvSpPr>
          <p:cNvPr id="17" name="bg object 17"/>
          <p:cNvSpPr/>
          <p:nvPr/>
        </p:nvSpPr>
        <p:spPr>
          <a:xfrm>
            <a:off x="0" y="0"/>
            <a:ext cx="12192000" cy="45720"/>
          </a:xfrm>
          <a:custGeom>
            <a:avLst/>
            <a:gdLst/>
            <a:ahLst/>
            <a:cxnLst/>
            <a:rect l="l" t="t" r="r" b="b"/>
            <a:pathLst>
              <a:path w="12192000" h="45720">
                <a:moveTo>
                  <a:pt x="12192000" y="0"/>
                </a:moveTo>
                <a:lnTo>
                  <a:pt x="0" y="0"/>
                </a:lnTo>
                <a:lnTo>
                  <a:pt x="0" y="45720"/>
                </a:lnTo>
                <a:lnTo>
                  <a:pt x="12192000" y="45720"/>
                </a:lnTo>
                <a:lnTo>
                  <a:pt x="12192000" y="0"/>
                </a:lnTo>
                <a:close/>
              </a:path>
            </a:pathLst>
          </a:custGeom>
          <a:solidFill>
            <a:srgbClr val="B92431"/>
          </a:solidFill>
        </p:spPr>
        <p:txBody>
          <a:bodyPr wrap="square" lIns="0" tIns="0" rIns="0" bIns="0" rtlCol="0"/>
          <a:lstStyle/>
          <a:p>
            <a:endParaRPr/>
          </a:p>
        </p:txBody>
      </p:sp>
      <p:sp>
        <p:nvSpPr>
          <p:cNvPr id="18" name="bg object 18"/>
          <p:cNvSpPr/>
          <p:nvPr/>
        </p:nvSpPr>
        <p:spPr>
          <a:xfrm>
            <a:off x="0" y="6812279"/>
            <a:ext cx="12192000" cy="45720"/>
          </a:xfrm>
          <a:custGeom>
            <a:avLst/>
            <a:gdLst/>
            <a:ahLst/>
            <a:cxnLst/>
            <a:rect l="l" t="t" r="r" b="b"/>
            <a:pathLst>
              <a:path w="12192000" h="45720">
                <a:moveTo>
                  <a:pt x="12192000" y="0"/>
                </a:moveTo>
                <a:lnTo>
                  <a:pt x="0" y="0"/>
                </a:lnTo>
                <a:lnTo>
                  <a:pt x="0" y="45719"/>
                </a:lnTo>
                <a:lnTo>
                  <a:pt x="12192000" y="45719"/>
                </a:lnTo>
                <a:lnTo>
                  <a:pt x="12192000" y="0"/>
                </a:lnTo>
                <a:close/>
              </a:path>
            </a:pathLst>
          </a:custGeom>
          <a:solidFill>
            <a:srgbClr val="B92431"/>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228600" y="164592"/>
            <a:ext cx="1417320" cy="609599"/>
          </a:xfrm>
          <a:prstGeom prst="rect">
            <a:avLst/>
          </a:prstGeom>
        </p:spPr>
      </p:pic>
      <p:sp>
        <p:nvSpPr>
          <p:cNvPr id="20" name="bg object 20"/>
          <p:cNvSpPr/>
          <p:nvPr/>
        </p:nvSpPr>
        <p:spPr>
          <a:xfrm>
            <a:off x="2712720" y="256031"/>
            <a:ext cx="6766559" cy="567055"/>
          </a:xfrm>
          <a:custGeom>
            <a:avLst/>
            <a:gdLst/>
            <a:ahLst/>
            <a:cxnLst/>
            <a:rect l="l" t="t" r="r" b="b"/>
            <a:pathLst>
              <a:path w="6766559" h="567055">
                <a:moveTo>
                  <a:pt x="6638544" y="0"/>
                </a:moveTo>
                <a:lnTo>
                  <a:pt x="128016" y="0"/>
                </a:lnTo>
                <a:lnTo>
                  <a:pt x="78170" y="10054"/>
                </a:lnTo>
                <a:lnTo>
                  <a:pt x="37480" y="37480"/>
                </a:lnTo>
                <a:lnTo>
                  <a:pt x="10054" y="78170"/>
                </a:lnTo>
                <a:lnTo>
                  <a:pt x="0" y="128016"/>
                </a:lnTo>
                <a:lnTo>
                  <a:pt x="0" y="438912"/>
                </a:lnTo>
                <a:lnTo>
                  <a:pt x="10054" y="488757"/>
                </a:lnTo>
                <a:lnTo>
                  <a:pt x="37480" y="529447"/>
                </a:lnTo>
                <a:lnTo>
                  <a:pt x="78170" y="556873"/>
                </a:lnTo>
                <a:lnTo>
                  <a:pt x="128016" y="566928"/>
                </a:lnTo>
                <a:lnTo>
                  <a:pt x="6638544" y="566928"/>
                </a:lnTo>
                <a:lnTo>
                  <a:pt x="6688389" y="556873"/>
                </a:lnTo>
                <a:lnTo>
                  <a:pt x="6729079" y="529447"/>
                </a:lnTo>
                <a:lnTo>
                  <a:pt x="6756505" y="488757"/>
                </a:lnTo>
                <a:lnTo>
                  <a:pt x="6766559" y="438912"/>
                </a:lnTo>
                <a:lnTo>
                  <a:pt x="6766559" y="128016"/>
                </a:lnTo>
                <a:lnTo>
                  <a:pt x="6756505" y="78170"/>
                </a:lnTo>
                <a:lnTo>
                  <a:pt x="6729079" y="37480"/>
                </a:lnTo>
                <a:lnTo>
                  <a:pt x="6688389" y="10054"/>
                </a:lnTo>
                <a:lnTo>
                  <a:pt x="6638544" y="0"/>
                </a:lnTo>
                <a:close/>
              </a:path>
            </a:pathLst>
          </a:custGeom>
          <a:solidFill>
            <a:srgbClr val="C00000"/>
          </a:solidFill>
        </p:spPr>
        <p:txBody>
          <a:bodyPr wrap="square" lIns="0" tIns="0" rIns="0" bIns="0" rtlCol="0"/>
          <a:lstStyle/>
          <a:p>
            <a:endParaRPr/>
          </a:p>
        </p:txBody>
      </p:sp>
      <p:sp>
        <p:nvSpPr>
          <p:cNvPr id="2" name="Holder 2"/>
          <p:cNvSpPr>
            <a:spLocks noGrp="1"/>
          </p:cNvSpPr>
          <p:nvPr>
            <p:ph type="title"/>
          </p:nvPr>
        </p:nvSpPr>
        <p:spPr>
          <a:xfrm>
            <a:off x="4232782" y="341122"/>
            <a:ext cx="3726434" cy="361950"/>
          </a:xfrm>
          <a:prstGeom prst="rect">
            <a:avLst/>
          </a:prstGeom>
        </p:spPr>
        <p:txBody>
          <a:bodyPr wrap="square" lIns="0" tIns="0" rIns="0" bIns="0">
            <a:spAutoFit/>
          </a:bodyPr>
          <a:lstStyle>
            <a:lvl1pPr>
              <a:defRPr sz="2200" b="1" i="0">
                <a:solidFill>
                  <a:schemeClr val="bg1"/>
                </a:solidFill>
                <a:latin typeface="Calibri"/>
                <a:cs typeface="Calibri"/>
              </a:defRPr>
            </a:lvl1pPr>
          </a:lstStyle>
          <a:p>
            <a:endParaRPr/>
          </a:p>
        </p:txBody>
      </p:sp>
      <p:sp>
        <p:nvSpPr>
          <p:cNvPr id="3" name="Holder 3"/>
          <p:cNvSpPr>
            <a:spLocks noGrp="1"/>
          </p:cNvSpPr>
          <p:nvPr>
            <p:ph type="body" idx="1"/>
          </p:nvPr>
        </p:nvSpPr>
        <p:spPr>
          <a:xfrm>
            <a:off x="947724" y="2981960"/>
            <a:ext cx="6196330" cy="2370454"/>
          </a:xfrm>
          <a:prstGeom prst="rect">
            <a:avLst/>
          </a:prstGeom>
        </p:spPr>
        <p:txBody>
          <a:bodyPr wrap="square" lIns="0" tIns="0" rIns="0" bIns="0">
            <a:spAutoFit/>
          </a:bodyPr>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a:xfrm>
            <a:off x="398779" y="6589268"/>
            <a:ext cx="2378710" cy="141604"/>
          </a:xfrm>
          <a:prstGeom prst="rect">
            <a:avLst/>
          </a:prstGeom>
        </p:spPr>
        <p:txBody>
          <a:bodyPr wrap="square" lIns="0" tIns="0" rIns="0" bIns="0">
            <a:spAutoFit/>
          </a:bodyPr>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9/3/2026</a:t>
            </a:fld>
            <a:endParaRPr lang="en-US"/>
          </a:p>
        </p:txBody>
      </p:sp>
      <p:sp>
        <p:nvSpPr>
          <p:cNvPr id="6" name="Holder 6"/>
          <p:cNvSpPr>
            <a:spLocks noGrp="1"/>
          </p:cNvSpPr>
          <p:nvPr>
            <p:ph type="sldNum" sz="quarter" idx="7"/>
          </p:nvPr>
        </p:nvSpPr>
        <p:spPr>
          <a:xfrm>
            <a:off x="11670030" y="6589268"/>
            <a:ext cx="180340" cy="141604"/>
          </a:xfrm>
          <a:prstGeom prst="rect">
            <a:avLst/>
          </a:prstGeom>
        </p:spPr>
        <p:txBody>
          <a:bodyPr wrap="square" lIns="0" tIns="0" rIns="0" bIns="0">
            <a:spAutoFit/>
          </a:bodyPr>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AF7F0"/>
          </a:solidFill>
        </p:spPr>
        <p:txBody>
          <a:bodyPr wrap="square" lIns="0" tIns="0" rIns="0" bIns="0" rtlCol="0"/>
          <a:lstStyle/>
          <a:p>
            <a:endParaRPr/>
          </a:p>
        </p:txBody>
      </p:sp>
      <p:sp>
        <p:nvSpPr>
          <p:cNvPr id="3" name="object 3"/>
          <p:cNvSpPr/>
          <p:nvPr/>
        </p:nvSpPr>
        <p:spPr>
          <a:xfrm>
            <a:off x="0" y="0"/>
            <a:ext cx="12192000" cy="45720"/>
          </a:xfrm>
          <a:custGeom>
            <a:avLst/>
            <a:gdLst/>
            <a:ahLst/>
            <a:cxnLst/>
            <a:rect l="l" t="t" r="r" b="b"/>
            <a:pathLst>
              <a:path w="12192000" h="45720">
                <a:moveTo>
                  <a:pt x="12192000" y="0"/>
                </a:moveTo>
                <a:lnTo>
                  <a:pt x="0" y="0"/>
                </a:lnTo>
                <a:lnTo>
                  <a:pt x="0" y="45720"/>
                </a:lnTo>
                <a:lnTo>
                  <a:pt x="12192000" y="45720"/>
                </a:lnTo>
                <a:lnTo>
                  <a:pt x="12192000" y="0"/>
                </a:lnTo>
                <a:close/>
              </a:path>
            </a:pathLst>
          </a:custGeom>
          <a:solidFill>
            <a:srgbClr val="B92431"/>
          </a:solidFill>
        </p:spPr>
        <p:txBody>
          <a:bodyPr wrap="square" lIns="0" tIns="0" rIns="0" bIns="0" rtlCol="0"/>
          <a:lstStyle/>
          <a:p>
            <a:endParaRPr/>
          </a:p>
        </p:txBody>
      </p:sp>
      <p:sp>
        <p:nvSpPr>
          <p:cNvPr id="4" name="object 4"/>
          <p:cNvSpPr/>
          <p:nvPr/>
        </p:nvSpPr>
        <p:spPr>
          <a:xfrm>
            <a:off x="0" y="6812279"/>
            <a:ext cx="12192000" cy="45720"/>
          </a:xfrm>
          <a:custGeom>
            <a:avLst/>
            <a:gdLst/>
            <a:ahLst/>
            <a:cxnLst/>
            <a:rect l="l" t="t" r="r" b="b"/>
            <a:pathLst>
              <a:path w="12192000" h="45720">
                <a:moveTo>
                  <a:pt x="12192000" y="0"/>
                </a:moveTo>
                <a:lnTo>
                  <a:pt x="0" y="0"/>
                </a:lnTo>
                <a:lnTo>
                  <a:pt x="0" y="45719"/>
                </a:lnTo>
                <a:lnTo>
                  <a:pt x="12192000" y="45719"/>
                </a:lnTo>
                <a:lnTo>
                  <a:pt x="12192000" y="0"/>
                </a:lnTo>
                <a:close/>
              </a:path>
            </a:pathLst>
          </a:custGeom>
          <a:solidFill>
            <a:srgbClr val="B92431"/>
          </a:solidFill>
        </p:spPr>
        <p:txBody>
          <a:bodyPr wrap="square" lIns="0" tIns="0" rIns="0" bIns="0" rtlCol="0"/>
          <a:lstStyle/>
          <a:p>
            <a:endParaRPr/>
          </a:p>
        </p:txBody>
      </p:sp>
      <p:pic>
        <p:nvPicPr>
          <p:cNvPr id="5" name="object 5" descr="klh_logo.png"/>
          <p:cNvPicPr/>
          <p:nvPr/>
        </p:nvPicPr>
        <p:blipFill>
          <a:blip r:embed="rId2" cstate="print"/>
          <a:stretch>
            <a:fillRect/>
          </a:stretch>
        </p:blipFill>
        <p:spPr>
          <a:xfrm>
            <a:off x="228600" y="164592"/>
            <a:ext cx="1417320" cy="609599"/>
          </a:xfrm>
          <a:prstGeom prst="rect">
            <a:avLst/>
          </a:prstGeom>
        </p:spPr>
      </p:pic>
      <p:sp>
        <p:nvSpPr>
          <p:cNvPr id="6" name="object 6" descr="$PPTXTitle"/>
          <p:cNvSpPr txBox="1">
            <a:spLocks noGrp="1"/>
          </p:cNvSpPr>
          <p:nvPr>
            <p:ph type="title"/>
          </p:nvPr>
        </p:nvSpPr>
        <p:spPr>
          <a:xfrm>
            <a:off x="499873" y="2009133"/>
            <a:ext cx="4190999" cy="475771"/>
          </a:xfrm>
          <a:prstGeom prst="rect">
            <a:avLst/>
          </a:prstGeom>
        </p:spPr>
        <p:txBody>
          <a:bodyPr vert="horz" wrap="square" lIns="0" tIns="13970" rIns="0" bIns="0" rtlCol="0">
            <a:spAutoFit/>
          </a:bodyPr>
          <a:lstStyle/>
          <a:p>
            <a:pPr marL="12700">
              <a:lnSpc>
                <a:spcPct val="100000"/>
              </a:lnSpc>
              <a:spcBef>
                <a:spcPts val="110"/>
              </a:spcBef>
            </a:pPr>
            <a:r>
              <a:rPr lang="en-IN" sz="3000" dirty="0">
                <a:solidFill>
                  <a:srgbClr val="C00000"/>
                </a:solidFill>
              </a:rPr>
              <a:t>CROP YIELD PREDICTION</a:t>
            </a:r>
            <a:endParaRPr sz="3000" dirty="0">
              <a:solidFill>
                <a:srgbClr val="C00000"/>
              </a:solidFill>
            </a:endParaRPr>
          </a:p>
        </p:txBody>
      </p:sp>
      <p:sp>
        <p:nvSpPr>
          <p:cNvPr id="7" name="object 7"/>
          <p:cNvSpPr txBox="1"/>
          <p:nvPr/>
        </p:nvSpPr>
        <p:spPr>
          <a:xfrm>
            <a:off x="535941" y="2662885"/>
            <a:ext cx="4798060" cy="506549"/>
          </a:xfrm>
          <a:prstGeom prst="rect">
            <a:avLst/>
          </a:prstGeom>
        </p:spPr>
        <p:txBody>
          <a:bodyPr vert="horz" wrap="square" lIns="0" tIns="13970" rIns="0" bIns="0" rtlCol="0">
            <a:spAutoFit/>
          </a:bodyPr>
          <a:lstStyle/>
          <a:p>
            <a:pPr marL="12700">
              <a:lnSpc>
                <a:spcPct val="100000"/>
              </a:lnSpc>
              <a:spcBef>
                <a:spcPts val="110"/>
              </a:spcBef>
            </a:pPr>
            <a:r>
              <a:rPr lang="en-IN" sz="1600" dirty="0">
                <a:solidFill>
                  <a:schemeClr val="accent5">
                    <a:lumMod val="75000"/>
                  </a:schemeClr>
                </a:solidFill>
              </a:rPr>
              <a:t>USING RANDOM FOREST, XGBOOST AND SUPPORT VECTOR REGRESSION</a:t>
            </a:r>
            <a:endParaRPr sz="1600" dirty="0">
              <a:solidFill>
                <a:schemeClr val="accent5">
                  <a:lumMod val="75000"/>
                </a:schemeClr>
              </a:solidFill>
              <a:latin typeface="Calibri"/>
              <a:cs typeface="Calibri"/>
            </a:endParaRPr>
          </a:p>
        </p:txBody>
      </p:sp>
      <p:sp>
        <p:nvSpPr>
          <p:cNvPr id="8" name="object 8"/>
          <p:cNvSpPr txBox="1"/>
          <p:nvPr/>
        </p:nvSpPr>
        <p:spPr>
          <a:xfrm>
            <a:off x="535940" y="3332175"/>
            <a:ext cx="6502400" cy="451484"/>
          </a:xfrm>
          <a:prstGeom prst="rect">
            <a:avLst/>
          </a:prstGeom>
        </p:spPr>
        <p:txBody>
          <a:bodyPr vert="horz" wrap="square" lIns="0" tIns="12065" rIns="0" bIns="0" rtlCol="0">
            <a:spAutoFit/>
          </a:bodyPr>
          <a:lstStyle/>
          <a:p>
            <a:pPr marL="12700">
              <a:lnSpc>
                <a:spcPct val="100000"/>
              </a:lnSpc>
              <a:spcBef>
                <a:spcPts val="95"/>
              </a:spcBef>
            </a:pPr>
            <a:r>
              <a:rPr sz="1400" i="1" dirty="0">
                <a:solidFill>
                  <a:srgbClr val="252525"/>
                </a:solidFill>
                <a:latin typeface="Calibri"/>
                <a:cs typeface="Calibri"/>
              </a:rPr>
              <a:t>A</a:t>
            </a:r>
            <a:r>
              <a:rPr sz="1400" i="1" spc="-35" dirty="0">
                <a:solidFill>
                  <a:srgbClr val="252525"/>
                </a:solidFill>
                <a:latin typeface="Calibri"/>
                <a:cs typeface="Calibri"/>
              </a:rPr>
              <a:t> </a:t>
            </a:r>
            <a:r>
              <a:rPr sz="1400" i="1" spc="-10" dirty="0">
                <a:solidFill>
                  <a:srgbClr val="252525"/>
                </a:solidFill>
                <a:latin typeface="Calibri"/>
                <a:cs typeface="Calibri"/>
              </a:rPr>
              <a:t>deep-</a:t>
            </a:r>
            <a:r>
              <a:rPr sz="1400" i="1" dirty="0">
                <a:solidFill>
                  <a:srgbClr val="252525"/>
                </a:solidFill>
                <a:latin typeface="Calibri"/>
                <a:cs typeface="Calibri"/>
              </a:rPr>
              <a:t>learning</a:t>
            </a:r>
            <a:r>
              <a:rPr sz="1400" i="1" spc="-25" dirty="0">
                <a:solidFill>
                  <a:srgbClr val="252525"/>
                </a:solidFill>
                <a:latin typeface="Calibri"/>
                <a:cs typeface="Calibri"/>
              </a:rPr>
              <a:t> </a:t>
            </a:r>
            <a:r>
              <a:rPr sz="1400" i="1" dirty="0">
                <a:solidFill>
                  <a:srgbClr val="252525"/>
                </a:solidFill>
                <a:latin typeface="Calibri"/>
                <a:cs typeface="Calibri"/>
              </a:rPr>
              <a:t>approach</a:t>
            </a:r>
            <a:r>
              <a:rPr sz="1400" i="1" spc="-20" dirty="0">
                <a:solidFill>
                  <a:srgbClr val="252525"/>
                </a:solidFill>
                <a:latin typeface="Calibri"/>
                <a:cs typeface="Calibri"/>
              </a:rPr>
              <a:t> </a:t>
            </a:r>
            <a:r>
              <a:rPr sz="1400" i="1" dirty="0">
                <a:solidFill>
                  <a:srgbClr val="252525"/>
                </a:solidFill>
                <a:latin typeface="Calibri"/>
                <a:cs typeface="Calibri"/>
              </a:rPr>
              <a:t>for</a:t>
            </a:r>
            <a:r>
              <a:rPr sz="1400" i="1" spc="-65" dirty="0">
                <a:solidFill>
                  <a:srgbClr val="252525"/>
                </a:solidFill>
                <a:latin typeface="Calibri"/>
                <a:cs typeface="Calibri"/>
              </a:rPr>
              <a:t> </a:t>
            </a:r>
            <a:r>
              <a:rPr sz="1400" i="1" spc="-10" dirty="0">
                <a:solidFill>
                  <a:srgbClr val="252525"/>
                </a:solidFill>
                <a:latin typeface="Calibri"/>
                <a:cs typeface="Calibri"/>
              </a:rPr>
              <a:t>modeling</a:t>
            </a:r>
            <a:r>
              <a:rPr sz="1400" i="1" spc="-25" dirty="0">
                <a:solidFill>
                  <a:srgbClr val="252525"/>
                </a:solidFill>
                <a:latin typeface="Calibri"/>
                <a:cs typeface="Calibri"/>
              </a:rPr>
              <a:t> </a:t>
            </a:r>
            <a:r>
              <a:rPr sz="1400" i="1" spc="-10" dirty="0">
                <a:solidFill>
                  <a:srgbClr val="252525"/>
                </a:solidFill>
                <a:latin typeface="Calibri"/>
                <a:cs typeface="Calibri"/>
              </a:rPr>
              <a:t>network-</a:t>
            </a:r>
            <a:r>
              <a:rPr sz="1400" i="1" dirty="0">
                <a:solidFill>
                  <a:srgbClr val="252525"/>
                </a:solidFill>
                <a:latin typeface="Calibri"/>
                <a:cs typeface="Calibri"/>
              </a:rPr>
              <a:t>flow</a:t>
            </a:r>
            <a:r>
              <a:rPr sz="1400" i="1" spc="-35" dirty="0">
                <a:solidFill>
                  <a:srgbClr val="252525"/>
                </a:solidFill>
                <a:latin typeface="Calibri"/>
                <a:cs typeface="Calibri"/>
              </a:rPr>
              <a:t> </a:t>
            </a:r>
            <a:r>
              <a:rPr sz="1400" i="1" dirty="0">
                <a:solidFill>
                  <a:srgbClr val="252525"/>
                </a:solidFill>
                <a:latin typeface="Calibri"/>
                <a:cs typeface="Calibri"/>
              </a:rPr>
              <a:t>sequences</a:t>
            </a:r>
            <a:r>
              <a:rPr sz="1400" i="1" spc="-35" dirty="0">
                <a:solidFill>
                  <a:srgbClr val="252525"/>
                </a:solidFill>
                <a:latin typeface="Calibri"/>
                <a:cs typeface="Calibri"/>
              </a:rPr>
              <a:t> </a:t>
            </a:r>
            <a:r>
              <a:rPr sz="1400" i="1" dirty="0">
                <a:solidFill>
                  <a:srgbClr val="252525"/>
                </a:solidFill>
                <a:latin typeface="Calibri"/>
                <a:cs typeface="Calibri"/>
              </a:rPr>
              <a:t>and</a:t>
            </a:r>
            <a:r>
              <a:rPr sz="1400" i="1" spc="-20" dirty="0">
                <a:solidFill>
                  <a:srgbClr val="252525"/>
                </a:solidFill>
                <a:latin typeface="Calibri"/>
                <a:cs typeface="Calibri"/>
              </a:rPr>
              <a:t> </a:t>
            </a:r>
            <a:r>
              <a:rPr sz="1400" i="1" spc="-10" dirty="0">
                <a:solidFill>
                  <a:srgbClr val="252525"/>
                </a:solidFill>
                <a:latin typeface="Calibri"/>
                <a:cs typeface="Calibri"/>
              </a:rPr>
              <a:t>detecting</a:t>
            </a:r>
            <a:r>
              <a:rPr sz="1400" i="1" dirty="0">
                <a:solidFill>
                  <a:srgbClr val="252525"/>
                </a:solidFill>
                <a:latin typeface="Calibri"/>
                <a:cs typeface="Calibri"/>
              </a:rPr>
              <a:t> </a:t>
            </a:r>
            <a:r>
              <a:rPr sz="1400" i="1" spc="-10" dirty="0">
                <a:solidFill>
                  <a:srgbClr val="252525"/>
                </a:solidFill>
                <a:latin typeface="Calibri"/>
                <a:cs typeface="Calibri"/>
              </a:rPr>
              <a:t>anomalous</a:t>
            </a:r>
            <a:endParaRPr sz="1400">
              <a:latin typeface="Calibri"/>
              <a:cs typeface="Calibri"/>
            </a:endParaRPr>
          </a:p>
          <a:p>
            <a:pPr marL="12700">
              <a:lnSpc>
                <a:spcPct val="100000"/>
              </a:lnSpc>
            </a:pPr>
            <a:r>
              <a:rPr sz="1400" i="1" dirty="0">
                <a:solidFill>
                  <a:srgbClr val="252525"/>
                </a:solidFill>
                <a:latin typeface="Calibri"/>
                <a:cs typeface="Calibri"/>
              </a:rPr>
              <a:t>traffic</a:t>
            </a:r>
            <a:r>
              <a:rPr sz="1400" i="1" spc="-35" dirty="0">
                <a:solidFill>
                  <a:srgbClr val="252525"/>
                </a:solidFill>
                <a:latin typeface="Calibri"/>
                <a:cs typeface="Calibri"/>
              </a:rPr>
              <a:t> </a:t>
            </a:r>
            <a:r>
              <a:rPr sz="1400" i="1" spc="-10" dirty="0">
                <a:solidFill>
                  <a:srgbClr val="252525"/>
                </a:solidFill>
                <a:latin typeface="Calibri"/>
                <a:cs typeface="Calibri"/>
              </a:rPr>
              <a:t>patterns.</a:t>
            </a:r>
            <a:endParaRPr sz="1400">
              <a:latin typeface="Calibri"/>
              <a:cs typeface="Calibri"/>
            </a:endParaRPr>
          </a:p>
        </p:txBody>
      </p:sp>
      <p:grpSp>
        <p:nvGrpSpPr>
          <p:cNvPr id="9" name="object 9"/>
          <p:cNvGrpSpPr/>
          <p:nvPr/>
        </p:nvGrpSpPr>
        <p:grpSpPr>
          <a:xfrm>
            <a:off x="7732776" y="1356372"/>
            <a:ext cx="4001770" cy="4367530"/>
            <a:chOff x="7732776" y="1356372"/>
            <a:chExt cx="4001770" cy="4367530"/>
          </a:xfrm>
        </p:grpSpPr>
        <p:pic>
          <p:nvPicPr>
            <p:cNvPr id="10" name="object 10"/>
            <p:cNvPicPr/>
            <p:nvPr/>
          </p:nvPicPr>
          <p:blipFill>
            <a:blip r:embed="rId3" cstate="print"/>
            <a:stretch>
              <a:fillRect/>
            </a:stretch>
          </p:blipFill>
          <p:spPr>
            <a:xfrm>
              <a:off x="7732776" y="1356372"/>
              <a:ext cx="4001643" cy="4367403"/>
            </a:xfrm>
            <a:prstGeom prst="rect">
              <a:avLst/>
            </a:prstGeom>
          </p:spPr>
        </p:pic>
        <p:sp>
          <p:nvSpPr>
            <p:cNvPr id="11" name="object 11"/>
            <p:cNvSpPr/>
            <p:nvPr/>
          </p:nvSpPr>
          <p:spPr>
            <a:xfrm>
              <a:off x="7818120" y="1417320"/>
              <a:ext cx="3840479" cy="4206240"/>
            </a:xfrm>
            <a:custGeom>
              <a:avLst/>
              <a:gdLst/>
              <a:ahLst/>
              <a:cxnLst/>
              <a:rect l="l" t="t" r="r" b="b"/>
              <a:pathLst>
                <a:path w="3840479" h="4206240">
                  <a:moveTo>
                    <a:pt x="3767328" y="0"/>
                  </a:moveTo>
                  <a:lnTo>
                    <a:pt x="73151" y="0"/>
                  </a:lnTo>
                  <a:lnTo>
                    <a:pt x="44684" y="5750"/>
                  </a:lnTo>
                  <a:lnTo>
                    <a:pt x="21431" y="21431"/>
                  </a:lnTo>
                  <a:lnTo>
                    <a:pt x="5750" y="44684"/>
                  </a:lnTo>
                  <a:lnTo>
                    <a:pt x="0" y="73151"/>
                  </a:lnTo>
                  <a:lnTo>
                    <a:pt x="0" y="4133088"/>
                  </a:lnTo>
                  <a:lnTo>
                    <a:pt x="5750" y="4161561"/>
                  </a:lnTo>
                  <a:lnTo>
                    <a:pt x="21431" y="4184813"/>
                  </a:lnTo>
                  <a:lnTo>
                    <a:pt x="44684" y="4200491"/>
                  </a:lnTo>
                  <a:lnTo>
                    <a:pt x="73151" y="4206240"/>
                  </a:lnTo>
                  <a:lnTo>
                    <a:pt x="3767328" y="4206240"/>
                  </a:lnTo>
                  <a:lnTo>
                    <a:pt x="3795795" y="4200491"/>
                  </a:lnTo>
                  <a:lnTo>
                    <a:pt x="3819048" y="4184813"/>
                  </a:lnTo>
                  <a:lnTo>
                    <a:pt x="3834729" y="4161561"/>
                  </a:lnTo>
                  <a:lnTo>
                    <a:pt x="3840479" y="4133088"/>
                  </a:lnTo>
                  <a:lnTo>
                    <a:pt x="3840479" y="73151"/>
                  </a:lnTo>
                  <a:lnTo>
                    <a:pt x="3834729" y="44684"/>
                  </a:lnTo>
                  <a:lnTo>
                    <a:pt x="3819048" y="21431"/>
                  </a:lnTo>
                  <a:lnTo>
                    <a:pt x="3795795" y="5750"/>
                  </a:lnTo>
                  <a:lnTo>
                    <a:pt x="3767328" y="0"/>
                  </a:lnTo>
                  <a:close/>
                </a:path>
              </a:pathLst>
            </a:custGeom>
            <a:solidFill>
              <a:srgbClr val="FFFFFF"/>
            </a:solidFill>
          </p:spPr>
          <p:txBody>
            <a:bodyPr wrap="square" lIns="0" tIns="0" rIns="0" bIns="0" rtlCol="0"/>
            <a:lstStyle/>
            <a:p>
              <a:endParaRPr/>
            </a:p>
          </p:txBody>
        </p:sp>
        <p:sp>
          <p:nvSpPr>
            <p:cNvPr id="12" name="object 12"/>
            <p:cNvSpPr/>
            <p:nvPr/>
          </p:nvSpPr>
          <p:spPr>
            <a:xfrm>
              <a:off x="7818120" y="1417320"/>
              <a:ext cx="3840479" cy="4206240"/>
            </a:xfrm>
            <a:custGeom>
              <a:avLst/>
              <a:gdLst/>
              <a:ahLst/>
              <a:cxnLst/>
              <a:rect l="l" t="t" r="r" b="b"/>
              <a:pathLst>
                <a:path w="3840479" h="4206240">
                  <a:moveTo>
                    <a:pt x="0" y="73151"/>
                  </a:moveTo>
                  <a:lnTo>
                    <a:pt x="5750" y="44684"/>
                  </a:lnTo>
                  <a:lnTo>
                    <a:pt x="21431" y="21431"/>
                  </a:lnTo>
                  <a:lnTo>
                    <a:pt x="44684" y="5750"/>
                  </a:lnTo>
                  <a:lnTo>
                    <a:pt x="73151" y="0"/>
                  </a:lnTo>
                  <a:lnTo>
                    <a:pt x="3767328" y="0"/>
                  </a:lnTo>
                  <a:lnTo>
                    <a:pt x="3795795" y="5750"/>
                  </a:lnTo>
                  <a:lnTo>
                    <a:pt x="3819048" y="21431"/>
                  </a:lnTo>
                  <a:lnTo>
                    <a:pt x="3834729" y="44684"/>
                  </a:lnTo>
                  <a:lnTo>
                    <a:pt x="3840479" y="73151"/>
                  </a:lnTo>
                  <a:lnTo>
                    <a:pt x="3840479" y="4133088"/>
                  </a:lnTo>
                  <a:lnTo>
                    <a:pt x="3834729" y="4161561"/>
                  </a:lnTo>
                  <a:lnTo>
                    <a:pt x="3819048" y="4184813"/>
                  </a:lnTo>
                  <a:lnTo>
                    <a:pt x="3795795" y="4200491"/>
                  </a:lnTo>
                  <a:lnTo>
                    <a:pt x="3767328" y="4206240"/>
                  </a:lnTo>
                  <a:lnTo>
                    <a:pt x="73151" y="4206240"/>
                  </a:lnTo>
                  <a:lnTo>
                    <a:pt x="44684" y="4200491"/>
                  </a:lnTo>
                  <a:lnTo>
                    <a:pt x="21431" y="4184813"/>
                  </a:lnTo>
                  <a:lnTo>
                    <a:pt x="5750" y="4161561"/>
                  </a:lnTo>
                  <a:lnTo>
                    <a:pt x="0" y="4133088"/>
                  </a:lnTo>
                  <a:lnTo>
                    <a:pt x="0" y="73151"/>
                  </a:lnTo>
                  <a:close/>
                </a:path>
              </a:pathLst>
            </a:custGeom>
            <a:ln w="12192">
              <a:solidFill>
                <a:srgbClr val="DDD2C4"/>
              </a:solidFill>
            </a:ln>
          </p:spPr>
          <p:txBody>
            <a:bodyPr wrap="square" lIns="0" tIns="0" rIns="0" bIns="0" rtlCol="0"/>
            <a:lstStyle/>
            <a:p>
              <a:endParaRPr/>
            </a:p>
          </p:txBody>
        </p:sp>
        <p:sp>
          <p:nvSpPr>
            <p:cNvPr id="13" name="object 13"/>
            <p:cNvSpPr/>
            <p:nvPr/>
          </p:nvSpPr>
          <p:spPr>
            <a:xfrm>
              <a:off x="7818120" y="1417320"/>
              <a:ext cx="3840479" cy="502920"/>
            </a:xfrm>
            <a:custGeom>
              <a:avLst/>
              <a:gdLst/>
              <a:ahLst/>
              <a:cxnLst/>
              <a:rect l="l" t="t" r="r" b="b"/>
              <a:pathLst>
                <a:path w="3840479" h="502919">
                  <a:moveTo>
                    <a:pt x="3767328" y="0"/>
                  </a:moveTo>
                  <a:lnTo>
                    <a:pt x="73151" y="0"/>
                  </a:lnTo>
                  <a:lnTo>
                    <a:pt x="44684" y="5750"/>
                  </a:lnTo>
                  <a:lnTo>
                    <a:pt x="21431" y="21431"/>
                  </a:lnTo>
                  <a:lnTo>
                    <a:pt x="5750" y="44684"/>
                  </a:lnTo>
                  <a:lnTo>
                    <a:pt x="0" y="73151"/>
                  </a:lnTo>
                  <a:lnTo>
                    <a:pt x="0" y="429767"/>
                  </a:lnTo>
                  <a:lnTo>
                    <a:pt x="5750" y="458235"/>
                  </a:lnTo>
                  <a:lnTo>
                    <a:pt x="21431" y="481488"/>
                  </a:lnTo>
                  <a:lnTo>
                    <a:pt x="44684" y="497169"/>
                  </a:lnTo>
                  <a:lnTo>
                    <a:pt x="73151" y="502919"/>
                  </a:lnTo>
                  <a:lnTo>
                    <a:pt x="3767328" y="502919"/>
                  </a:lnTo>
                  <a:lnTo>
                    <a:pt x="3795795" y="497169"/>
                  </a:lnTo>
                  <a:lnTo>
                    <a:pt x="3819048" y="481488"/>
                  </a:lnTo>
                  <a:lnTo>
                    <a:pt x="3834729" y="458235"/>
                  </a:lnTo>
                  <a:lnTo>
                    <a:pt x="3840479" y="429767"/>
                  </a:lnTo>
                  <a:lnTo>
                    <a:pt x="3840479" y="73151"/>
                  </a:lnTo>
                  <a:lnTo>
                    <a:pt x="3834729" y="44684"/>
                  </a:lnTo>
                  <a:lnTo>
                    <a:pt x="3819048" y="21431"/>
                  </a:lnTo>
                  <a:lnTo>
                    <a:pt x="3795795" y="5750"/>
                  </a:lnTo>
                  <a:lnTo>
                    <a:pt x="3767328" y="0"/>
                  </a:lnTo>
                  <a:close/>
                </a:path>
              </a:pathLst>
            </a:custGeom>
            <a:solidFill>
              <a:srgbClr val="C00000"/>
            </a:solidFill>
          </p:spPr>
          <p:txBody>
            <a:bodyPr wrap="square" lIns="0" tIns="0" rIns="0" bIns="0" rtlCol="0"/>
            <a:lstStyle/>
            <a:p>
              <a:endParaRPr/>
            </a:p>
          </p:txBody>
        </p:sp>
      </p:grpSp>
      <p:sp>
        <p:nvSpPr>
          <p:cNvPr id="14" name="object 14"/>
          <p:cNvSpPr txBox="1"/>
          <p:nvPr/>
        </p:nvSpPr>
        <p:spPr>
          <a:xfrm>
            <a:off x="9045320" y="1530477"/>
            <a:ext cx="1390015" cy="255904"/>
          </a:xfrm>
          <a:prstGeom prst="rect">
            <a:avLst/>
          </a:prstGeom>
        </p:spPr>
        <p:txBody>
          <a:bodyPr vert="horz" wrap="square" lIns="0" tIns="13970" rIns="0" bIns="0" rtlCol="0">
            <a:spAutoFit/>
          </a:bodyPr>
          <a:lstStyle/>
          <a:p>
            <a:pPr marL="12700">
              <a:lnSpc>
                <a:spcPct val="100000"/>
              </a:lnSpc>
              <a:spcBef>
                <a:spcPts val="110"/>
              </a:spcBef>
            </a:pPr>
            <a:r>
              <a:rPr sz="1500" b="1" dirty="0">
                <a:solidFill>
                  <a:srgbClr val="FFFFFF"/>
                </a:solidFill>
                <a:latin typeface="Calibri"/>
                <a:cs typeface="Calibri"/>
              </a:rPr>
              <a:t>PROJECT</a:t>
            </a:r>
            <a:r>
              <a:rPr sz="1500" b="1" spc="-70" dirty="0">
                <a:solidFill>
                  <a:srgbClr val="FFFFFF"/>
                </a:solidFill>
                <a:latin typeface="Calibri"/>
                <a:cs typeface="Calibri"/>
              </a:rPr>
              <a:t> </a:t>
            </a:r>
            <a:r>
              <a:rPr sz="1500" b="1" spc="-10" dirty="0">
                <a:solidFill>
                  <a:srgbClr val="FFFFFF"/>
                </a:solidFill>
                <a:latin typeface="Calibri"/>
                <a:cs typeface="Calibri"/>
              </a:rPr>
              <a:t>DETAILS</a:t>
            </a:r>
            <a:endParaRPr sz="1500">
              <a:latin typeface="Calibri"/>
              <a:cs typeface="Calibri"/>
            </a:endParaRPr>
          </a:p>
        </p:txBody>
      </p:sp>
      <p:sp>
        <p:nvSpPr>
          <p:cNvPr id="20" name="object 20"/>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a:t>
            </a:fld>
            <a:endParaRPr spc="-25" dirty="0"/>
          </a:p>
        </p:txBody>
      </p:sp>
      <p:sp>
        <p:nvSpPr>
          <p:cNvPr id="15" name="object 15"/>
          <p:cNvSpPr txBox="1"/>
          <p:nvPr/>
        </p:nvSpPr>
        <p:spPr>
          <a:xfrm>
            <a:off x="8036179" y="2110173"/>
            <a:ext cx="2065655" cy="557204"/>
          </a:xfrm>
          <a:prstGeom prst="rect">
            <a:avLst/>
          </a:prstGeom>
        </p:spPr>
        <p:txBody>
          <a:bodyPr vert="horz" wrap="square" lIns="0" tIns="41275" rIns="0" bIns="0" rtlCol="0">
            <a:spAutoFit/>
          </a:bodyPr>
          <a:lstStyle/>
          <a:p>
            <a:pPr marL="12700">
              <a:lnSpc>
                <a:spcPct val="100000"/>
              </a:lnSpc>
              <a:spcBef>
                <a:spcPts val="325"/>
              </a:spcBef>
            </a:pPr>
            <a:r>
              <a:rPr sz="950" b="1" spc="10" dirty="0">
                <a:solidFill>
                  <a:srgbClr val="6D6D6D"/>
                </a:solidFill>
                <a:latin typeface="Calibri"/>
                <a:cs typeface="Calibri"/>
              </a:rPr>
              <a:t>PROJECT</a:t>
            </a:r>
            <a:r>
              <a:rPr sz="950" b="1" spc="280" dirty="0">
                <a:solidFill>
                  <a:srgbClr val="6D6D6D"/>
                </a:solidFill>
                <a:latin typeface="Calibri"/>
                <a:cs typeface="Calibri"/>
              </a:rPr>
              <a:t> </a:t>
            </a:r>
            <a:r>
              <a:rPr sz="950" b="1" spc="35" dirty="0">
                <a:solidFill>
                  <a:srgbClr val="6D6D6D"/>
                </a:solidFill>
                <a:latin typeface="Calibri"/>
                <a:cs typeface="Calibri"/>
              </a:rPr>
              <a:t>MEMBERS</a:t>
            </a:r>
            <a:r>
              <a:rPr lang="en-IN" sz="950" b="1" spc="35" dirty="0">
                <a:solidFill>
                  <a:srgbClr val="6D6D6D"/>
                </a:solidFill>
                <a:latin typeface="Calibri"/>
                <a:cs typeface="Calibri"/>
              </a:rPr>
              <a:t>:</a:t>
            </a:r>
          </a:p>
          <a:p>
            <a:pPr marL="12700">
              <a:lnSpc>
                <a:spcPct val="100000"/>
              </a:lnSpc>
              <a:spcBef>
                <a:spcPts val="325"/>
              </a:spcBef>
            </a:pPr>
            <a:r>
              <a:rPr lang="en-IN" sz="950" b="1" spc="35" dirty="0">
                <a:solidFill>
                  <a:srgbClr val="6D6D6D"/>
                </a:solidFill>
                <a:latin typeface="Calibri"/>
                <a:cs typeface="Calibri"/>
              </a:rPr>
              <a:t>V Sree Pragnya – 2520030238</a:t>
            </a:r>
          </a:p>
          <a:p>
            <a:pPr marL="12700">
              <a:lnSpc>
                <a:spcPct val="100000"/>
              </a:lnSpc>
              <a:spcBef>
                <a:spcPts val="325"/>
              </a:spcBef>
            </a:pPr>
            <a:r>
              <a:rPr lang="en-IN" sz="950" b="1" spc="35" dirty="0">
                <a:solidFill>
                  <a:srgbClr val="6D6D6D"/>
                </a:solidFill>
                <a:latin typeface="Calibri"/>
                <a:cs typeface="Calibri"/>
              </a:rPr>
              <a:t>MD Aman - 2520030190</a:t>
            </a:r>
          </a:p>
        </p:txBody>
      </p:sp>
      <p:sp>
        <p:nvSpPr>
          <p:cNvPr id="16" name="object 16"/>
          <p:cNvSpPr txBox="1"/>
          <p:nvPr/>
        </p:nvSpPr>
        <p:spPr>
          <a:xfrm>
            <a:off x="8036179" y="3061538"/>
            <a:ext cx="468630" cy="172085"/>
          </a:xfrm>
          <a:prstGeom prst="rect">
            <a:avLst/>
          </a:prstGeom>
        </p:spPr>
        <p:txBody>
          <a:bodyPr vert="horz" wrap="square" lIns="0" tIns="13970" rIns="0" bIns="0" rtlCol="0">
            <a:spAutoFit/>
          </a:bodyPr>
          <a:lstStyle/>
          <a:p>
            <a:pPr marL="12700">
              <a:lnSpc>
                <a:spcPct val="100000"/>
              </a:lnSpc>
              <a:spcBef>
                <a:spcPts val="110"/>
              </a:spcBef>
            </a:pPr>
            <a:r>
              <a:rPr sz="950" b="1" spc="-10" dirty="0">
                <a:solidFill>
                  <a:srgbClr val="6D6D6D"/>
                </a:solidFill>
                <a:latin typeface="Calibri"/>
                <a:cs typeface="Calibri"/>
              </a:rPr>
              <a:t>COURSE</a:t>
            </a:r>
            <a:endParaRPr sz="950">
              <a:latin typeface="Calibri"/>
              <a:cs typeface="Calibri"/>
            </a:endParaRPr>
          </a:p>
        </p:txBody>
      </p:sp>
      <p:sp>
        <p:nvSpPr>
          <p:cNvPr id="17" name="object 17"/>
          <p:cNvSpPr txBox="1"/>
          <p:nvPr/>
        </p:nvSpPr>
        <p:spPr>
          <a:xfrm>
            <a:off x="8036179" y="3244088"/>
            <a:ext cx="1175385" cy="215900"/>
          </a:xfrm>
          <a:prstGeom prst="rect">
            <a:avLst/>
          </a:prstGeom>
        </p:spPr>
        <p:txBody>
          <a:bodyPr vert="horz" wrap="square" lIns="0" tIns="12065" rIns="0" bIns="0" rtlCol="0">
            <a:spAutoFit/>
          </a:bodyPr>
          <a:lstStyle/>
          <a:p>
            <a:pPr marL="12700">
              <a:lnSpc>
                <a:spcPct val="100000"/>
              </a:lnSpc>
              <a:spcBef>
                <a:spcPts val="95"/>
              </a:spcBef>
            </a:pPr>
            <a:r>
              <a:rPr sz="1250" dirty="0">
                <a:solidFill>
                  <a:srgbClr val="252525"/>
                </a:solidFill>
                <a:latin typeface="Calibri"/>
                <a:cs typeface="Calibri"/>
              </a:rPr>
              <a:t>Machine</a:t>
            </a:r>
            <a:r>
              <a:rPr sz="1250" spc="-55" dirty="0">
                <a:solidFill>
                  <a:srgbClr val="252525"/>
                </a:solidFill>
                <a:latin typeface="Calibri"/>
                <a:cs typeface="Calibri"/>
              </a:rPr>
              <a:t> </a:t>
            </a:r>
            <a:r>
              <a:rPr sz="1250" spc="-10" dirty="0">
                <a:solidFill>
                  <a:srgbClr val="252525"/>
                </a:solidFill>
                <a:latin typeface="Calibri"/>
                <a:cs typeface="Calibri"/>
              </a:rPr>
              <a:t>Learning</a:t>
            </a:r>
            <a:endParaRPr sz="1250">
              <a:latin typeface="Calibri"/>
              <a:cs typeface="Calibri"/>
            </a:endParaRPr>
          </a:p>
        </p:txBody>
      </p:sp>
      <p:sp>
        <p:nvSpPr>
          <p:cNvPr id="18" name="object 18"/>
          <p:cNvSpPr txBox="1"/>
          <p:nvPr/>
        </p:nvSpPr>
        <p:spPr>
          <a:xfrm>
            <a:off x="8036179" y="3701635"/>
            <a:ext cx="803275" cy="426084"/>
          </a:xfrm>
          <a:prstGeom prst="rect">
            <a:avLst/>
          </a:prstGeom>
        </p:spPr>
        <p:txBody>
          <a:bodyPr vert="horz" wrap="square" lIns="0" tIns="41910" rIns="0" bIns="0" rtlCol="0">
            <a:spAutoFit/>
          </a:bodyPr>
          <a:lstStyle/>
          <a:p>
            <a:pPr marL="12700">
              <a:lnSpc>
                <a:spcPct val="100000"/>
              </a:lnSpc>
              <a:spcBef>
                <a:spcPts val="330"/>
              </a:spcBef>
            </a:pPr>
            <a:r>
              <a:rPr sz="950" b="1" dirty="0">
                <a:solidFill>
                  <a:srgbClr val="6D6D6D"/>
                </a:solidFill>
                <a:latin typeface="Calibri"/>
                <a:cs typeface="Calibri"/>
              </a:rPr>
              <a:t>COURSE</a:t>
            </a:r>
            <a:r>
              <a:rPr sz="950" b="1" spc="305" dirty="0">
                <a:solidFill>
                  <a:srgbClr val="6D6D6D"/>
                </a:solidFill>
                <a:latin typeface="Calibri"/>
                <a:cs typeface="Calibri"/>
              </a:rPr>
              <a:t> </a:t>
            </a:r>
            <a:r>
              <a:rPr sz="950" b="1" spc="-20" dirty="0">
                <a:solidFill>
                  <a:srgbClr val="6D6D6D"/>
                </a:solidFill>
                <a:latin typeface="Calibri"/>
                <a:cs typeface="Calibri"/>
              </a:rPr>
              <a:t>CODE</a:t>
            </a:r>
            <a:endParaRPr sz="950">
              <a:latin typeface="Calibri"/>
              <a:cs typeface="Calibri"/>
            </a:endParaRPr>
          </a:p>
          <a:p>
            <a:pPr marL="12700">
              <a:lnSpc>
                <a:spcPct val="100000"/>
              </a:lnSpc>
              <a:spcBef>
                <a:spcPts val="280"/>
              </a:spcBef>
            </a:pPr>
            <a:r>
              <a:rPr sz="1250" spc="-10" dirty="0">
                <a:solidFill>
                  <a:srgbClr val="252525"/>
                </a:solidFill>
                <a:latin typeface="Calibri"/>
                <a:cs typeface="Calibri"/>
              </a:rPr>
              <a:t>25SC2107E</a:t>
            </a:r>
            <a:endParaRPr sz="1250">
              <a:latin typeface="Calibri"/>
              <a:cs typeface="Calibri"/>
            </a:endParaRPr>
          </a:p>
        </p:txBody>
      </p:sp>
      <p:sp>
        <p:nvSpPr>
          <p:cNvPr id="19" name="object 19"/>
          <p:cNvSpPr txBox="1"/>
          <p:nvPr/>
        </p:nvSpPr>
        <p:spPr>
          <a:xfrm>
            <a:off x="8036179" y="4369528"/>
            <a:ext cx="1207770" cy="1094105"/>
          </a:xfrm>
          <a:prstGeom prst="rect">
            <a:avLst/>
          </a:prstGeom>
        </p:spPr>
        <p:txBody>
          <a:bodyPr vert="horz" wrap="square" lIns="0" tIns="41910" rIns="0" bIns="0" rtlCol="0">
            <a:spAutoFit/>
          </a:bodyPr>
          <a:lstStyle/>
          <a:p>
            <a:pPr marL="12700">
              <a:lnSpc>
                <a:spcPct val="100000"/>
              </a:lnSpc>
              <a:spcBef>
                <a:spcPts val="330"/>
              </a:spcBef>
            </a:pPr>
            <a:r>
              <a:rPr sz="950" b="1" spc="45" dirty="0">
                <a:solidFill>
                  <a:srgbClr val="6D6D6D"/>
                </a:solidFill>
                <a:latin typeface="Calibri"/>
                <a:cs typeface="Calibri"/>
              </a:rPr>
              <a:t>SECTION</a:t>
            </a:r>
            <a:r>
              <a:rPr sz="950" b="1" spc="35" dirty="0">
                <a:solidFill>
                  <a:srgbClr val="6D6D6D"/>
                </a:solidFill>
                <a:latin typeface="Calibri"/>
                <a:cs typeface="Calibri"/>
              </a:rPr>
              <a:t> </a:t>
            </a:r>
            <a:r>
              <a:rPr sz="950" b="1" dirty="0">
                <a:solidFill>
                  <a:srgbClr val="6D6D6D"/>
                </a:solidFill>
                <a:latin typeface="Calibri"/>
                <a:cs typeface="Calibri"/>
              </a:rPr>
              <a:t>/</a:t>
            </a:r>
            <a:r>
              <a:rPr sz="950" b="1" spc="85" dirty="0">
                <a:solidFill>
                  <a:srgbClr val="6D6D6D"/>
                </a:solidFill>
                <a:latin typeface="Calibri"/>
                <a:cs typeface="Calibri"/>
              </a:rPr>
              <a:t> </a:t>
            </a:r>
            <a:r>
              <a:rPr sz="950" b="1" spc="-10" dirty="0">
                <a:solidFill>
                  <a:srgbClr val="6D6D6D"/>
                </a:solidFill>
                <a:latin typeface="Calibri"/>
                <a:cs typeface="Calibri"/>
              </a:rPr>
              <a:t>BRANCH</a:t>
            </a:r>
            <a:endParaRPr sz="950">
              <a:latin typeface="Calibri"/>
              <a:cs typeface="Calibri"/>
            </a:endParaRPr>
          </a:p>
          <a:p>
            <a:pPr marL="12700">
              <a:lnSpc>
                <a:spcPct val="100000"/>
              </a:lnSpc>
              <a:spcBef>
                <a:spcPts val="280"/>
              </a:spcBef>
            </a:pPr>
            <a:r>
              <a:rPr sz="1250" dirty="0">
                <a:solidFill>
                  <a:srgbClr val="252525"/>
                </a:solidFill>
                <a:latin typeface="Calibri"/>
                <a:cs typeface="Calibri"/>
              </a:rPr>
              <a:t>Section</a:t>
            </a:r>
            <a:r>
              <a:rPr sz="1250" spc="5" dirty="0">
                <a:solidFill>
                  <a:srgbClr val="252525"/>
                </a:solidFill>
                <a:latin typeface="Calibri"/>
                <a:cs typeface="Calibri"/>
              </a:rPr>
              <a:t> </a:t>
            </a:r>
            <a:r>
              <a:rPr sz="1250" dirty="0">
                <a:solidFill>
                  <a:srgbClr val="252525"/>
                </a:solidFill>
                <a:latin typeface="Calibri"/>
                <a:cs typeface="Calibri"/>
              </a:rPr>
              <a:t>4</a:t>
            </a:r>
            <a:r>
              <a:rPr sz="1250" spc="275" dirty="0">
                <a:solidFill>
                  <a:srgbClr val="252525"/>
                </a:solidFill>
                <a:latin typeface="Calibri"/>
                <a:cs typeface="Calibri"/>
              </a:rPr>
              <a:t> </a:t>
            </a:r>
            <a:r>
              <a:rPr sz="1250" dirty="0">
                <a:solidFill>
                  <a:srgbClr val="252525"/>
                </a:solidFill>
                <a:latin typeface="Calibri"/>
                <a:cs typeface="Calibri"/>
              </a:rPr>
              <a:t>•</a:t>
            </a:r>
            <a:r>
              <a:rPr sz="1250" spc="270" dirty="0">
                <a:solidFill>
                  <a:srgbClr val="252525"/>
                </a:solidFill>
                <a:latin typeface="Calibri"/>
                <a:cs typeface="Calibri"/>
              </a:rPr>
              <a:t> </a:t>
            </a:r>
            <a:r>
              <a:rPr sz="1250" spc="-25" dirty="0">
                <a:solidFill>
                  <a:srgbClr val="252525"/>
                </a:solidFill>
                <a:latin typeface="Calibri"/>
                <a:cs typeface="Calibri"/>
              </a:rPr>
              <a:t>CSE</a:t>
            </a:r>
            <a:endParaRPr sz="1250">
              <a:latin typeface="Calibri"/>
              <a:cs typeface="Calibri"/>
            </a:endParaRPr>
          </a:p>
          <a:p>
            <a:pPr>
              <a:lnSpc>
                <a:spcPct val="100000"/>
              </a:lnSpc>
              <a:spcBef>
                <a:spcPts val="810"/>
              </a:spcBef>
            </a:pPr>
            <a:endParaRPr sz="1250">
              <a:latin typeface="Calibri"/>
              <a:cs typeface="Calibri"/>
            </a:endParaRPr>
          </a:p>
          <a:p>
            <a:pPr marL="12700">
              <a:lnSpc>
                <a:spcPct val="100000"/>
              </a:lnSpc>
            </a:pPr>
            <a:r>
              <a:rPr sz="950" b="1" dirty="0">
                <a:solidFill>
                  <a:srgbClr val="6D6D6D"/>
                </a:solidFill>
                <a:latin typeface="Calibri"/>
                <a:cs typeface="Calibri"/>
              </a:rPr>
              <a:t>GUIDED</a:t>
            </a:r>
            <a:r>
              <a:rPr sz="950" b="1" spc="305" dirty="0">
                <a:solidFill>
                  <a:srgbClr val="6D6D6D"/>
                </a:solidFill>
                <a:latin typeface="Calibri"/>
                <a:cs typeface="Calibri"/>
              </a:rPr>
              <a:t> </a:t>
            </a:r>
            <a:r>
              <a:rPr sz="950" b="1" spc="-25" dirty="0">
                <a:solidFill>
                  <a:srgbClr val="6D6D6D"/>
                </a:solidFill>
                <a:latin typeface="Calibri"/>
                <a:cs typeface="Calibri"/>
              </a:rPr>
              <a:t>BY</a:t>
            </a:r>
            <a:endParaRPr sz="950">
              <a:latin typeface="Calibri"/>
              <a:cs typeface="Calibri"/>
            </a:endParaRPr>
          </a:p>
          <a:p>
            <a:pPr marL="12700">
              <a:lnSpc>
                <a:spcPct val="100000"/>
              </a:lnSpc>
              <a:spcBef>
                <a:spcPts val="285"/>
              </a:spcBef>
            </a:pPr>
            <a:r>
              <a:rPr sz="1250" dirty="0">
                <a:solidFill>
                  <a:srgbClr val="252525"/>
                </a:solidFill>
                <a:latin typeface="Calibri"/>
                <a:cs typeface="Calibri"/>
              </a:rPr>
              <a:t>Ms. </a:t>
            </a:r>
            <a:r>
              <a:rPr sz="1250" spc="-10" dirty="0">
                <a:solidFill>
                  <a:srgbClr val="252525"/>
                </a:solidFill>
                <a:latin typeface="Calibri"/>
                <a:cs typeface="Calibri"/>
              </a:rPr>
              <a:t>Jyothsna</a:t>
            </a:r>
            <a:r>
              <a:rPr sz="1250" spc="5" dirty="0">
                <a:solidFill>
                  <a:srgbClr val="252525"/>
                </a:solidFill>
                <a:latin typeface="Calibri"/>
                <a:cs typeface="Calibri"/>
              </a:rPr>
              <a:t> </a:t>
            </a:r>
            <a:r>
              <a:rPr sz="1250" spc="-20" dirty="0">
                <a:solidFill>
                  <a:srgbClr val="252525"/>
                </a:solidFill>
                <a:latin typeface="Calibri"/>
                <a:cs typeface="Calibri"/>
              </a:rPr>
              <a:t>Datti</a:t>
            </a:r>
            <a:endParaRPr sz="125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257935">
              <a:lnSpc>
                <a:spcPct val="100000"/>
              </a:lnSpc>
              <a:spcBef>
                <a:spcPts val="105"/>
              </a:spcBef>
            </a:pPr>
            <a:r>
              <a:rPr spc="-10" dirty="0"/>
              <a:t>ABSTRACT</a:t>
            </a:r>
          </a:p>
        </p:txBody>
      </p:sp>
      <p:sp>
        <p:nvSpPr>
          <p:cNvPr id="3" name="object 3"/>
          <p:cNvSpPr txBox="1"/>
          <p:nvPr/>
        </p:nvSpPr>
        <p:spPr>
          <a:xfrm>
            <a:off x="4594097" y="933449"/>
            <a:ext cx="300101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Project</a:t>
            </a:r>
            <a:r>
              <a:rPr sz="1150" i="1" spc="-20" dirty="0">
                <a:solidFill>
                  <a:srgbClr val="6D6D6D"/>
                </a:solidFill>
                <a:latin typeface="Calibri"/>
                <a:cs typeface="Calibri"/>
              </a:rPr>
              <a:t> </a:t>
            </a:r>
            <a:r>
              <a:rPr sz="1150" i="1" dirty="0">
                <a:solidFill>
                  <a:srgbClr val="6D6D6D"/>
                </a:solidFill>
                <a:latin typeface="Calibri"/>
                <a:cs typeface="Calibri"/>
              </a:rPr>
              <a:t>motivation</a:t>
            </a:r>
            <a:r>
              <a:rPr sz="1150" i="1" spc="-30" dirty="0">
                <a:solidFill>
                  <a:srgbClr val="6D6D6D"/>
                </a:solidFill>
                <a:latin typeface="Calibri"/>
                <a:cs typeface="Calibri"/>
              </a:rPr>
              <a:t> </a:t>
            </a:r>
            <a:r>
              <a:rPr sz="1150" i="1" dirty="0">
                <a:solidFill>
                  <a:srgbClr val="6D6D6D"/>
                </a:solidFill>
                <a:latin typeface="Calibri"/>
                <a:cs typeface="Calibri"/>
              </a:rPr>
              <a:t>and</a:t>
            </a:r>
            <a:r>
              <a:rPr sz="1150" i="1" spc="-55" dirty="0">
                <a:solidFill>
                  <a:srgbClr val="6D6D6D"/>
                </a:solidFill>
                <a:latin typeface="Calibri"/>
                <a:cs typeface="Calibri"/>
              </a:rPr>
              <a:t> </a:t>
            </a:r>
            <a:r>
              <a:rPr sz="1150" i="1" dirty="0">
                <a:solidFill>
                  <a:srgbClr val="6D6D6D"/>
                </a:solidFill>
                <a:latin typeface="Calibri"/>
                <a:cs typeface="Calibri"/>
              </a:rPr>
              <a:t>proposed</a:t>
            </a:r>
            <a:r>
              <a:rPr sz="1150" i="1" spc="-55" dirty="0">
                <a:solidFill>
                  <a:srgbClr val="6D6D6D"/>
                </a:solidFill>
                <a:latin typeface="Calibri"/>
                <a:cs typeface="Calibri"/>
              </a:rPr>
              <a:t> </a:t>
            </a:r>
            <a:r>
              <a:rPr sz="1150" i="1" dirty="0">
                <a:solidFill>
                  <a:srgbClr val="6D6D6D"/>
                </a:solidFill>
                <a:latin typeface="Calibri"/>
                <a:cs typeface="Calibri"/>
              </a:rPr>
              <a:t>learning</a:t>
            </a:r>
            <a:r>
              <a:rPr sz="1150" i="1" spc="-55" dirty="0">
                <a:solidFill>
                  <a:srgbClr val="6D6D6D"/>
                </a:solidFill>
                <a:latin typeface="Calibri"/>
                <a:cs typeface="Calibri"/>
              </a:rPr>
              <a:t> </a:t>
            </a:r>
            <a:r>
              <a:rPr sz="1150" i="1" spc="-10" dirty="0">
                <a:solidFill>
                  <a:srgbClr val="6D6D6D"/>
                </a:solidFill>
                <a:latin typeface="Calibri"/>
                <a:cs typeface="Calibri"/>
              </a:rPr>
              <a:t>strategy</a:t>
            </a:r>
            <a:endParaRPr sz="1150" dirty="0">
              <a:latin typeface="Calibri"/>
              <a:cs typeface="Calibri"/>
            </a:endParaRPr>
          </a:p>
        </p:txBody>
      </p:sp>
      <p:grpSp>
        <p:nvGrpSpPr>
          <p:cNvPr id="4" name="object 4"/>
          <p:cNvGrpSpPr/>
          <p:nvPr/>
        </p:nvGrpSpPr>
        <p:grpSpPr>
          <a:xfrm>
            <a:off x="398779" y="1365121"/>
            <a:ext cx="11069955" cy="4559430"/>
            <a:chOff x="554736" y="1356385"/>
            <a:chExt cx="11069955" cy="4321810"/>
          </a:xfrm>
        </p:grpSpPr>
        <p:pic>
          <p:nvPicPr>
            <p:cNvPr id="5" name="object 5"/>
            <p:cNvPicPr/>
            <p:nvPr/>
          </p:nvPicPr>
          <p:blipFill>
            <a:blip r:embed="rId2" cstate="print"/>
            <a:stretch>
              <a:fillRect/>
            </a:stretch>
          </p:blipFill>
          <p:spPr>
            <a:xfrm>
              <a:off x="554736" y="1356385"/>
              <a:ext cx="11069955" cy="4321683"/>
            </a:xfrm>
            <a:prstGeom prst="rect">
              <a:avLst/>
            </a:prstGeom>
          </p:spPr>
        </p:pic>
        <p:sp>
          <p:nvSpPr>
            <p:cNvPr id="6" name="object 6"/>
            <p:cNvSpPr/>
            <p:nvPr/>
          </p:nvSpPr>
          <p:spPr>
            <a:xfrm>
              <a:off x="640080" y="1417320"/>
              <a:ext cx="10909300" cy="4160520"/>
            </a:xfrm>
            <a:custGeom>
              <a:avLst/>
              <a:gdLst/>
              <a:ahLst/>
              <a:cxnLst/>
              <a:rect l="l" t="t" r="r" b="b"/>
              <a:pathLst>
                <a:path w="10909300" h="4160520">
                  <a:moveTo>
                    <a:pt x="10835640" y="0"/>
                  </a:moveTo>
                  <a:lnTo>
                    <a:pt x="73139" y="0"/>
                  </a:lnTo>
                  <a:lnTo>
                    <a:pt x="44673" y="5750"/>
                  </a:lnTo>
                  <a:lnTo>
                    <a:pt x="21424" y="21431"/>
                  </a:lnTo>
                  <a:lnTo>
                    <a:pt x="5748" y="44684"/>
                  </a:lnTo>
                  <a:lnTo>
                    <a:pt x="0" y="73151"/>
                  </a:lnTo>
                  <a:lnTo>
                    <a:pt x="0" y="4087367"/>
                  </a:lnTo>
                  <a:lnTo>
                    <a:pt x="5748" y="4115835"/>
                  </a:lnTo>
                  <a:lnTo>
                    <a:pt x="21424" y="4139088"/>
                  </a:lnTo>
                  <a:lnTo>
                    <a:pt x="44673" y="4154769"/>
                  </a:lnTo>
                  <a:lnTo>
                    <a:pt x="73139" y="4160519"/>
                  </a:lnTo>
                  <a:lnTo>
                    <a:pt x="10835640" y="4160519"/>
                  </a:lnTo>
                  <a:lnTo>
                    <a:pt x="10864107" y="4154769"/>
                  </a:lnTo>
                  <a:lnTo>
                    <a:pt x="10887360" y="4139088"/>
                  </a:lnTo>
                  <a:lnTo>
                    <a:pt x="10903041" y="4115835"/>
                  </a:lnTo>
                  <a:lnTo>
                    <a:pt x="10908792" y="4087367"/>
                  </a:lnTo>
                  <a:lnTo>
                    <a:pt x="10908792" y="73151"/>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dirty="0"/>
            </a:p>
          </p:txBody>
        </p:sp>
        <p:sp>
          <p:nvSpPr>
            <p:cNvPr id="7" name="object 7"/>
            <p:cNvSpPr/>
            <p:nvPr/>
          </p:nvSpPr>
          <p:spPr>
            <a:xfrm>
              <a:off x="640080" y="1417320"/>
              <a:ext cx="10909300" cy="4160520"/>
            </a:xfrm>
            <a:custGeom>
              <a:avLst/>
              <a:gdLst/>
              <a:ahLst/>
              <a:cxnLst/>
              <a:rect l="l" t="t" r="r" b="b"/>
              <a:pathLst>
                <a:path w="10909300" h="4160520">
                  <a:moveTo>
                    <a:pt x="0" y="73151"/>
                  </a:moveTo>
                  <a:lnTo>
                    <a:pt x="5748" y="44684"/>
                  </a:lnTo>
                  <a:lnTo>
                    <a:pt x="21424" y="21431"/>
                  </a:lnTo>
                  <a:lnTo>
                    <a:pt x="44673" y="5750"/>
                  </a:lnTo>
                  <a:lnTo>
                    <a:pt x="73139" y="0"/>
                  </a:lnTo>
                  <a:lnTo>
                    <a:pt x="10835640" y="0"/>
                  </a:lnTo>
                  <a:lnTo>
                    <a:pt x="10864107" y="5750"/>
                  </a:lnTo>
                  <a:lnTo>
                    <a:pt x="10887360" y="21431"/>
                  </a:lnTo>
                  <a:lnTo>
                    <a:pt x="10903041" y="44684"/>
                  </a:lnTo>
                  <a:lnTo>
                    <a:pt x="10908792" y="73151"/>
                  </a:lnTo>
                  <a:lnTo>
                    <a:pt x="10908792" y="4087367"/>
                  </a:lnTo>
                  <a:lnTo>
                    <a:pt x="10903041" y="4115835"/>
                  </a:lnTo>
                  <a:lnTo>
                    <a:pt x="10887360" y="4139088"/>
                  </a:lnTo>
                  <a:lnTo>
                    <a:pt x="10864107" y="4154769"/>
                  </a:lnTo>
                  <a:lnTo>
                    <a:pt x="10835640" y="4160519"/>
                  </a:lnTo>
                  <a:lnTo>
                    <a:pt x="73139" y="4160519"/>
                  </a:lnTo>
                  <a:lnTo>
                    <a:pt x="44673" y="4154769"/>
                  </a:lnTo>
                  <a:lnTo>
                    <a:pt x="21424" y="4139088"/>
                  </a:lnTo>
                  <a:lnTo>
                    <a:pt x="5748" y="4115835"/>
                  </a:lnTo>
                  <a:lnTo>
                    <a:pt x="0" y="4087367"/>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993444" y="1697261"/>
            <a:ext cx="9913620" cy="1490793"/>
          </a:xfrm>
          <a:prstGeom prst="rect">
            <a:avLst/>
          </a:prstGeom>
        </p:spPr>
        <p:txBody>
          <a:bodyPr vert="horz" wrap="square" lIns="0" tIns="13335" rIns="0" bIns="0" rtlCol="0">
            <a:spAutoFit/>
          </a:bodyPr>
          <a:lstStyle/>
          <a:p>
            <a:pPr algn="just"/>
            <a:r>
              <a:rPr lang="en-IN" sz="1600" dirty="0">
                <a:latin typeface="Times New Roman" panose="02020603050405020304" pitchFamily="18" charset="0"/>
                <a:cs typeface="Times New Roman" panose="02020603050405020304" pitchFamily="18" charset="0"/>
              </a:rPr>
              <a:t>Agriculture is an important sector that depends on several factors such as rainfall, temperature, humidity, soil type, irrigation, fertilizer usage, and crop type. Accurate crop yield prediction can help farmers improve planning, manage resources, and reduce potential losses.</a:t>
            </a:r>
          </a:p>
          <a:p>
            <a:pPr algn="just"/>
            <a:r>
              <a:rPr lang="en-IN" sz="1600" dirty="0">
                <a:latin typeface="Times New Roman" panose="02020603050405020304" pitchFamily="18" charset="0"/>
                <a:cs typeface="Times New Roman" panose="02020603050405020304" pitchFamily="18" charset="0"/>
              </a:rPr>
              <a:t>This project develops a </a:t>
            </a:r>
            <a:r>
              <a:rPr lang="en-IN" sz="1600" b="1" dirty="0">
                <a:latin typeface="Times New Roman" panose="02020603050405020304" pitchFamily="18" charset="0"/>
                <a:cs typeface="Times New Roman" panose="02020603050405020304" pitchFamily="18" charset="0"/>
              </a:rPr>
              <a:t>machine learning-based crop yield prediction system</a:t>
            </a:r>
            <a:r>
              <a:rPr lang="en-IN" sz="1600" dirty="0">
                <a:latin typeface="Times New Roman" panose="02020603050405020304" pitchFamily="18" charset="0"/>
                <a:cs typeface="Times New Roman" panose="02020603050405020304" pitchFamily="18" charset="0"/>
              </a:rPr>
              <a:t> using </a:t>
            </a:r>
            <a:r>
              <a:rPr lang="en-IN" sz="1600" b="1" dirty="0">
                <a:latin typeface="Times New Roman" panose="02020603050405020304" pitchFamily="18" charset="0"/>
                <a:cs typeface="Times New Roman" panose="02020603050405020304" pitchFamily="18" charset="0"/>
              </a:rPr>
              <a:t>Random Forest, XGBoost, and Support Vector Regression (SVR)</a:t>
            </a:r>
            <a:r>
              <a:rPr lang="en-IN" sz="1600" dirty="0">
                <a:latin typeface="Times New Roman" panose="02020603050405020304" pitchFamily="18" charset="0"/>
                <a:cs typeface="Times New Roman" panose="02020603050405020304" pitchFamily="18" charset="0"/>
              </a:rPr>
              <a:t>. The agricultural data is cleaned and </a:t>
            </a:r>
            <a:r>
              <a:rPr lang="en-IN" sz="1600" dirty="0" err="1">
                <a:latin typeface="Times New Roman" panose="02020603050405020304" pitchFamily="18" charset="0"/>
                <a:cs typeface="Times New Roman" panose="02020603050405020304" pitchFamily="18" charset="0"/>
              </a:rPr>
              <a:t>preprocessed</a:t>
            </a:r>
            <a:r>
              <a:rPr lang="en-IN" sz="1600" dirty="0">
                <a:latin typeface="Times New Roman" panose="02020603050405020304" pitchFamily="18" charset="0"/>
                <a:cs typeface="Times New Roman" panose="02020603050405020304" pitchFamily="18" charset="0"/>
              </a:rPr>
              <a:t> before training the models. Their performance is compared using </a:t>
            </a:r>
            <a:r>
              <a:rPr lang="en-IN" sz="1600" b="1" dirty="0">
                <a:latin typeface="Times New Roman" panose="02020603050405020304" pitchFamily="18" charset="0"/>
                <a:cs typeface="Times New Roman" panose="02020603050405020304" pitchFamily="18" charset="0"/>
              </a:rPr>
              <a:t>MAE, MSE, RMSE, and R² Score</a:t>
            </a:r>
            <a:r>
              <a:rPr lang="en-IN" sz="1600" dirty="0">
                <a:latin typeface="Times New Roman" panose="02020603050405020304" pitchFamily="18" charset="0"/>
                <a:cs typeface="Times New Roman" panose="02020603050405020304" pitchFamily="18" charset="0"/>
              </a:rPr>
              <a:t> to identify the best-performing model.</a:t>
            </a:r>
          </a:p>
        </p:txBody>
      </p:sp>
      <p:sp>
        <p:nvSpPr>
          <p:cNvPr id="9" name="object 9"/>
          <p:cNvSpPr txBox="1"/>
          <p:nvPr/>
        </p:nvSpPr>
        <p:spPr>
          <a:xfrm>
            <a:off x="993444" y="3526586"/>
            <a:ext cx="10015855" cy="506549"/>
          </a:xfrm>
          <a:prstGeom prst="rect">
            <a:avLst/>
          </a:prstGeom>
        </p:spPr>
        <p:txBody>
          <a:bodyPr vert="horz" wrap="square" lIns="0" tIns="13970" rIns="0" bIns="0" rtlCol="0">
            <a:spAutoFit/>
          </a:bodyPr>
          <a:lstStyle/>
          <a:p>
            <a:pPr marL="12700" marR="5080" algn="just">
              <a:lnSpc>
                <a:spcPct val="100000"/>
              </a:lnSpc>
              <a:spcBef>
                <a:spcPts val="110"/>
              </a:spcBef>
            </a:pPr>
            <a:r>
              <a:rPr lang="en-IN" sz="1600" dirty="0">
                <a:latin typeface="Times New Roman" panose="02020603050405020304" pitchFamily="18" charset="0"/>
                <a:cs typeface="Times New Roman" panose="02020603050405020304" pitchFamily="18" charset="0"/>
              </a:rPr>
              <a:t>The proposed system can assist farmers and agricultural organizations in making better decisions related to </a:t>
            </a:r>
            <a:r>
              <a:rPr lang="en-IN" sz="1600" b="1" dirty="0">
                <a:latin typeface="Times New Roman" panose="02020603050405020304" pitchFamily="18" charset="0"/>
                <a:cs typeface="Times New Roman" panose="02020603050405020304" pitchFamily="18" charset="0"/>
              </a:rPr>
              <a:t>crop selection, irrigation, fertilizer usage, resource management, and agricultural planning</a:t>
            </a:r>
            <a:r>
              <a:rPr lang="en-IN"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p:txBody>
      </p:sp>
      <p:sp>
        <p:nvSpPr>
          <p:cNvPr id="10" name="object 10"/>
          <p:cNvSpPr/>
          <p:nvPr/>
        </p:nvSpPr>
        <p:spPr>
          <a:xfrm>
            <a:off x="1005839" y="4800600"/>
            <a:ext cx="1670685" cy="421005"/>
          </a:xfrm>
          <a:custGeom>
            <a:avLst/>
            <a:gdLst/>
            <a:ahLst/>
            <a:cxnLst/>
            <a:rect l="l" t="t" r="r" b="b"/>
            <a:pathLst>
              <a:path w="1670685" h="421004">
                <a:moveTo>
                  <a:pt x="1459992" y="0"/>
                </a:moveTo>
                <a:lnTo>
                  <a:pt x="210312" y="0"/>
                </a:lnTo>
                <a:lnTo>
                  <a:pt x="162088" y="5551"/>
                </a:lnTo>
                <a:lnTo>
                  <a:pt x="117821" y="21367"/>
                </a:lnTo>
                <a:lnTo>
                  <a:pt x="78771" y="46186"/>
                </a:lnTo>
                <a:lnTo>
                  <a:pt x="46202" y="78750"/>
                </a:lnTo>
                <a:lnTo>
                  <a:pt x="21375" y="117798"/>
                </a:lnTo>
                <a:lnTo>
                  <a:pt x="5554" y="162072"/>
                </a:lnTo>
                <a:lnTo>
                  <a:pt x="0" y="210312"/>
                </a:lnTo>
                <a:lnTo>
                  <a:pt x="5554" y="258551"/>
                </a:lnTo>
                <a:lnTo>
                  <a:pt x="21375" y="302825"/>
                </a:lnTo>
                <a:lnTo>
                  <a:pt x="46202" y="341873"/>
                </a:lnTo>
                <a:lnTo>
                  <a:pt x="78771" y="374437"/>
                </a:lnTo>
                <a:lnTo>
                  <a:pt x="117821" y="399256"/>
                </a:lnTo>
                <a:lnTo>
                  <a:pt x="162088" y="415072"/>
                </a:lnTo>
                <a:lnTo>
                  <a:pt x="210312" y="420624"/>
                </a:lnTo>
                <a:lnTo>
                  <a:pt x="1459992" y="420624"/>
                </a:lnTo>
                <a:lnTo>
                  <a:pt x="1508231" y="415072"/>
                </a:lnTo>
                <a:lnTo>
                  <a:pt x="1552505" y="399256"/>
                </a:lnTo>
                <a:lnTo>
                  <a:pt x="1591553" y="374437"/>
                </a:lnTo>
                <a:lnTo>
                  <a:pt x="1624117" y="341873"/>
                </a:lnTo>
                <a:lnTo>
                  <a:pt x="1648936" y="302825"/>
                </a:lnTo>
                <a:lnTo>
                  <a:pt x="1664752" y="258551"/>
                </a:lnTo>
                <a:lnTo>
                  <a:pt x="1670303" y="210312"/>
                </a:lnTo>
                <a:lnTo>
                  <a:pt x="1664752" y="162072"/>
                </a:lnTo>
                <a:lnTo>
                  <a:pt x="1648936" y="117798"/>
                </a:lnTo>
                <a:lnTo>
                  <a:pt x="1624117" y="78750"/>
                </a:lnTo>
                <a:lnTo>
                  <a:pt x="1591553" y="46186"/>
                </a:lnTo>
                <a:lnTo>
                  <a:pt x="1552505" y="21367"/>
                </a:lnTo>
                <a:lnTo>
                  <a:pt x="1508231" y="5551"/>
                </a:lnTo>
                <a:lnTo>
                  <a:pt x="1459992" y="0"/>
                </a:lnTo>
                <a:close/>
              </a:path>
            </a:pathLst>
          </a:custGeom>
          <a:solidFill>
            <a:srgbClr val="C00000"/>
          </a:solidFill>
        </p:spPr>
        <p:txBody>
          <a:bodyPr wrap="square" lIns="0" tIns="0" rIns="0" bIns="0" rtlCol="0"/>
          <a:lstStyle/>
          <a:p>
            <a:endParaRPr/>
          </a:p>
        </p:txBody>
      </p:sp>
      <p:sp>
        <p:nvSpPr>
          <p:cNvPr id="11" name="object 11"/>
          <p:cNvSpPr txBox="1"/>
          <p:nvPr/>
        </p:nvSpPr>
        <p:spPr>
          <a:xfrm>
            <a:off x="1186078" y="4907660"/>
            <a:ext cx="1490446" cy="182101"/>
          </a:xfrm>
          <a:prstGeom prst="rect">
            <a:avLst/>
          </a:prstGeom>
        </p:spPr>
        <p:txBody>
          <a:bodyPr vert="horz" wrap="square" lIns="0" tIns="12700" rIns="0" bIns="0" rtlCol="0">
            <a:spAutoFit/>
          </a:bodyPr>
          <a:lstStyle/>
          <a:p>
            <a:pPr marL="12700">
              <a:lnSpc>
                <a:spcPct val="100000"/>
              </a:lnSpc>
              <a:spcBef>
                <a:spcPts val="100"/>
              </a:spcBef>
            </a:pPr>
            <a:r>
              <a:rPr lang="en-IN" sz="1100" dirty="0"/>
              <a:t>Crop Yield Prediction</a:t>
            </a:r>
            <a:endParaRPr sz="1100" dirty="0">
              <a:latin typeface="Calibri"/>
              <a:cs typeface="Calibri"/>
            </a:endParaRPr>
          </a:p>
        </p:txBody>
      </p:sp>
      <p:sp>
        <p:nvSpPr>
          <p:cNvPr id="12" name="object 12"/>
          <p:cNvSpPr/>
          <p:nvPr/>
        </p:nvSpPr>
        <p:spPr>
          <a:xfrm>
            <a:off x="2904744" y="4800600"/>
            <a:ext cx="1670685" cy="421005"/>
          </a:xfrm>
          <a:custGeom>
            <a:avLst/>
            <a:gdLst/>
            <a:ahLst/>
            <a:cxnLst/>
            <a:rect l="l" t="t" r="r" b="b"/>
            <a:pathLst>
              <a:path w="1670685" h="421004">
                <a:moveTo>
                  <a:pt x="1459992" y="0"/>
                </a:moveTo>
                <a:lnTo>
                  <a:pt x="210312" y="0"/>
                </a:lnTo>
                <a:lnTo>
                  <a:pt x="162072" y="5551"/>
                </a:lnTo>
                <a:lnTo>
                  <a:pt x="117798" y="21367"/>
                </a:lnTo>
                <a:lnTo>
                  <a:pt x="78750" y="46186"/>
                </a:lnTo>
                <a:lnTo>
                  <a:pt x="46186" y="78750"/>
                </a:lnTo>
                <a:lnTo>
                  <a:pt x="21367" y="117798"/>
                </a:lnTo>
                <a:lnTo>
                  <a:pt x="5551" y="162072"/>
                </a:lnTo>
                <a:lnTo>
                  <a:pt x="0" y="210312"/>
                </a:lnTo>
                <a:lnTo>
                  <a:pt x="5551" y="258551"/>
                </a:lnTo>
                <a:lnTo>
                  <a:pt x="21367" y="302825"/>
                </a:lnTo>
                <a:lnTo>
                  <a:pt x="46186" y="341873"/>
                </a:lnTo>
                <a:lnTo>
                  <a:pt x="78750" y="374437"/>
                </a:lnTo>
                <a:lnTo>
                  <a:pt x="117798" y="399256"/>
                </a:lnTo>
                <a:lnTo>
                  <a:pt x="162072" y="415072"/>
                </a:lnTo>
                <a:lnTo>
                  <a:pt x="210312" y="420624"/>
                </a:lnTo>
                <a:lnTo>
                  <a:pt x="1459992" y="420624"/>
                </a:lnTo>
                <a:lnTo>
                  <a:pt x="1508231" y="415072"/>
                </a:lnTo>
                <a:lnTo>
                  <a:pt x="1552505" y="399256"/>
                </a:lnTo>
                <a:lnTo>
                  <a:pt x="1591553" y="374437"/>
                </a:lnTo>
                <a:lnTo>
                  <a:pt x="1624117" y="341873"/>
                </a:lnTo>
                <a:lnTo>
                  <a:pt x="1648936" y="302825"/>
                </a:lnTo>
                <a:lnTo>
                  <a:pt x="1664752" y="258551"/>
                </a:lnTo>
                <a:lnTo>
                  <a:pt x="1670304" y="210312"/>
                </a:lnTo>
                <a:lnTo>
                  <a:pt x="1664752" y="162072"/>
                </a:lnTo>
                <a:lnTo>
                  <a:pt x="1648936" y="117798"/>
                </a:lnTo>
                <a:lnTo>
                  <a:pt x="1624117" y="78750"/>
                </a:lnTo>
                <a:lnTo>
                  <a:pt x="1591553" y="46186"/>
                </a:lnTo>
                <a:lnTo>
                  <a:pt x="1552505" y="21367"/>
                </a:lnTo>
                <a:lnTo>
                  <a:pt x="1508231" y="5551"/>
                </a:lnTo>
                <a:lnTo>
                  <a:pt x="1459992" y="0"/>
                </a:lnTo>
                <a:close/>
              </a:path>
            </a:pathLst>
          </a:custGeom>
          <a:solidFill>
            <a:srgbClr val="006FC0"/>
          </a:solidFill>
        </p:spPr>
        <p:txBody>
          <a:bodyPr wrap="square" lIns="0" tIns="0" rIns="0" bIns="0" rtlCol="0"/>
          <a:lstStyle/>
          <a:p>
            <a:endParaRPr/>
          </a:p>
        </p:txBody>
      </p:sp>
      <p:sp>
        <p:nvSpPr>
          <p:cNvPr id="13" name="object 13"/>
          <p:cNvSpPr txBox="1"/>
          <p:nvPr/>
        </p:nvSpPr>
        <p:spPr>
          <a:xfrm>
            <a:off x="3075813" y="4907660"/>
            <a:ext cx="1325245" cy="182101"/>
          </a:xfrm>
          <a:prstGeom prst="rect">
            <a:avLst/>
          </a:prstGeom>
        </p:spPr>
        <p:txBody>
          <a:bodyPr vert="horz" wrap="square" lIns="0" tIns="12700" rIns="0" bIns="0" rtlCol="0">
            <a:spAutoFit/>
          </a:bodyPr>
          <a:lstStyle/>
          <a:p>
            <a:pPr marL="12700">
              <a:lnSpc>
                <a:spcPct val="100000"/>
              </a:lnSpc>
              <a:spcBef>
                <a:spcPts val="100"/>
              </a:spcBef>
            </a:pPr>
            <a:r>
              <a:rPr lang="en-IN" sz="1100" dirty="0"/>
              <a:t>Machine Learning</a:t>
            </a:r>
            <a:endParaRPr sz="1100" dirty="0">
              <a:latin typeface="Calibri"/>
              <a:cs typeface="Calibri"/>
            </a:endParaRPr>
          </a:p>
        </p:txBody>
      </p:sp>
      <p:sp>
        <p:nvSpPr>
          <p:cNvPr id="14" name="object 14"/>
          <p:cNvSpPr/>
          <p:nvPr/>
        </p:nvSpPr>
        <p:spPr>
          <a:xfrm>
            <a:off x="4803647" y="4800600"/>
            <a:ext cx="1399540" cy="421005"/>
          </a:xfrm>
          <a:custGeom>
            <a:avLst/>
            <a:gdLst/>
            <a:ahLst/>
            <a:cxnLst/>
            <a:rect l="l" t="t" r="r" b="b"/>
            <a:pathLst>
              <a:path w="1399539" h="421004">
                <a:moveTo>
                  <a:pt x="1188719" y="0"/>
                </a:moveTo>
                <a:lnTo>
                  <a:pt x="210312" y="0"/>
                </a:lnTo>
                <a:lnTo>
                  <a:pt x="162072" y="5551"/>
                </a:lnTo>
                <a:lnTo>
                  <a:pt x="117798" y="21367"/>
                </a:lnTo>
                <a:lnTo>
                  <a:pt x="78750" y="46186"/>
                </a:lnTo>
                <a:lnTo>
                  <a:pt x="46186" y="78750"/>
                </a:lnTo>
                <a:lnTo>
                  <a:pt x="21367" y="117798"/>
                </a:lnTo>
                <a:lnTo>
                  <a:pt x="5551" y="162072"/>
                </a:lnTo>
                <a:lnTo>
                  <a:pt x="0" y="210312"/>
                </a:lnTo>
                <a:lnTo>
                  <a:pt x="5551" y="258551"/>
                </a:lnTo>
                <a:lnTo>
                  <a:pt x="21367" y="302825"/>
                </a:lnTo>
                <a:lnTo>
                  <a:pt x="46186" y="341873"/>
                </a:lnTo>
                <a:lnTo>
                  <a:pt x="78750" y="374437"/>
                </a:lnTo>
                <a:lnTo>
                  <a:pt x="117798" y="399256"/>
                </a:lnTo>
                <a:lnTo>
                  <a:pt x="162072" y="415072"/>
                </a:lnTo>
                <a:lnTo>
                  <a:pt x="210312" y="420624"/>
                </a:lnTo>
                <a:lnTo>
                  <a:pt x="1188719" y="420624"/>
                </a:lnTo>
                <a:lnTo>
                  <a:pt x="1236959" y="415072"/>
                </a:lnTo>
                <a:lnTo>
                  <a:pt x="1281233" y="399256"/>
                </a:lnTo>
                <a:lnTo>
                  <a:pt x="1320281" y="374437"/>
                </a:lnTo>
                <a:lnTo>
                  <a:pt x="1352845" y="341873"/>
                </a:lnTo>
                <a:lnTo>
                  <a:pt x="1377664" y="302825"/>
                </a:lnTo>
                <a:lnTo>
                  <a:pt x="1393480" y="258551"/>
                </a:lnTo>
                <a:lnTo>
                  <a:pt x="1399031" y="210312"/>
                </a:lnTo>
                <a:lnTo>
                  <a:pt x="1393480" y="162072"/>
                </a:lnTo>
                <a:lnTo>
                  <a:pt x="1377664" y="117798"/>
                </a:lnTo>
                <a:lnTo>
                  <a:pt x="1352845" y="78750"/>
                </a:lnTo>
                <a:lnTo>
                  <a:pt x="1320281" y="46186"/>
                </a:lnTo>
                <a:lnTo>
                  <a:pt x="1281233" y="21367"/>
                </a:lnTo>
                <a:lnTo>
                  <a:pt x="1236959" y="5551"/>
                </a:lnTo>
                <a:lnTo>
                  <a:pt x="1188719" y="0"/>
                </a:lnTo>
                <a:close/>
              </a:path>
            </a:pathLst>
          </a:custGeom>
          <a:solidFill>
            <a:srgbClr val="6D6D6D"/>
          </a:solidFill>
        </p:spPr>
        <p:txBody>
          <a:bodyPr wrap="square" lIns="0" tIns="0" rIns="0" bIns="0" rtlCol="0"/>
          <a:lstStyle/>
          <a:p>
            <a:endParaRPr/>
          </a:p>
        </p:txBody>
      </p:sp>
      <p:sp>
        <p:nvSpPr>
          <p:cNvPr id="15" name="object 15"/>
          <p:cNvSpPr txBox="1"/>
          <p:nvPr/>
        </p:nvSpPr>
        <p:spPr>
          <a:xfrm>
            <a:off x="4980178" y="4907660"/>
            <a:ext cx="1044575" cy="182101"/>
          </a:xfrm>
          <a:prstGeom prst="rect">
            <a:avLst/>
          </a:prstGeom>
        </p:spPr>
        <p:txBody>
          <a:bodyPr vert="horz" wrap="square" lIns="0" tIns="12700" rIns="0" bIns="0" rtlCol="0">
            <a:spAutoFit/>
          </a:bodyPr>
          <a:lstStyle/>
          <a:p>
            <a:pPr marL="12700">
              <a:lnSpc>
                <a:spcPct val="100000"/>
              </a:lnSpc>
              <a:spcBef>
                <a:spcPts val="100"/>
              </a:spcBef>
            </a:pPr>
            <a:r>
              <a:rPr lang="en-IN" sz="1100" dirty="0"/>
              <a:t>Random Forest</a:t>
            </a:r>
            <a:endParaRPr sz="1100" dirty="0">
              <a:latin typeface="Calibri"/>
              <a:cs typeface="Calibri"/>
            </a:endParaRPr>
          </a:p>
        </p:txBody>
      </p:sp>
      <p:sp>
        <p:nvSpPr>
          <p:cNvPr id="16" name="object 16"/>
          <p:cNvSpPr/>
          <p:nvPr/>
        </p:nvSpPr>
        <p:spPr>
          <a:xfrm>
            <a:off x="6431279" y="4800600"/>
            <a:ext cx="1582420" cy="421005"/>
          </a:xfrm>
          <a:custGeom>
            <a:avLst/>
            <a:gdLst/>
            <a:ahLst/>
            <a:cxnLst/>
            <a:rect l="l" t="t" r="r" b="b"/>
            <a:pathLst>
              <a:path w="1582420" h="421004">
                <a:moveTo>
                  <a:pt x="1371600" y="0"/>
                </a:moveTo>
                <a:lnTo>
                  <a:pt x="210312" y="0"/>
                </a:lnTo>
                <a:lnTo>
                  <a:pt x="162072" y="5551"/>
                </a:lnTo>
                <a:lnTo>
                  <a:pt x="117798" y="21367"/>
                </a:lnTo>
                <a:lnTo>
                  <a:pt x="78750" y="46186"/>
                </a:lnTo>
                <a:lnTo>
                  <a:pt x="46186" y="78750"/>
                </a:lnTo>
                <a:lnTo>
                  <a:pt x="21367" y="117798"/>
                </a:lnTo>
                <a:lnTo>
                  <a:pt x="5551" y="162072"/>
                </a:lnTo>
                <a:lnTo>
                  <a:pt x="0" y="210312"/>
                </a:lnTo>
                <a:lnTo>
                  <a:pt x="5551" y="258551"/>
                </a:lnTo>
                <a:lnTo>
                  <a:pt x="21367" y="302825"/>
                </a:lnTo>
                <a:lnTo>
                  <a:pt x="46186" y="341873"/>
                </a:lnTo>
                <a:lnTo>
                  <a:pt x="78750" y="374437"/>
                </a:lnTo>
                <a:lnTo>
                  <a:pt x="117798" y="399256"/>
                </a:lnTo>
                <a:lnTo>
                  <a:pt x="162072" y="415072"/>
                </a:lnTo>
                <a:lnTo>
                  <a:pt x="210312" y="420624"/>
                </a:lnTo>
                <a:lnTo>
                  <a:pt x="1371600" y="420624"/>
                </a:lnTo>
                <a:lnTo>
                  <a:pt x="1419839" y="415072"/>
                </a:lnTo>
                <a:lnTo>
                  <a:pt x="1464113" y="399256"/>
                </a:lnTo>
                <a:lnTo>
                  <a:pt x="1503161" y="374437"/>
                </a:lnTo>
                <a:lnTo>
                  <a:pt x="1535725" y="341873"/>
                </a:lnTo>
                <a:lnTo>
                  <a:pt x="1560544" y="302825"/>
                </a:lnTo>
                <a:lnTo>
                  <a:pt x="1576360" y="258551"/>
                </a:lnTo>
                <a:lnTo>
                  <a:pt x="1581912" y="210312"/>
                </a:lnTo>
                <a:lnTo>
                  <a:pt x="1576360" y="162072"/>
                </a:lnTo>
                <a:lnTo>
                  <a:pt x="1560544" y="117798"/>
                </a:lnTo>
                <a:lnTo>
                  <a:pt x="1535725" y="78750"/>
                </a:lnTo>
                <a:lnTo>
                  <a:pt x="1503161" y="46186"/>
                </a:lnTo>
                <a:lnTo>
                  <a:pt x="1464113" y="21367"/>
                </a:lnTo>
                <a:lnTo>
                  <a:pt x="1419839" y="5551"/>
                </a:lnTo>
                <a:lnTo>
                  <a:pt x="1371600" y="0"/>
                </a:lnTo>
                <a:close/>
              </a:path>
            </a:pathLst>
          </a:custGeom>
          <a:solidFill>
            <a:srgbClr val="B92431"/>
          </a:solidFill>
        </p:spPr>
        <p:txBody>
          <a:bodyPr wrap="square" lIns="0" tIns="0" rIns="0" bIns="0" rtlCol="0"/>
          <a:lstStyle/>
          <a:p>
            <a:endParaRPr/>
          </a:p>
        </p:txBody>
      </p:sp>
      <p:sp>
        <p:nvSpPr>
          <p:cNvPr id="17" name="object 17"/>
          <p:cNvSpPr txBox="1"/>
          <p:nvPr/>
        </p:nvSpPr>
        <p:spPr>
          <a:xfrm>
            <a:off x="6609968" y="4907660"/>
            <a:ext cx="1222375" cy="182101"/>
          </a:xfrm>
          <a:prstGeom prst="rect">
            <a:avLst/>
          </a:prstGeom>
        </p:spPr>
        <p:txBody>
          <a:bodyPr vert="horz" wrap="square" lIns="0" tIns="12700" rIns="0" bIns="0" rtlCol="0">
            <a:spAutoFit/>
          </a:bodyPr>
          <a:lstStyle/>
          <a:p>
            <a:pPr marL="12700">
              <a:lnSpc>
                <a:spcPct val="100000"/>
              </a:lnSpc>
              <a:spcBef>
                <a:spcPts val="100"/>
              </a:spcBef>
            </a:pPr>
            <a:r>
              <a:rPr lang="en-IN" sz="1100" dirty="0"/>
              <a:t>XGBoost , SVR</a:t>
            </a:r>
            <a:endParaRPr sz="1100" dirty="0">
              <a:latin typeface="Calibri"/>
              <a:cs typeface="Calibri"/>
            </a:endParaRPr>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941069">
              <a:lnSpc>
                <a:spcPct val="100000"/>
              </a:lnSpc>
              <a:spcBef>
                <a:spcPts val="105"/>
              </a:spcBef>
            </a:pPr>
            <a:r>
              <a:rPr spc="-10" dirty="0"/>
              <a:t>INTRODUCTION</a:t>
            </a:r>
          </a:p>
        </p:txBody>
      </p:sp>
      <p:sp>
        <p:nvSpPr>
          <p:cNvPr id="3" name="object 3"/>
          <p:cNvSpPr txBox="1"/>
          <p:nvPr/>
        </p:nvSpPr>
        <p:spPr>
          <a:xfrm>
            <a:off x="4399026" y="933449"/>
            <a:ext cx="3391535"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Why</a:t>
            </a:r>
            <a:r>
              <a:rPr sz="1150" i="1" spc="-30" dirty="0">
                <a:solidFill>
                  <a:srgbClr val="6D6D6D"/>
                </a:solidFill>
                <a:latin typeface="Calibri"/>
                <a:cs typeface="Calibri"/>
              </a:rPr>
              <a:t> </a:t>
            </a:r>
            <a:r>
              <a:rPr sz="1150" i="1" dirty="0">
                <a:solidFill>
                  <a:srgbClr val="6D6D6D"/>
                </a:solidFill>
                <a:latin typeface="Calibri"/>
                <a:cs typeface="Calibri"/>
              </a:rPr>
              <a:t>a</a:t>
            </a:r>
            <a:r>
              <a:rPr sz="1150" i="1" spc="15" dirty="0">
                <a:solidFill>
                  <a:srgbClr val="6D6D6D"/>
                </a:solidFill>
                <a:latin typeface="Calibri"/>
                <a:cs typeface="Calibri"/>
              </a:rPr>
              <a:t> </a:t>
            </a:r>
            <a:r>
              <a:rPr sz="1150" i="1" dirty="0">
                <a:solidFill>
                  <a:srgbClr val="6D6D6D"/>
                </a:solidFill>
                <a:latin typeface="Calibri"/>
                <a:cs typeface="Calibri"/>
              </a:rPr>
              <a:t>hybrid</a:t>
            </a:r>
            <a:r>
              <a:rPr sz="1150" i="1" spc="-10" dirty="0">
                <a:solidFill>
                  <a:srgbClr val="6D6D6D"/>
                </a:solidFill>
                <a:latin typeface="Calibri"/>
                <a:cs typeface="Calibri"/>
              </a:rPr>
              <a:t> LSTM–</a:t>
            </a:r>
            <a:r>
              <a:rPr sz="1150" i="1" dirty="0">
                <a:solidFill>
                  <a:srgbClr val="6D6D6D"/>
                </a:solidFill>
                <a:latin typeface="Calibri"/>
                <a:cs typeface="Calibri"/>
              </a:rPr>
              <a:t>Autoencoder</a:t>
            </a:r>
            <a:r>
              <a:rPr sz="1150" i="1" spc="-50" dirty="0">
                <a:solidFill>
                  <a:srgbClr val="6D6D6D"/>
                </a:solidFill>
                <a:latin typeface="Calibri"/>
                <a:cs typeface="Calibri"/>
              </a:rPr>
              <a:t> </a:t>
            </a:r>
            <a:r>
              <a:rPr sz="1150" i="1" spc="-10" dirty="0">
                <a:solidFill>
                  <a:srgbClr val="6D6D6D"/>
                </a:solidFill>
                <a:latin typeface="Calibri"/>
                <a:cs typeface="Calibri"/>
              </a:rPr>
              <a:t>architecture</a:t>
            </a:r>
            <a:r>
              <a:rPr sz="1150" i="1" spc="10" dirty="0">
                <a:solidFill>
                  <a:srgbClr val="6D6D6D"/>
                </a:solidFill>
                <a:latin typeface="Calibri"/>
                <a:cs typeface="Calibri"/>
              </a:rPr>
              <a:t> </a:t>
            </a:r>
            <a:r>
              <a:rPr sz="1150" i="1" dirty="0">
                <a:solidFill>
                  <a:srgbClr val="6D6D6D"/>
                </a:solidFill>
                <a:latin typeface="Calibri"/>
                <a:cs typeface="Calibri"/>
              </a:rPr>
              <a:t>is</a:t>
            </a:r>
            <a:r>
              <a:rPr sz="1150" i="1" spc="-5" dirty="0">
                <a:solidFill>
                  <a:srgbClr val="6D6D6D"/>
                </a:solidFill>
                <a:latin typeface="Calibri"/>
                <a:cs typeface="Calibri"/>
              </a:rPr>
              <a:t> </a:t>
            </a:r>
            <a:r>
              <a:rPr sz="1150" i="1" spc="-10" dirty="0">
                <a:solidFill>
                  <a:srgbClr val="6D6D6D"/>
                </a:solidFill>
                <a:latin typeface="Calibri"/>
                <a:cs typeface="Calibri"/>
              </a:rPr>
              <a:t>relevant</a:t>
            </a:r>
            <a:endParaRPr sz="1150">
              <a:latin typeface="Calibri"/>
              <a:cs typeface="Calibri"/>
            </a:endParaRPr>
          </a:p>
        </p:txBody>
      </p:sp>
      <p:grpSp>
        <p:nvGrpSpPr>
          <p:cNvPr id="4" name="object 4"/>
          <p:cNvGrpSpPr/>
          <p:nvPr/>
        </p:nvGrpSpPr>
        <p:grpSpPr>
          <a:xfrm>
            <a:off x="371856" y="1310639"/>
            <a:ext cx="5617210" cy="4138929"/>
            <a:chOff x="371856" y="1310639"/>
            <a:chExt cx="5617210" cy="4138929"/>
          </a:xfrm>
        </p:grpSpPr>
        <p:pic>
          <p:nvPicPr>
            <p:cNvPr id="5" name="object 5"/>
            <p:cNvPicPr/>
            <p:nvPr/>
          </p:nvPicPr>
          <p:blipFill>
            <a:blip r:embed="rId2" cstate="print"/>
            <a:stretch>
              <a:fillRect/>
            </a:stretch>
          </p:blipFill>
          <p:spPr>
            <a:xfrm>
              <a:off x="371856" y="1310639"/>
              <a:ext cx="5617083" cy="4138803"/>
            </a:xfrm>
            <a:prstGeom prst="rect">
              <a:avLst/>
            </a:prstGeom>
          </p:spPr>
        </p:pic>
        <p:sp>
          <p:nvSpPr>
            <p:cNvPr id="6" name="object 6"/>
            <p:cNvSpPr/>
            <p:nvPr/>
          </p:nvSpPr>
          <p:spPr>
            <a:xfrm>
              <a:off x="457200" y="1371599"/>
              <a:ext cx="5455920" cy="3977640"/>
            </a:xfrm>
            <a:custGeom>
              <a:avLst/>
              <a:gdLst/>
              <a:ahLst/>
              <a:cxnLst/>
              <a:rect l="l" t="t" r="r" b="b"/>
              <a:pathLst>
                <a:path w="5455920" h="3977640">
                  <a:moveTo>
                    <a:pt x="5382768" y="0"/>
                  </a:moveTo>
                  <a:lnTo>
                    <a:pt x="73151" y="0"/>
                  </a:lnTo>
                  <a:lnTo>
                    <a:pt x="44678" y="5750"/>
                  </a:lnTo>
                  <a:lnTo>
                    <a:pt x="21426" y="21431"/>
                  </a:lnTo>
                  <a:lnTo>
                    <a:pt x="5748" y="44684"/>
                  </a:lnTo>
                  <a:lnTo>
                    <a:pt x="0" y="73151"/>
                  </a:lnTo>
                  <a:lnTo>
                    <a:pt x="0" y="3904488"/>
                  </a:lnTo>
                  <a:lnTo>
                    <a:pt x="5748" y="3932955"/>
                  </a:lnTo>
                  <a:lnTo>
                    <a:pt x="21426" y="3956208"/>
                  </a:lnTo>
                  <a:lnTo>
                    <a:pt x="44678" y="3971889"/>
                  </a:lnTo>
                  <a:lnTo>
                    <a:pt x="73151" y="3977640"/>
                  </a:lnTo>
                  <a:lnTo>
                    <a:pt x="5382768" y="3977640"/>
                  </a:lnTo>
                  <a:lnTo>
                    <a:pt x="5411235" y="3971889"/>
                  </a:lnTo>
                  <a:lnTo>
                    <a:pt x="5434488" y="3956208"/>
                  </a:lnTo>
                  <a:lnTo>
                    <a:pt x="5450169" y="3932955"/>
                  </a:lnTo>
                  <a:lnTo>
                    <a:pt x="5455920" y="3904488"/>
                  </a:lnTo>
                  <a:lnTo>
                    <a:pt x="5455920" y="73151"/>
                  </a:lnTo>
                  <a:lnTo>
                    <a:pt x="5450169" y="44684"/>
                  </a:lnTo>
                  <a:lnTo>
                    <a:pt x="5434488" y="21431"/>
                  </a:lnTo>
                  <a:lnTo>
                    <a:pt x="5411235" y="5750"/>
                  </a:lnTo>
                  <a:lnTo>
                    <a:pt x="5382768" y="0"/>
                  </a:lnTo>
                  <a:close/>
                </a:path>
              </a:pathLst>
            </a:custGeom>
            <a:solidFill>
              <a:srgbClr val="FFFFFF"/>
            </a:solidFill>
          </p:spPr>
          <p:txBody>
            <a:bodyPr wrap="square" lIns="0" tIns="0" rIns="0" bIns="0" rtlCol="0"/>
            <a:lstStyle/>
            <a:p>
              <a:endParaRPr/>
            </a:p>
          </p:txBody>
        </p:sp>
        <p:sp>
          <p:nvSpPr>
            <p:cNvPr id="7" name="object 7"/>
            <p:cNvSpPr/>
            <p:nvPr/>
          </p:nvSpPr>
          <p:spPr>
            <a:xfrm>
              <a:off x="457200" y="1371599"/>
              <a:ext cx="5455920" cy="3977640"/>
            </a:xfrm>
            <a:custGeom>
              <a:avLst/>
              <a:gdLst/>
              <a:ahLst/>
              <a:cxnLst/>
              <a:rect l="l" t="t" r="r" b="b"/>
              <a:pathLst>
                <a:path w="5455920" h="3977640">
                  <a:moveTo>
                    <a:pt x="0" y="73151"/>
                  </a:moveTo>
                  <a:lnTo>
                    <a:pt x="5748" y="44684"/>
                  </a:lnTo>
                  <a:lnTo>
                    <a:pt x="21426" y="21431"/>
                  </a:lnTo>
                  <a:lnTo>
                    <a:pt x="44678" y="5750"/>
                  </a:lnTo>
                  <a:lnTo>
                    <a:pt x="73151" y="0"/>
                  </a:lnTo>
                  <a:lnTo>
                    <a:pt x="5382768" y="0"/>
                  </a:lnTo>
                  <a:lnTo>
                    <a:pt x="5411235" y="5750"/>
                  </a:lnTo>
                  <a:lnTo>
                    <a:pt x="5434488" y="21431"/>
                  </a:lnTo>
                  <a:lnTo>
                    <a:pt x="5450169" y="44684"/>
                  </a:lnTo>
                  <a:lnTo>
                    <a:pt x="5455920" y="73151"/>
                  </a:lnTo>
                  <a:lnTo>
                    <a:pt x="5455920" y="3904488"/>
                  </a:lnTo>
                  <a:lnTo>
                    <a:pt x="5450169" y="3932955"/>
                  </a:lnTo>
                  <a:lnTo>
                    <a:pt x="5434488" y="3956208"/>
                  </a:lnTo>
                  <a:lnTo>
                    <a:pt x="5411235" y="3971889"/>
                  </a:lnTo>
                  <a:lnTo>
                    <a:pt x="5382768" y="3977640"/>
                  </a:lnTo>
                  <a:lnTo>
                    <a:pt x="73151" y="3977640"/>
                  </a:lnTo>
                  <a:lnTo>
                    <a:pt x="44678" y="3971889"/>
                  </a:lnTo>
                  <a:lnTo>
                    <a:pt x="21426" y="3956208"/>
                  </a:lnTo>
                  <a:lnTo>
                    <a:pt x="5748" y="3932955"/>
                  </a:lnTo>
                  <a:lnTo>
                    <a:pt x="0" y="390448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719124" y="1655444"/>
            <a:ext cx="4030676" cy="226985"/>
          </a:xfrm>
          <a:prstGeom prst="rect">
            <a:avLst/>
          </a:prstGeom>
        </p:spPr>
        <p:txBody>
          <a:bodyPr vert="horz" wrap="square" lIns="0" tIns="11430" rIns="0" bIns="0" rtlCol="0">
            <a:spAutoFit/>
          </a:bodyPr>
          <a:lstStyle/>
          <a:p>
            <a:pPr marL="12700">
              <a:spcBef>
                <a:spcPts val="90"/>
              </a:spcBef>
            </a:pPr>
            <a:r>
              <a:rPr lang="en-IN" sz="1400" b="1" dirty="0">
                <a:solidFill>
                  <a:srgbClr val="C00000"/>
                </a:solidFill>
              </a:rPr>
              <a:t>WHY CROP YIELD PREDICTION MATTERS</a:t>
            </a:r>
          </a:p>
        </p:txBody>
      </p:sp>
      <p:sp>
        <p:nvSpPr>
          <p:cNvPr id="9" name="object 9"/>
          <p:cNvSpPr txBox="1"/>
          <p:nvPr/>
        </p:nvSpPr>
        <p:spPr>
          <a:xfrm>
            <a:off x="719124" y="2021742"/>
            <a:ext cx="4857115" cy="1527854"/>
          </a:xfrm>
          <a:prstGeom prst="rect">
            <a:avLst/>
          </a:prstGeom>
        </p:spPr>
        <p:txBody>
          <a:bodyPr vert="horz" wrap="square" lIns="0" tIns="13970" rIns="0" bIns="0" rtlCol="0">
            <a:spAutoFit/>
          </a:bodyPr>
          <a:lstStyle/>
          <a:p>
            <a:pPr algn="just"/>
            <a:r>
              <a:rPr lang="en-IN" sz="1400" dirty="0"/>
              <a:t>Agriculture plays an important role in food production and the economy. Crop yield is affected by several factors such as rainfall, temperature, humidity, soil type, irrigation, fertilizer usage, crop type, and cultivated area. Accurate yield prediction can help farmers plan cultivation, manage resources efficiently, and reduce possible losses.</a:t>
            </a:r>
          </a:p>
          <a:p>
            <a:pPr marL="12700" marR="5080" algn="just">
              <a:lnSpc>
                <a:spcPct val="114900"/>
              </a:lnSpc>
              <a:spcBef>
                <a:spcPts val="110"/>
              </a:spcBef>
            </a:pPr>
            <a:endParaRPr sz="1250" dirty="0">
              <a:latin typeface="Calibri"/>
              <a:cs typeface="Calibri"/>
            </a:endParaRPr>
          </a:p>
        </p:txBody>
      </p:sp>
      <p:grpSp>
        <p:nvGrpSpPr>
          <p:cNvPr id="10" name="object 10"/>
          <p:cNvGrpSpPr/>
          <p:nvPr/>
        </p:nvGrpSpPr>
        <p:grpSpPr>
          <a:xfrm>
            <a:off x="6193535" y="1310639"/>
            <a:ext cx="5614035" cy="4138929"/>
            <a:chOff x="6193535" y="1310639"/>
            <a:chExt cx="5614035" cy="4138929"/>
          </a:xfrm>
        </p:grpSpPr>
        <p:pic>
          <p:nvPicPr>
            <p:cNvPr id="11" name="object 11"/>
            <p:cNvPicPr/>
            <p:nvPr/>
          </p:nvPicPr>
          <p:blipFill>
            <a:blip r:embed="rId3" cstate="print"/>
            <a:stretch>
              <a:fillRect/>
            </a:stretch>
          </p:blipFill>
          <p:spPr>
            <a:xfrm>
              <a:off x="6193535" y="1310639"/>
              <a:ext cx="5614035" cy="4138803"/>
            </a:xfrm>
            <a:prstGeom prst="rect">
              <a:avLst/>
            </a:prstGeom>
          </p:spPr>
        </p:pic>
        <p:sp>
          <p:nvSpPr>
            <p:cNvPr id="12" name="object 12"/>
            <p:cNvSpPr/>
            <p:nvPr/>
          </p:nvSpPr>
          <p:spPr>
            <a:xfrm>
              <a:off x="6278879" y="1371599"/>
              <a:ext cx="5453380" cy="3977640"/>
            </a:xfrm>
            <a:custGeom>
              <a:avLst/>
              <a:gdLst/>
              <a:ahLst/>
              <a:cxnLst/>
              <a:rect l="l" t="t" r="r" b="b"/>
              <a:pathLst>
                <a:path w="5453380" h="3977640">
                  <a:moveTo>
                    <a:pt x="5379720" y="0"/>
                  </a:moveTo>
                  <a:lnTo>
                    <a:pt x="73152" y="0"/>
                  </a:lnTo>
                  <a:lnTo>
                    <a:pt x="44684" y="5750"/>
                  </a:lnTo>
                  <a:lnTo>
                    <a:pt x="21431" y="21431"/>
                  </a:lnTo>
                  <a:lnTo>
                    <a:pt x="5750" y="44684"/>
                  </a:lnTo>
                  <a:lnTo>
                    <a:pt x="0" y="73151"/>
                  </a:lnTo>
                  <a:lnTo>
                    <a:pt x="0" y="3904488"/>
                  </a:lnTo>
                  <a:lnTo>
                    <a:pt x="5750" y="3932955"/>
                  </a:lnTo>
                  <a:lnTo>
                    <a:pt x="21431" y="3956208"/>
                  </a:lnTo>
                  <a:lnTo>
                    <a:pt x="44684" y="3971889"/>
                  </a:lnTo>
                  <a:lnTo>
                    <a:pt x="73152" y="3977640"/>
                  </a:lnTo>
                  <a:lnTo>
                    <a:pt x="5379720" y="3977640"/>
                  </a:lnTo>
                  <a:lnTo>
                    <a:pt x="5408187" y="3971889"/>
                  </a:lnTo>
                  <a:lnTo>
                    <a:pt x="5431440" y="3956208"/>
                  </a:lnTo>
                  <a:lnTo>
                    <a:pt x="5447121" y="3932955"/>
                  </a:lnTo>
                  <a:lnTo>
                    <a:pt x="5452872" y="3904488"/>
                  </a:lnTo>
                  <a:lnTo>
                    <a:pt x="5452872" y="73151"/>
                  </a:lnTo>
                  <a:lnTo>
                    <a:pt x="5447121" y="44684"/>
                  </a:lnTo>
                  <a:lnTo>
                    <a:pt x="5431440" y="21431"/>
                  </a:lnTo>
                  <a:lnTo>
                    <a:pt x="5408187" y="5750"/>
                  </a:lnTo>
                  <a:lnTo>
                    <a:pt x="5379720" y="0"/>
                  </a:lnTo>
                  <a:close/>
                </a:path>
              </a:pathLst>
            </a:custGeom>
            <a:solidFill>
              <a:srgbClr val="FFFFFF"/>
            </a:solidFill>
          </p:spPr>
          <p:txBody>
            <a:bodyPr wrap="square" lIns="0" tIns="0" rIns="0" bIns="0" rtlCol="0"/>
            <a:lstStyle/>
            <a:p>
              <a:endParaRPr/>
            </a:p>
          </p:txBody>
        </p:sp>
        <p:sp>
          <p:nvSpPr>
            <p:cNvPr id="13" name="object 13"/>
            <p:cNvSpPr/>
            <p:nvPr/>
          </p:nvSpPr>
          <p:spPr>
            <a:xfrm>
              <a:off x="6278879" y="1371599"/>
              <a:ext cx="5453380" cy="3977640"/>
            </a:xfrm>
            <a:custGeom>
              <a:avLst/>
              <a:gdLst/>
              <a:ahLst/>
              <a:cxnLst/>
              <a:rect l="l" t="t" r="r" b="b"/>
              <a:pathLst>
                <a:path w="5453380" h="3977640">
                  <a:moveTo>
                    <a:pt x="0" y="73151"/>
                  </a:moveTo>
                  <a:lnTo>
                    <a:pt x="5750" y="44684"/>
                  </a:lnTo>
                  <a:lnTo>
                    <a:pt x="21431" y="21431"/>
                  </a:lnTo>
                  <a:lnTo>
                    <a:pt x="44684" y="5750"/>
                  </a:lnTo>
                  <a:lnTo>
                    <a:pt x="73152" y="0"/>
                  </a:lnTo>
                  <a:lnTo>
                    <a:pt x="5379720" y="0"/>
                  </a:lnTo>
                  <a:lnTo>
                    <a:pt x="5408187" y="5750"/>
                  </a:lnTo>
                  <a:lnTo>
                    <a:pt x="5431440" y="21431"/>
                  </a:lnTo>
                  <a:lnTo>
                    <a:pt x="5447121" y="44684"/>
                  </a:lnTo>
                  <a:lnTo>
                    <a:pt x="5452872" y="73151"/>
                  </a:lnTo>
                  <a:lnTo>
                    <a:pt x="5452872" y="3904488"/>
                  </a:lnTo>
                  <a:lnTo>
                    <a:pt x="5447121" y="3932955"/>
                  </a:lnTo>
                  <a:lnTo>
                    <a:pt x="5431440" y="3956208"/>
                  </a:lnTo>
                  <a:lnTo>
                    <a:pt x="5408187" y="3971889"/>
                  </a:lnTo>
                  <a:lnTo>
                    <a:pt x="5379720" y="3977640"/>
                  </a:lnTo>
                  <a:lnTo>
                    <a:pt x="73152" y="3977640"/>
                  </a:lnTo>
                  <a:lnTo>
                    <a:pt x="44684" y="3971889"/>
                  </a:lnTo>
                  <a:lnTo>
                    <a:pt x="21431" y="3956208"/>
                  </a:lnTo>
                  <a:lnTo>
                    <a:pt x="5750" y="3932955"/>
                  </a:lnTo>
                  <a:lnTo>
                    <a:pt x="0" y="3904488"/>
                  </a:lnTo>
                  <a:lnTo>
                    <a:pt x="0" y="73151"/>
                  </a:lnTo>
                  <a:close/>
                </a:path>
              </a:pathLst>
            </a:custGeom>
            <a:ln w="12192">
              <a:solidFill>
                <a:srgbClr val="DDD2C4"/>
              </a:solidFill>
            </a:ln>
          </p:spPr>
          <p:txBody>
            <a:bodyPr wrap="square" lIns="0" tIns="0" rIns="0" bIns="0" rtlCol="0"/>
            <a:lstStyle/>
            <a:p>
              <a:endParaRPr/>
            </a:p>
          </p:txBody>
        </p:sp>
      </p:grpSp>
      <p:sp>
        <p:nvSpPr>
          <p:cNvPr id="14" name="object 14"/>
          <p:cNvSpPr txBox="1"/>
          <p:nvPr/>
        </p:nvSpPr>
        <p:spPr>
          <a:xfrm>
            <a:off x="6540500" y="1655444"/>
            <a:ext cx="3441700" cy="226985"/>
          </a:xfrm>
          <a:prstGeom prst="rect">
            <a:avLst/>
          </a:prstGeom>
        </p:spPr>
        <p:txBody>
          <a:bodyPr vert="horz" wrap="square" lIns="0" tIns="11430" rIns="0" bIns="0" rtlCol="0">
            <a:spAutoFit/>
          </a:bodyPr>
          <a:lstStyle/>
          <a:p>
            <a:pPr marL="12700">
              <a:lnSpc>
                <a:spcPct val="100000"/>
              </a:lnSpc>
              <a:spcBef>
                <a:spcPts val="90"/>
              </a:spcBef>
            </a:pPr>
            <a:r>
              <a:rPr lang="en-IN" sz="1400" b="1" dirty="0">
                <a:solidFill>
                  <a:srgbClr val="C00000"/>
                </a:solidFill>
              </a:rPr>
              <a:t>WHY MACHINE LEARNING MODELS</a:t>
            </a:r>
            <a:endParaRPr sz="1400" b="1" dirty="0">
              <a:solidFill>
                <a:srgbClr val="C00000"/>
              </a:solidFill>
              <a:latin typeface="Calibri"/>
              <a:cs typeface="Calibri"/>
            </a:endParaRPr>
          </a:p>
        </p:txBody>
      </p:sp>
      <p:sp>
        <p:nvSpPr>
          <p:cNvPr id="15" name="object 15"/>
          <p:cNvSpPr txBox="1"/>
          <p:nvPr/>
        </p:nvSpPr>
        <p:spPr>
          <a:xfrm>
            <a:off x="6540500" y="2021742"/>
            <a:ext cx="4667250" cy="1952458"/>
          </a:xfrm>
          <a:prstGeom prst="rect">
            <a:avLst/>
          </a:prstGeom>
        </p:spPr>
        <p:txBody>
          <a:bodyPr vert="horz" wrap="square" lIns="0" tIns="13335" rIns="0" bIns="0" rtlCol="0">
            <a:spAutoFit/>
          </a:bodyPr>
          <a:lstStyle/>
          <a:p>
            <a:pPr marL="12700" marR="5080" algn="just">
              <a:lnSpc>
                <a:spcPct val="100000"/>
              </a:lnSpc>
              <a:spcBef>
                <a:spcPts val="105"/>
              </a:spcBef>
            </a:pPr>
            <a:r>
              <a:rPr lang="en-IN" sz="1400" dirty="0"/>
              <a:t>Machine learning models can learn relationships between agricultural and environmental factors from historical data and use them to predict crop yield. </a:t>
            </a:r>
            <a:r>
              <a:rPr lang="en-IN" sz="1400" b="1" dirty="0"/>
              <a:t>Random Forest</a:t>
            </a:r>
            <a:r>
              <a:rPr lang="en-IN" sz="1400" dirty="0"/>
              <a:t> can capture complex relationships, </a:t>
            </a:r>
            <a:r>
              <a:rPr lang="en-IN" sz="1400" b="1" dirty="0"/>
              <a:t>XGBoost</a:t>
            </a:r>
            <a:r>
              <a:rPr lang="en-IN" sz="1400" dirty="0"/>
              <a:t> provides powerful boosting-based prediction, and </a:t>
            </a:r>
            <a:r>
              <a:rPr lang="en-IN" sz="1400" b="1" dirty="0"/>
              <a:t>Support Vector Regression (SVR)</a:t>
            </a:r>
            <a:r>
              <a:rPr lang="en-IN" sz="1400" dirty="0"/>
              <a:t> can model non-linear relationships. Comparing these models using MAE, MSE, RMSE, and R² Score helps identify the most suitable model for crop yield prediction.</a:t>
            </a:r>
            <a:endParaRPr sz="1250" dirty="0">
              <a:latin typeface="Calibri"/>
              <a:cs typeface="Calibri"/>
            </a:endParaRPr>
          </a:p>
        </p:txBody>
      </p:sp>
      <p:sp>
        <p:nvSpPr>
          <p:cNvPr id="16" name="object 16"/>
          <p:cNvSpPr/>
          <p:nvPr/>
        </p:nvSpPr>
        <p:spPr>
          <a:xfrm>
            <a:off x="457200" y="5623559"/>
            <a:ext cx="1131569" cy="384175"/>
          </a:xfrm>
          <a:custGeom>
            <a:avLst/>
            <a:gdLst/>
            <a:ahLst/>
            <a:cxnLst/>
            <a:rect l="l" t="t" r="r" b="b"/>
            <a:pathLst>
              <a:path w="978535" h="384175">
                <a:moveTo>
                  <a:pt x="786384" y="0"/>
                </a:moveTo>
                <a:lnTo>
                  <a:pt x="192023" y="0"/>
                </a:lnTo>
                <a:lnTo>
                  <a:pt x="147992" y="5071"/>
                </a:lnTo>
                <a:lnTo>
                  <a:pt x="107574" y="19516"/>
                </a:lnTo>
                <a:lnTo>
                  <a:pt x="71920" y="42183"/>
                </a:lnTo>
                <a:lnTo>
                  <a:pt x="42183" y="71920"/>
                </a:lnTo>
                <a:lnTo>
                  <a:pt x="19516" y="107574"/>
                </a:lnTo>
                <a:lnTo>
                  <a:pt x="5071" y="147992"/>
                </a:lnTo>
                <a:lnTo>
                  <a:pt x="0" y="192023"/>
                </a:lnTo>
                <a:lnTo>
                  <a:pt x="5071" y="236055"/>
                </a:lnTo>
                <a:lnTo>
                  <a:pt x="19516" y="276473"/>
                </a:lnTo>
                <a:lnTo>
                  <a:pt x="42183" y="312127"/>
                </a:lnTo>
                <a:lnTo>
                  <a:pt x="71920" y="341864"/>
                </a:lnTo>
                <a:lnTo>
                  <a:pt x="107574" y="364531"/>
                </a:lnTo>
                <a:lnTo>
                  <a:pt x="147992" y="378976"/>
                </a:lnTo>
                <a:lnTo>
                  <a:pt x="192023" y="384047"/>
                </a:lnTo>
                <a:lnTo>
                  <a:pt x="786384" y="384047"/>
                </a:lnTo>
                <a:lnTo>
                  <a:pt x="830411" y="378976"/>
                </a:lnTo>
                <a:lnTo>
                  <a:pt x="870828" y="364531"/>
                </a:lnTo>
                <a:lnTo>
                  <a:pt x="906482" y="341864"/>
                </a:lnTo>
                <a:lnTo>
                  <a:pt x="936220" y="312127"/>
                </a:lnTo>
                <a:lnTo>
                  <a:pt x="958889" y="276473"/>
                </a:lnTo>
                <a:lnTo>
                  <a:pt x="973336" y="236055"/>
                </a:lnTo>
                <a:lnTo>
                  <a:pt x="978408" y="192023"/>
                </a:lnTo>
                <a:lnTo>
                  <a:pt x="973336" y="147992"/>
                </a:lnTo>
                <a:lnTo>
                  <a:pt x="958889" y="107574"/>
                </a:lnTo>
                <a:lnTo>
                  <a:pt x="936220" y="71920"/>
                </a:lnTo>
                <a:lnTo>
                  <a:pt x="906482" y="42183"/>
                </a:lnTo>
                <a:lnTo>
                  <a:pt x="870828" y="19516"/>
                </a:lnTo>
                <a:lnTo>
                  <a:pt x="830411" y="5071"/>
                </a:lnTo>
                <a:lnTo>
                  <a:pt x="786384" y="0"/>
                </a:lnTo>
                <a:close/>
              </a:path>
            </a:pathLst>
          </a:custGeom>
          <a:solidFill>
            <a:srgbClr val="C00000"/>
          </a:solidFill>
        </p:spPr>
        <p:txBody>
          <a:bodyPr wrap="square" lIns="0" tIns="0" rIns="0" bIns="0" rtlCol="0"/>
          <a:lstStyle/>
          <a:p>
            <a:endParaRPr/>
          </a:p>
        </p:txBody>
      </p:sp>
      <p:sp>
        <p:nvSpPr>
          <p:cNvPr id="17" name="object 17"/>
          <p:cNvSpPr txBox="1"/>
          <p:nvPr/>
        </p:nvSpPr>
        <p:spPr>
          <a:xfrm>
            <a:off x="486955" y="5723330"/>
            <a:ext cx="1214907"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AGRICULTURE</a:t>
            </a:r>
            <a:endParaRPr sz="1100" b="1" dirty="0">
              <a:solidFill>
                <a:schemeClr val="bg1"/>
              </a:solidFill>
              <a:latin typeface="Calibri"/>
              <a:cs typeface="Calibri"/>
            </a:endParaRPr>
          </a:p>
        </p:txBody>
      </p:sp>
      <p:sp>
        <p:nvSpPr>
          <p:cNvPr id="18" name="object 18"/>
          <p:cNvSpPr txBox="1"/>
          <p:nvPr/>
        </p:nvSpPr>
        <p:spPr>
          <a:xfrm>
            <a:off x="1588769" y="5689803"/>
            <a:ext cx="186055"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6D6D6D"/>
                </a:solidFill>
                <a:latin typeface="Calibri"/>
                <a:cs typeface="Calibri"/>
              </a:rPr>
              <a:t>→</a:t>
            </a:r>
            <a:endParaRPr sz="1400">
              <a:latin typeface="Calibri"/>
              <a:cs typeface="Calibri"/>
            </a:endParaRPr>
          </a:p>
        </p:txBody>
      </p:sp>
      <p:sp>
        <p:nvSpPr>
          <p:cNvPr id="19" name="object 19"/>
          <p:cNvSpPr/>
          <p:nvPr/>
        </p:nvSpPr>
        <p:spPr>
          <a:xfrm>
            <a:off x="1865376" y="5623559"/>
            <a:ext cx="777240" cy="384175"/>
          </a:xfrm>
          <a:custGeom>
            <a:avLst/>
            <a:gdLst/>
            <a:ahLst/>
            <a:cxnLst/>
            <a:rect l="l" t="t" r="r" b="b"/>
            <a:pathLst>
              <a:path w="777239" h="384175">
                <a:moveTo>
                  <a:pt x="585216"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585216" y="384047"/>
                </a:lnTo>
                <a:lnTo>
                  <a:pt x="629243" y="378976"/>
                </a:lnTo>
                <a:lnTo>
                  <a:pt x="669660" y="364531"/>
                </a:lnTo>
                <a:lnTo>
                  <a:pt x="705314" y="341864"/>
                </a:lnTo>
                <a:lnTo>
                  <a:pt x="735052" y="312127"/>
                </a:lnTo>
                <a:lnTo>
                  <a:pt x="757721" y="276473"/>
                </a:lnTo>
                <a:lnTo>
                  <a:pt x="772168" y="236055"/>
                </a:lnTo>
                <a:lnTo>
                  <a:pt x="777240" y="192023"/>
                </a:lnTo>
                <a:lnTo>
                  <a:pt x="772168" y="147992"/>
                </a:lnTo>
                <a:lnTo>
                  <a:pt x="757721" y="107574"/>
                </a:lnTo>
                <a:lnTo>
                  <a:pt x="735052" y="71920"/>
                </a:lnTo>
                <a:lnTo>
                  <a:pt x="705314" y="42183"/>
                </a:lnTo>
                <a:lnTo>
                  <a:pt x="669660" y="19516"/>
                </a:lnTo>
                <a:lnTo>
                  <a:pt x="629243" y="5071"/>
                </a:lnTo>
                <a:lnTo>
                  <a:pt x="585216" y="0"/>
                </a:lnTo>
                <a:close/>
              </a:path>
            </a:pathLst>
          </a:custGeom>
          <a:solidFill>
            <a:srgbClr val="C00000"/>
          </a:solidFill>
        </p:spPr>
        <p:txBody>
          <a:bodyPr wrap="square" lIns="0" tIns="0" rIns="0" bIns="0" rtlCol="0"/>
          <a:lstStyle/>
          <a:p>
            <a:endParaRPr/>
          </a:p>
        </p:txBody>
      </p:sp>
      <p:sp>
        <p:nvSpPr>
          <p:cNvPr id="20" name="object 20"/>
          <p:cNvSpPr txBox="1"/>
          <p:nvPr/>
        </p:nvSpPr>
        <p:spPr>
          <a:xfrm>
            <a:off x="2066925" y="5712663"/>
            <a:ext cx="377190"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latin typeface="Calibri"/>
                <a:cs typeface="Calibri"/>
              </a:rPr>
              <a:t>DATA</a:t>
            </a:r>
            <a:endParaRPr sz="1100" b="1" dirty="0">
              <a:solidFill>
                <a:schemeClr val="bg1"/>
              </a:solidFill>
              <a:latin typeface="Calibri"/>
              <a:cs typeface="Calibri"/>
            </a:endParaRPr>
          </a:p>
        </p:txBody>
      </p:sp>
      <p:sp>
        <p:nvSpPr>
          <p:cNvPr id="21" name="object 21"/>
          <p:cNvSpPr txBox="1"/>
          <p:nvPr/>
        </p:nvSpPr>
        <p:spPr>
          <a:xfrm>
            <a:off x="2795777" y="5689803"/>
            <a:ext cx="186055"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6D6D6D"/>
                </a:solidFill>
                <a:latin typeface="Calibri"/>
                <a:cs typeface="Calibri"/>
              </a:rPr>
              <a:t>→</a:t>
            </a:r>
            <a:endParaRPr sz="1400">
              <a:latin typeface="Calibri"/>
              <a:cs typeface="Calibri"/>
            </a:endParaRPr>
          </a:p>
        </p:txBody>
      </p:sp>
      <p:sp>
        <p:nvSpPr>
          <p:cNvPr id="22" name="object 22"/>
          <p:cNvSpPr/>
          <p:nvPr/>
        </p:nvSpPr>
        <p:spPr>
          <a:xfrm>
            <a:off x="3018854" y="5633084"/>
            <a:ext cx="1282575" cy="384175"/>
          </a:xfrm>
          <a:custGeom>
            <a:avLst/>
            <a:gdLst/>
            <a:ahLst/>
            <a:cxnLst/>
            <a:rect l="l" t="t" r="r" b="b"/>
            <a:pathLst>
              <a:path w="1079500" h="384175">
                <a:moveTo>
                  <a:pt x="886968"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886968" y="384047"/>
                </a:lnTo>
                <a:lnTo>
                  <a:pt x="930995" y="378976"/>
                </a:lnTo>
                <a:lnTo>
                  <a:pt x="971412" y="364531"/>
                </a:lnTo>
                <a:lnTo>
                  <a:pt x="1007066" y="341864"/>
                </a:lnTo>
                <a:lnTo>
                  <a:pt x="1036804" y="312127"/>
                </a:lnTo>
                <a:lnTo>
                  <a:pt x="1059473" y="276473"/>
                </a:lnTo>
                <a:lnTo>
                  <a:pt x="1073920" y="236055"/>
                </a:lnTo>
                <a:lnTo>
                  <a:pt x="1078992" y="192023"/>
                </a:lnTo>
                <a:lnTo>
                  <a:pt x="1073920" y="147992"/>
                </a:lnTo>
                <a:lnTo>
                  <a:pt x="1059473" y="107574"/>
                </a:lnTo>
                <a:lnTo>
                  <a:pt x="1036804" y="71920"/>
                </a:lnTo>
                <a:lnTo>
                  <a:pt x="1007066" y="42183"/>
                </a:lnTo>
                <a:lnTo>
                  <a:pt x="971412" y="19516"/>
                </a:lnTo>
                <a:lnTo>
                  <a:pt x="930995" y="5071"/>
                </a:lnTo>
                <a:lnTo>
                  <a:pt x="886968" y="0"/>
                </a:lnTo>
                <a:close/>
              </a:path>
            </a:pathLst>
          </a:custGeom>
          <a:solidFill>
            <a:srgbClr val="C00000"/>
          </a:solidFill>
        </p:spPr>
        <p:txBody>
          <a:bodyPr wrap="square" lIns="0" tIns="0" rIns="0" bIns="0" rtlCol="0"/>
          <a:lstStyle/>
          <a:p>
            <a:endParaRPr dirty="0"/>
          </a:p>
        </p:txBody>
      </p:sp>
      <p:sp>
        <p:nvSpPr>
          <p:cNvPr id="23" name="object 23"/>
          <p:cNvSpPr txBox="1"/>
          <p:nvPr/>
        </p:nvSpPr>
        <p:spPr>
          <a:xfrm>
            <a:off x="3050157" y="5734120"/>
            <a:ext cx="1370586"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PREPROCESSING</a:t>
            </a:r>
            <a:endParaRPr sz="1100" b="1" dirty="0">
              <a:solidFill>
                <a:schemeClr val="bg1"/>
              </a:solidFill>
              <a:latin typeface="Calibri"/>
              <a:cs typeface="Calibri"/>
            </a:endParaRPr>
          </a:p>
        </p:txBody>
      </p:sp>
      <p:sp>
        <p:nvSpPr>
          <p:cNvPr id="24" name="object 24"/>
          <p:cNvSpPr txBox="1"/>
          <p:nvPr/>
        </p:nvSpPr>
        <p:spPr>
          <a:xfrm>
            <a:off x="4337178" y="5706107"/>
            <a:ext cx="186055"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6D6D6D"/>
                </a:solidFill>
                <a:latin typeface="Calibri"/>
                <a:cs typeface="Calibri"/>
              </a:rPr>
              <a:t>→</a:t>
            </a:r>
            <a:endParaRPr sz="1400" dirty="0">
              <a:latin typeface="Calibri"/>
              <a:cs typeface="Calibri"/>
            </a:endParaRPr>
          </a:p>
        </p:txBody>
      </p:sp>
      <p:sp>
        <p:nvSpPr>
          <p:cNvPr id="25" name="object 25"/>
          <p:cNvSpPr/>
          <p:nvPr/>
        </p:nvSpPr>
        <p:spPr>
          <a:xfrm>
            <a:off x="4575939" y="5633084"/>
            <a:ext cx="1434145" cy="384175"/>
          </a:xfrm>
          <a:custGeom>
            <a:avLst/>
            <a:gdLst/>
            <a:ahLst/>
            <a:cxnLst/>
            <a:rect l="l" t="t" r="r" b="b"/>
            <a:pathLst>
              <a:path w="676910" h="384175">
                <a:moveTo>
                  <a:pt x="484631" y="0"/>
                </a:moveTo>
                <a:lnTo>
                  <a:pt x="192023"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3" y="384047"/>
                </a:lnTo>
                <a:lnTo>
                  <a:pt x="484631" y="384047"/>
                </a:lnTo>
                <a:lnTo>
                  <a:pt x="528659" y="378976"/>
                </a:lnTo>
                <a:lnTo>
                  <a:pt x="569076" y="364531"/>
                </a:lnTo>
                <a:lnTo>
                  <a:pt x="604730" y="341864"/>
                </a:lnTo>
                <a:lnTo>
                  <a:pt x="634468" y="312127"/>
                </a:lnTo>
                <a:lnTo>
                  <a:pt x="657137" y="276473"/>
                </a:lnTo>
                <a:lnTo>
                  <a:pt x="671584" y="236055"/>
                </a:lnTo>
                <a:lnTo>
                  <a:pt x="676655" y="192023"/>
                </a:lnTo>
                <a:lnTo>
                  <a:pt x="671584" y="147992"/>
                </a:lnTo>
                <a:lnTo>
                  <a:pt x="657137" y="107574"/>
                </a:lnTo>
                <a:lnTo>
                  <a:pt x="634468" y="71920"/>
                </a:lnTo>
                <a:lnTo>
                  <a:pt x="604730" y="42183"/>
                </a:lnTo>
                <a:lnTo>
                  <a:pt x="569076" y="19516"/>
                </a:lnTo>
                <a:lnTo>
                  <a:pt x="528659" y="5071"/>
                </a:lnTo>
                <a:lnTo>
                  <a:pt x="484631" y="0"/>
                </a:lnTo>
                <a:close/>
              </a:path>
            </a:pathLst>
          </a:custGeom>
          <a:solidFill>
            <a:srgbClr val="C00000"/>
          </a:solidFill>
        </p:spPr>
        <p:txBody>
          <a:bodyPr wrap="square" lIns="0" tIns="0" rIns="0" bIns="0" rtlCol="0"/>
          <a:lstStyle/>
          <a:p>
            <a:endParaRPr/>
          </a:p>
        </p:txBody>
      </p:sp>
      <p:sp>
        <p:nvSpPr>
          <p:cNvPr id="26" name="object 26"/>
          <p:cNvSpPr txBox="1"/>
          <p:nvPr/>
        </p:nvSpPr>
        <p:spPr>
          <a:xfrm>
            <a:off x="4651949" y="5734120"/>
            <a:ext cx="1282127"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RANDOM FOREST</a:t>
            </a:r>
            <a:endParaRPr sz="1100" b="1" dirty="0">
              <a:solidFill>
                <a:schemeClr val="bg1"/>
              </a:solidFill>
              <a:latin typeface="Calibri"/>
              <a:cs typeface="Calibri"/>
            </a:endParaRPr>
          </a:p>
        </p:txBody>
      </p:sp>
      <p:sp>
        <p:nvSpPr>
          <p:cNvPr id="27" name="object 27"/>
          <p:cNvSpPr txBox="1"/>
          <p:nvPr/>
        </p:nvSpPr>
        <p:spPr>
          <a:xfrm>
            <a:off x="6071881" y="5689803"/>
            <a:ext cx="186055" cy="226985"/>
          </a:xfrm>
          <a:prstGeom prst="rect">
            <a:avLst/>
          </a:prstGeom>
        </p:spPr>
        <p:txBody>
          <a:bodyPr vert="horz" wrap="square" lIns="0" tIns="11430" rIns="0" bIns="0" rtlCol="0">
            <a:spAutoFit/>
          </a:bodyPr>
          <a:lstStyle/>
          <a:p>
            <a:pPr marL="12700">
              <a:lnSpc>
                <a:spcPct val="100000"/>
              </a:lnSpc>
              <a:spcBef>
                <a:spcPts val="90"/>
              </a:spcBef>
            </a:pPr>
            <a:r>
              <a:rPr lang="en-IN" sz="1400" b="1" spc="-50" dirty="0">
                <a:solidFill>
                  <a:srgbClr val="6D6D6D"/>
                </a:solidFill>
                <a:latin typeface="Calibri"/>
                <a:cs typeface="Calibri"/>
              </a:rPr>
              <a:t>→</a:t>
            </a:r>
            <a:endParaRPr lang="en-IN" sz="1400" dirty="0">
              <a:latin typeface="Calibri"/>
              <a:cs typeface="Calibri"/>
            </a:endParaRPr>
          </a:p>
        </p:txBody>
      </p:sp>
      <p:sp>
        <p:nvSpPr>
          <p:cNvPr id="28" name="object 28"/>
          <p:cNvSpPr/>
          <p:nvPr/>
        </p:nvSpPr>
        <p:spPr>
          <a:xfrm>
            <a:off x="6319733" y="5623559"/>
            <a:ext cx="1381125" cy="384175"/>
          </a:xfrm>
          <a:custGeom>
            <a:avLst/>
            <a:gdLst/>
            <a:ahLst/>
            <a:cxnLst/>
            <a:rect l="l" t="t" r="r" b="b"/>
            <a:pathLst>
              <a:path w="1381125" h="384175">
                <a:moveTo>
                  <a:pt x="1188720"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1188720" y="384047"/>
                </a:lnTo>
                <a:lnTo>
                  <a:pt x="1232747" y="378976"/>
                </a:lnTo>
                <a:lnTo>
                  <a:pt x="1273164" y="364531"/>
                </a:lnTo>
                <a:lnTo>
                  <a:pt x="1308818" y="341864"/>
                </a:lnTo>
                <a:lnTo>
                  <a:pt x="1338556" y="312127"/>
                </a:lnTo>
                <a:lnTo>
                  <a:pt x="1361225" y="276473"/>
                </a:lnTo>
                <a:lnTo>
                  <a:pt x="1375672" y="236055"/>
                </a:lnTo>
                <a:lnTo>
                  <a:pt x="1380743" y="192023"/>
                </a:lnTo>
                <a:lnTo>
                  <a:pt x="1375672" y="147992"/>
                </a:lnTo>
                <a:lnTo>
                  <a:pt x="1361225" y="107574"/>
                </a:lnTo>
                <a:lnTo>
                  <a:pt x="1338556" y="71920"/>
                </a:lnTo>
                <a:lnTo>
                  <a:pt x="1308818" y="42183"/>
                </a:lnTo>
                <a:lnTo>
                  <a:pt x="1273164" y="19516"/>
                </a:lnTo>
                <a:lnTo>
                  <a:pt x="1232747" y="5071"/>
                </a:lnTo>
                <a:lnTo>
                  <a:pt x="1188720" y="0"/>
                </a:lnTo>
                <a:close/>
              </a:path>
            </a:pathLst>
          </a:custGeom>
          <a:solidFill>
            <a:srgbClr val="C00000"/>
          </a:solidFill>
        </p:spPr>
        <p:txBody>
          <a:bodyPr wrap="square" lIns="0" tIns="0" rIns="0" bIns="0" rtlCol="0"/>
          <a:lstStyle/>
          <a:p>
            <a:endParaRPr sz="1100" b="1" dirty="0">
              <a:solidFill>
                <a:schemeClr val="bg1"/>
              </a:solidFill>
            </a:endParaRPr>
          </a:p>
        </p:txBody>
      </p:sp>
      <p:sp>
        <p:nvSpPr>
          <p:cNvPr id="30" name="object 30"/>
          <p:cNvSpPr txBox="1"/>
          <p:nvPr/>
        </p:nvSpPr>
        <p:spPr>
          <a:xfrm>
            <a:off x="7731338" y="5689803"/>
            <a:ext cx="186055"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6D6D6D"/>
                </a:solidFill>
                <a:latin typeface="Calibri"/>
                <a:cs typeface="Calibri"/>
              </a:rPr>
              <a:t>→</a:t>
            </a:r>
            <a:endParaRPr sz="1400" dirty="0">
              <a:latin typeface="Calibri"/>
              <a:cs typeface="Calibri"/>
            </a:endParaRPr>
          </a:p>
        </p:txBody>
      </p:sp>
      <p:sp>
        <p:nvSpPr>
          <p:cNvPr id="31" name="object 31"/>
          <p:cNvSpPr/>
          <p:nvPr/>
        </p:nvSpPr>
        <p:spPr>
          <a:xfrm>
            <a:off x="7983626" y="5623559"/>
            <a:ext cx="978535" cy="384175"/>
          </a:xfrm>
          <a:custGeom>
            <a:avLst/>
            <a:gdLst/>
            <a:ahLst/>
            <a:cxnLst/>
            <a:rect l="l" t="t" r="r" b="b"/>
            <a:pathLst>
              <a:path w="978534" h="384175">
                <a:moveTo>
                  <a:pt x="786384"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786384" y="384047"/>
                </a:lnTo>
                <a:lnTo>
                  <a:pt x="830411" y="378976"/>
                </a:lnTo>
                <a:lnTo>
                  <a:pt x="870828" y="364531"/>
                </a:lnTo>
                <a:lnTo>
                  <a:pt x="906482" y="341864"/>
                </a:lnTo>
                <a:lnTo>
                  <a:pt x="936220" y="312127"/>
                </a:lnTo>
                <a:lnTo>
                  <a:pt x="958889" y="276473"/>
                </a:lnTo>
                <a:lnTo>
                  <a:pt x="973336" y="236055"/>
                </a:lnTo>
                <a:lnTo>
                  <a:pt x="978408" y="192023"/>
                </a:lnTo>
                <a:lnTo>
                  <a:pt x="973336" y="147992"/>
                </a:lnTo>
                <a:lnTo>
                  <a:pt x="958889" y="107574"/>
                </a:lnTo>
                <a:lnTo>
                  <a:pt x="936220" y="71920"/>
                </a:lnTo>
                <a:lnTo>
                  <a:pt x="906482" y="42183"/>
                </a:lnTo>
                <a:lnTo>
                  <a:pt x="870828" y="19516"/>
                </a:lnTo>
                <a:lnTo>
                  <a:pt x="830411" y="5071"/>
                </a:lnTo>
                <a:lnTo>
                  <a:pt x="786384" y="0"/>
                </a:lnTo>
                <a:close/>
              </a:path>
            </a:pathLst>
          </a:custGeom>
          <a:solidFill>
            <a:srgbClr val="C00000"/>
          </a:solidFill>
        </p:spPr>
        <p:txBody>
          <a:bodyPr wrap="square" lIns="0" tIns="0" rIns="0" bIns="0" rtlCol="0"/>
          <a:lstStyle/>
          <a:p>
            <a:endParaRPr/>
          </a:p>
        </p:txBody>
      </p:sp>
      <p:sp>
        <p:nvSpPr>
          <p:cNvPr id="33" name="object 33"/>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4" name="object 34"/>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3</a:t>
            </a:fld>
            <a:endParaRPr spc="-25" dirty="0"/>
          </a:p>
        </p:txBody>
      </p:sp>
      <p:sp>
        <p:nvSpPr>
          <p:cNvPr id="35" name="TextBox 34">
            <a:extLst>
              <a:ext uri="{FF2B5EF4-FFF2-40B4-BE49-F238E27FC236}">
                <a16:creationId xmlns:a16="http://schemas.microsoft.com/office/drawing/2014/main" id="{9D07AECC-31D8-110D-3988-D57A6E66FE2B}"/>
              </a:ext>
            </a:extLst>
          </p:cNvPr>
          <p:cNvSpPr txBox="1"/>
          <p:nvPr/>
        </p:nvSpPr>
        <p:spPr>
          <a:xfrm>
            <a:off x="6568500" y="5680411"/>
            <a:ext cx="891712" cy="261610"/>
          </a:xfrm>
          <a:prstGeom prst="rect">
            <a:avLst/>
          </a:prstGeom>
          <a:noFill/>
        </p:spPr>
        <p:txBody>
          <a:bodyPr wrap="square" rtlCol="0">
            <a:spAutoFit/>
          </a:bodyPr>
          <a:lstStyle/>
          <a:p>
            <a:r>
              <a:rPr lang="en-IN" sz="1100" b="1" dirty="0">
                <a:solidFill>
                  <a:schemeClr val="bg1"/>
                </a:solidFill>
              </a:rPr>
              <a:t>XGBOOST</a:t>
            </a:r>
          </a:p>
        </p:txBody>
      </p:sp>
      <p:sp>
        <p:nvSpPr>
          <p:cNvPr id="36" name="TextBox 35">
            <a:extLst>
              <a:ext uri="{FF2B5EF4-FFF2-40B4-BE49-F238E27FC236}">
                <a16:creationId xmlns:a16="http://schemas.microsoft.com/office/drawing/2014/main" id="{BCB6FCA7-FA59-11E6-1462-713B09EB4164}"/>
              </a:ext>
            </a:extLst>
          </p:cNvPr>
          <p:cNvSpPr txBox="1"/>
          <p:nvPr/>
        </p:nvSpPr>
        <p:spPr>
          <a:xfrm>
            <a:off x="8195211" y="5694364"/>
            <a:ext cx="533400" cy="261610"/>
          </a:xfrm>
          <a:prstGeom prst="rect">
            <a:avLst/>
          </a:prstGeom>
          <a:noFill/>
        </p:spPr>
        <p:txBody>
          <a:bodyPr wrap="square" rtlCol="0">
            <a:spAutoFit/>
          </a:bodyPr>
          <a:lstStyle/>
          <a:p>
            <a:r>
              <a:rPr lang="en-IN" sz="1100" b="1" dirty="0">
                <a:solidFill>
                  <a:schemeClr val="bg1"/>
                </a:solidFill>
              </a:rPr>
              <a:t>SVR</a:t>
            </a:r>
          </a:p>
        </p:txBody>
      </p:sp>
      <p:sp>
        <p:nvSpPr>
          <p:cNvPr id="38" name="object 31">
            <a:extLst>
              <a:ext uri="{FF2B5EF4-FFF2-40B4-BE49-F238E27FC236}">
                <a16:creationId xmlns:a16="http://schemas.microsoft.com/office/drawing/2014/main" id="{3044E8CB-3100-59CC-98FD-68F7291934BC}"/>
              </a:ext>
            </a:extLst>
          </p:cNvPr>
          <p:cNvSpPr/>
          <p:nvPr/>
        </p:nvSpPr>
        <p:spPr>
          <a:xfrm>
            <a:off x="9272493" y="5633081"/>
            <a:ext cx="1658813" cy="384175"/>
          </a:xfrm>
          <a:custGeom>
            <a:avLst/>
            <a:gdLst/>
            <a:ahLst/>
            <a:cxnLst/>
            <a:rect l="l" t="t" r="r" b="b"/>
            <a:pathLst>
              <a:path w="978534" h="384175">
                <a:moveTo>
                  <a:pt x="786384"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786384" y="384047"/>
                </a:lnTo>
                <a:lnTo>
                  <a:pt x="830411" y="378976"/>
                </a:lnTo>
                <a:lnTo>
                  <a:pt x="870828" y="364531"/>
                </a:lnTo>
                <a:lnTo>
                  <a:pt x="906482" y="341864"/>
                </a:lnTo>
                <a:lnTo>
                  <a:pt x="936220" y="312127"/>
                </a:lnTo>
                <a:lnTo>
                  <a:pt x="958889" y="276473"/>
                </a:lnTo>
                <a:lnTo>
                  <a:pt x="973336" y="236055"/>
                </a:lnTo>
                <a:lnTo>
                  <a:pt x="978408" y="192023"/>
                </a:lnTo>
                <a:lnTo>
                  <a:pt x="973336" y="147992"/>
                </a:lnTo>
                <a:lnTo>
                  <a:pt x="958889" y="107574"/>
                </a:lnTo>
                <a:lnTo>
                  <a:pt x="936220" y="71920"/>
                </a:lnTo>
                <a:lnTo>
                  <a:pt x="906482" y="42183"/>
                </a:lnTo>
                <a:lnTo>
                  <a:pt x="870828" y="19516"/>
                </a:lnTo>
                <a:lnTo>
                  <a:pt x="830411" y="5071"/>
                </a:lnTo>
                <a:lnTo>
                  <a:pt x="786384" y="0"/>
                </a:lnTo>
                <a:close/>
              </a:path>
            </a:pathLst>
          </a:custGeom>
          <a:solidFill>
            <a:srgbClr val="C00000"/>
          </a:solidFill>
        </p:spPr>
        <p:txBody>
          <a:bodyPr wrap="square" lIns="0" tIns="0" rIns="0" bIns="0" rtlCol="0"/>
          <a:lstStyle/>
          <a:p>
            <a:endParaRPr dirty="0"/>
          </a:p>
        </p:txBody>
      </p:sp>
      <p:sp>
        <p:nvSpPr>
          <p:cNvPr id="44" name="TextBox 43">
            <a:extLst>
              <a:ext uri="{FF2B5EF4-FFF2-40B4-BE49-F238E27FC236}">
                <a16:creationId xmlns:a16="http://schemas.microsoft.com/office/drawing/2014/main" id="{5C0278DA-28EC-36B1-3A1A-38FA8238A95E}"/>
              </a:ext>
            </a:extLst>
          </p:cNvPr>
          <p:cNvSpPr txBox="1"/>
          <p:nvPr/>
        </p:nvSpPr>
        <p:spPr>
          <a:xfrm>
            <a:off x="8910128" y="5657325"/>
            <a:ext cx="263018" cy="307777"/>
          </a:xfrm>
          <a:prstGeom prst="rect">
            <a:avLst/>
          </a:prstGeom>
          <a:noFill/>
        </p:spPr>
        <p:txBody>
          <a:bodyPr wrap="square">
            <a:spAutoFit/>
          </a:bodyPr>
          <a:lstStyle/>
          <a:p>
            <a:pPr marL="12700">
              <a:lnSpc>
                <a:spcPct val="100000"/>
              </a:lnSpc>
              <a:spcBef>
                <a:spcPts val="90"/>
              </a:spcBef>
            </a:pPr>
            <a:r>
              <a:rPr lang="en-IN" sz="1400" b="1" spc="-50" dirty="0">
                <a:solidFill>
                  <a:srgbClr val="6D6D6D"/>
                </a:solidFill>
                <a:latin typeface="Calibri"/>
                <a:cs typeface="Calibri"/>
              </a:rPr>
              <a:t>→</a:t>
            </a:r>
            <a:endParaRPr lang="en-IN" sz="1400" dirty="0">
              <a:latin typeface="Calibri"/>
              <a:cs typeface="Calibri"/>
            </a:endParaRPr>
          </a:p>
        </p:txBody>
      </p:sp>
      <p:sp>
        <p:nvSpPr>
          <p:cNvPr id="45" name="TextBox 44">
            <a:extLst>
              <a:ext uri="{FF2B5EF4-FFF2-40B4-BE49-F238E27FC236}">
                <a16:creationId xmlns:a16="http://schemas.microsoft.com/office/drawing/2014/main" id="{F1D0FF43-CEF6-A3F6-C15C-7A63733D629C}"/>
              </a:ext>
            </a:extLst>
          </p:cNvPr>
          <p:cNvSpPr txBox="1"/>
          <p:nvPr/>
        </p:nvSpPr>
        <p:spPr>
          <a:xfrm>
            <a:off x="9375647" y="5694364"/>
            <a:ext cx="1558707" cy="261610"/>
          </a:xfrm>
          <a:prstGeom prst="rect">
            <a:avLst/>
          </a:prstGeom>
          <a:noFill/>
        </p:spPr>
        <p:txBody>
          <a:bodyPr wrap="square" rtlCol="0">
            <a:spAutoFit/>
          </a:bodyPr>
          <a:lstStyle/>
          <a:p>
            <a:r>
              <a:rPr lang="en-IN" sz="1100" b="1" dirty="0">
                <a:solidFill>
                  <a:schemeClr val="bg1"/>
                </a:solidFill>
              </a:rPr>
              <a:t>YIELD PREDICTION</a:t>
            </a:r>
            <a:endParaRPr lang="en-IN" sz="11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33721" y="341122"/>
            <a:ext cx="2927985" cy="361950"/>
          </a:xfrm>
          <a:prstGeom prst="rect">
            <a:avLst/>
          </a:prstGeom>
        </p:spPr>
        <p:txBody>
          <a:bodyPr vert="horz" wrap="square" lIns="0" tIns="13335" rIns="0" bIns="0" rtlCol="0">
            <a:spAutoFit/>
          </a:bodyPr>
          <a:lstStyle/>
          <a:p>
            <a:pPr marL="12700">
              <a:lnSpc>
                <a:spcPct val="100000"/>
              </a:lnSpc>
              <a:spcBef>
                <a:spcPts val="105"/>
              </a:spcBef>
            </a:pPr>
            <a:r>
              <a:rPr dirty="0"/>
              <a:t>REQUIREMENT</a:t>
            </a:r>
            <a:r>
              <a:rPr spc="-105" dirty="0"/>
              <a:t> </a:t>
            </a:r>
            <a:r>
              <a:rPr spc="-10" dirty="0"/>
              <a:t>ANALYSIS</a:t>
            </a:r>
          </a:p>
        </p:txBody>
      </p:sp>
      <p:sp>
        <p:nvSpPr>
          <p:cNvPr id="3" name="object 3"/>
          <p:cNvSpPr txBox="1"/>
          <p:nvPr/>
        </p:nvSpPr>
        <p:spPr>
          <a:xfrm>
            <a:off x="4569714" y="933449"/>
            <a:ext cx="3044825"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Core</a:t>
            </a:r>
            <a:r>
              <a:rPr sz="1150" i="1" spc="-15" dirty="0">
                <a:solidFill>
                  <a:srgbClr val="6D6D6D"/>
                </a:solidFill>
                <a:latin typeface="Calibri"/>
                <a:cs typeface="Calibri"/>
              </a:rPr>
              <a:t> </a:t>
            </a:r>
            <a:r>
              <a:rPr sz="1150" i="1" dirty="0">
                <a:solidFill>
                  <a:srgbClr val="6D6D6D"/>
                </a:solidFill>
                <a:latin typeface="Calibri"/>
                <a:cs typeface="Calibri"/>
              </a:rPr>
              <a:t>tools</a:t>
            </a:r>
            <a:r>
              <a:rPr sz="1150" i="1" spc="-25" dirty="0">
                <a:solidFill>
                  <a:srgbClr val="6D6D6D"/>
                </a:solidFill>
                <a:latin typeface="Calibri"/>
                <a:cs typeface="Calibri"/>
              </a:rPr>
              <a:t> </a:t>
            </a:r>
            <a:r>
              <a:rPr sz="1150" i="1" dirty="0">
                <a:solidFill>
                  <a:srgbClr val="6D6D6D"/>
                </a:solidFill>
                <a:latin typeface="Calibri"/>
                <a:cs typeface="Calibri"/>
              </a:rPr>
              <a:t>needed</a:t>
            </a:r>
            <a:r>
              <a:rPr sz="1150" i="1" spc="-50" dirty="0">
                <a:solidFill>
                  <a:srgbClr val="6D6D6D"/>
                </a:solidFill>
                <a:latin typeface="Calibri"/>
                <a:cs typeface="Calibri"/>
              </a:rPr>
              <a:t> </a:t>
            </a:r>
            <a:r>
              <a:rPr sz="1150" i="1" dirty="0">
                <a:solidFill>
                  <a:srgbClr val="6D6D6D"/>
                </a:solidFill>
                <a:latin typeface="Calibri"/>
                <a:cs typeface="Calibri"/>
              </a:rPr>
              <a:t>to</a:t>
            </a:r>
            <a:r>
              <a:rPr sz="1150" i="1" spc="-25" dirty="0">
                <a:solidFill>
                  <a:srgbClr val="6D6D6D"/>
                </a:solidFill>
                <a:latin typeface="Calibri"/>
                <a:cs typeface="Calibri"/>
              </a:rPr>
              <a:t> </a:t>
            </a:r>
            <a:r>
              <a:rPr sz="1150" i="1" dirty="0">
                <a:solidFill>
                  <a:srgbClr val="6D6D6D"/>
                </a:solidFill>
                <a:latin typeface="Calibri"/>
                <a:cs typeface="Calibri"/>
              </a:rPr>
              <a:t>execute</a:t>
            </a:r>
            <a:r>
              <a:rPr sz="1150" i="1" spc="-30" dirty="0">
                <a:solidFill>
                  <a:srgbClr val="6D6D6D"/>
                </a:solidFill>
                <a:latin typeface="Calibri"/>
                <a:cs typeface="Calibri"/>
              </a:rPr>
              <a:t> </a:t>
            </a:r>
            <a:r>
              <a:rPr sz="1150" i="1" dirty="0">
                <a:solidFill>
                  <a:srgbClr val="6D6D6D"/>
                </a:solidFill>
                <a:latin typeface="Calibri"/>
                <a:cs typeface="Calibri"/>
              </a:rPr>
              <a:t>the</a:t>
            </a:r>
            <a:r>
              <a:rPr sz="1150" i="1" spc="-10" dirty="0">
                <a:solidFill>
                  <a:srgbClr val="6D6D6D"/>
                </a:solidFill>
                <a:latin typeface="Calibri"/>
                <a:cs typeface="Calibri"/>
              </a:rPr>
              <a:t> </a:t>
            </a:r>
            <a:r>
              <a:rPr sz="1150" i="1" dirty="0">
                <a:solidFill>
                  <a:srgbClr val="6D6D6D"/>
                </a:solidFill>
                <a:latin typeface="Calibri"/>
                <a:cs typeface="Calibri"/>
              </a:rPr>
              <a:t>proposed</a:t>
            </a:r>
            <a:r>
              <a:rPr sz="1150" i="1" spc="-50" dirty="0">
                <a:solidFill>
                  <a:srgbClr val="6D6D6D"/>
                </a:solidFill>
                <a:latin typeface="Calibri"/>
                <a:cs typeface="Calibri"/>
              </a:rPr>
              <a:t> </a:t>
            </a:r>
            <a:r>
              <a:rPr sz="1150" i="1" spc="-10" dirty="0">
                <a:solidFill>
                  <a:srgbClr val="6D6D6D"/>
                </a:solidFill>
                <a:latin typeface="Calibri"/>
                <a:cs typeface="Calibri"/>
              </a:rPr>
              <a:t>pipeline</a:t>
            </a:r>
            <a:endParaRPr sz="1150">
              <a:latin typeface="Calibri"/>
              <a:cs typeface="Calibri"/>
            </a:endParaRPr>
          </a:p>
        </p:txBody>
      </p:sp>
      <p:grpSp>
        <p:nvGrpSpPr>
          <p:cNvPr id="4" name="object 4"/>
          <p:cNvGrpSpPr/>
          <p:nvPr/>
        </p:nvGrpSpPr>
        <p:grpSpPr>
          <a:xfrm>
            <a:off x="463295" y="1356385"/>
            <a:ext cx="11252835" cy="984250"/>
            <a:chOff x="463295" y="1356385"/>
            <a:chExt cx="11252835" cy="984250"/>
          </a:xfrm>
        </p:grpSpPr>
        <p:pic>
          <p:nvPicPr>
            <p:cNvPr id="5" name="object 5"/>
            <p:cNvPicPr/>
            <p:nvPr/>
          </p:nvPicPr>
          <p:blipFill>
            <a:blip r:embed="rId2" cstate="print"/>
            <a:stretch>
              <a:fillRect/>
            </a:stretch>
          </p:blipFill>
          <p:spPr>
            <a:xfrm>
              <a:off x="463295" y="1356385"/>
              <a:ext cx="11252835" cy="984097"/>
            </a:xfrm>
            <a:prstGeom prst="rect">
              <a:avLst/>
            </a:prstGeom>
          </p:spPr>
        </p:pic>
        <p:sp>
          <p:nvSpPr>
            <p:cNvPr id="6" name="object 6"/>
            <p:cNvSpPr/>
            <p:nvPr/>
          </p:nvSpPr>
          <p:spPr>
            <a:xfrm>
              <a:off x="548639" y="1417320"/>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59"/>
                  </a:lnTo>
                  <a:lnTo>
                    <a:pt x="11018519" y="822959"/>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7" name="object 7"/>
            <p:cNvSpPr/>
            <p:nvPr/>
          </p:nvSpPr>
          <p:spPr>
            <a:xfrm>
              <a:off x="548639" y="1417320"/>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59"/>
                  </a:lnTo>
                  <a:lnTo>
                    <a:pt x="73151" y="822959"/>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856284" y="1701164"/>
            <a:ext cx="810895" cy="226985"/>
          </a:xfrm>
          <a:prstGeom prst="rect">
            <a:avLst/>
          </a:prstGeom>
        </p:spPr>
        <p:txBody>
          <a:bodyPr vert="horz" wrap="square" lIns="0" tIns="11430" rIns="0" bIns="0" rtlCol="0">
            <a:spAutoFit/>
          </a:bodyPr>
          <a:lstStyle/>
          <a:p>
            <a:pPr marL="12700">
              <a:lnSpc>
                <a:spcPct val="100000"/>
              </a:lnSpc>
              <a:spcBef>
                <a:spcPts val="90"/>
              </a:spcBef>
            </a:pPr>
            <a:r>
              <a:rPr sz="1400" b="1" dirty="0">
                <a:solidFill>
                  <a:srgbClr val="C00000"/>
                </a:solidFill>
                <a:latin typeface="Calibri"/>
                <a:cs typeface="Calibri"/>
              </a:rPr>
              <a:t>Python</a:t>
            </a:r>
            <a:r>
              <a:rPr sz="1400" b="1" spc="-10" dirty="0">
                <a:solidFill>
                  <a:srgbClr val="C00000"/>
                </a:solidFill>
                <a:latin typeface="Calibri"/>
                <a:cs typeface="Calibri"/>
              </a:rPr>
              <a:t> </a:t>
            </a:r>
            <a:r>
              <a:rPr sz="1400" b="1" spc="-25" dirty="0">
                <a:solidFill>
                  <a:srgbClr val="C00000"/>
                </a:solidFill>
                <a:latin typeface="Calibri"/>
                <a:cs typeface="Calibri"/>
              </a:rPr>
              <a:t>3.x</a:t>
            </a:r>
            <a:endParaRPr sz="1400" dirty="0">
              <a:latin typeface="Calibri"/>
              <a:cs typeface="Calibri"/>
            </a:endParaRPr>
          </a:p>
        </p:txBody>
      </p:sp>
      <p:sp>
        <p:nvSpPr>
          <p:cNvPr id="9" name="object 9"/>
          <p:cNvSpPr txBox="1"/>
          <p:nvPr/>
        </p:nvSpPr>
        <p:spPr>
          <a:xfrm>
            <a:off x="4286250" y="1708785"/>
            <a:ext cx="6153150" cy="196849"/>
          </a:xfrm>
          <a:prstGeom prst="rect">
            <a:avLst/>
          </a:prstGeom>
        </p:spPr>
        <p:txBody>
          <a:bodyPr vert="horz" wrap="square" lIns="0" tIns="12065" rIns="0" bIns="0" rtlCol="0">
            <a:spAutoFit/>
          </a:bodyPr>
          <a:lstStyle/>
          <a:p>
            <a:pPr marL="12700">
              <a:lnSpc>
                <a:spcPct val="100000"/>
              </a:lnSpc>
              <a:spcBef>
                <a:spcPts val="95"/>
              </a:spcBef>
            </a:pPr>
            <a:r>
              <a:rPr lang="en-IN" sz="1200" dirty="0"/>
              <a:t>Programming language used for data preprocessing, model training, and prediction.</a:t>
            </a:r>
            <a:endParaRPr sz="1200" dirty="0">
              <a:latin typeface="Calibri"/>
              <a:cs typeface="Calibri"/>
            </a:endParaRPr>
          </a:p>
        </p:txBody>
      </p:sp>
      <p:grpSp>
        <p:nvGrpSpPr>
          <p:cNvPr id="10" name="object 10"/>
          <p:cNvGrpSpPr/>
          <p:nvPr/>
        </p:nvGrpSpPr>
        <p:grpSpPr>
          <a:xfrm>
            <a:off x="463295" y="2325649"/>
            <a:ext cx="11252835" cy="984250"/>
            <a:chOff x="463295" y="2325649"/>
            <a:chExt cx="11252835" cy="984250"/>
          </a:xfrm>
        </p:grpSpPr>
        <p:pic>
          <p:nvPicPr>
            <p:cNvPr id="11" name="object 11"/>
            <p:cNvPicPr/>
            <p:nvPr/>
          </p:nvPicPr>
          <p:blipFill>
            <a:blip r:embed="rId2" cstate="print"/>
            <a:stretch>
              <a:fillRect/>
            </a:stretch>
          </p:blipFill>
          <p:spPr>
            <a:xfrm>
              <a:off x="463295" y="2325649"/>
              <a:ext cx="11252835" cy="984097"/>
            </a:xfrm>
            <a:prstGeom prst="rect">
              <a:avLst/>
            </a:prstGeom>
          </p:spPr>
        </p:pic>
        <p:sp>
          <p:nvSpPr>
            <p:cNvPr id="12" name="object 12"/>
            <p:cNvSpPr/>
            <p:nvPr/>
          </p:nvSpPr>
          <p:spPr>
            <a:xfrm>
              <a:off x="548639" y="2386583"/>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60"/>
                  </a:lnTo>
                  <a:lnTo>
                    <a:pt x="11018519" y="822960"/>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13" name="object 13"/>
            <p:cNvSpPr/>
            <p:nvPr/>
          </p:nvSpPr>
          <p:spPr>
            <a:xfrm>
              <a:off x="548639" y="2386583"/>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60"/>
                  </a:lnTo>
                  <a:lnTo>
                    <a:pt x="73151" y="822960"/>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14" name="object 14"/>
          <p:cNvSpPr txBox="1"/>
          <p:nvPr/>
        </p:nvSpPr>
        <p:spPr>
          <a:xfrm>
            <a:off x="856284" y="2670505"/>
            <a:ext cx="1421765" cy="227626"/>
          </a:xfrm>
          <a:prstGeom prst="rect">
            <a:avLst/>
          </a:prstGeom>
        </p:spPr>
        <p:txBody>
          <a:bodyPr vert="horz" wrap="square" lIns="0" tIns="12065" rIns="0" bIns="0" rtlCol="0">
            <a:spAutoFit/>
          </a:bodyPr>
          <a:lstStyle/>
          <a:p>
            <a:pPr marL="12700">
              <a:lnSpc>
                <a:spcPct val="100000"/>
              </a:lnSpc>
              <a:spcBef>
                <a:spcPts val="95"/>
              </a:spcBef>
            </a:pPr>
            <a:r>
              <a:rPr lang="en-IN" sz="1400" b="1" dirty="0">
                <a:solidFill>
                  <a:srgbClr val="C00000"/>
                </a:solidFill>
              </a:rPr>
              <a:t>Pandas / NumPy</a:t>
            </a:r>
            <a:endParaRPr sz="1400" b="1" dirty="0">
              <a:solidFill>
                <a:srgbClr val="C00000"/>
              </a:solidFill>
              <a:latin typeface="Calibri"/>
              <a:cs typeface="Calibri"/>
            </a:endParaRPr>
          </a:p>
        </p:txBody>
      </p:sp>
      <p:sp>
        <p:nvSpPr>
          <p:cNvPr id="15" name="object 15"/>
          <p:cNvSpPr txBox="1"/>
          <p:nvPr/>
        </p:nvSpPr>
        <p:spPr>
          <a:xfrm>
            <a:off x="4286250" y="2678125"/>
            <a:ext cx="5695950" cy="181460"/>
          </a:xfrm>
          <a:prstGeom prst="rect">
            <a:avLst/>
          </a:prstGeom>
        </p:spPr>
        <p:txBody>
          <a:bodyPr vert="horz" wrap="square" lIns="0" tIns="12065" rIns="0" bIns="0" rtlCol="0">
            <a:spAutoFit/>
          </a:bodyPr>
          <a:lstStyle/>
          <a:p>
            <a:pPr marL="12700">
              <a:lnSpc>
                <a:spcPct val="100000"/>
              </a:lnSpc>
              <a:spcBef>
                <a:spcPts val="95"/>
              </a:spcBef>
            </a:pPr>
            <a:r>
              <a:rPr lang="en-IN" sz="1100" dirty="0"/>
              <a:t>Used for data handling, cleaning, numerical operations, and dataset preparation.</a:t>
            </a:r>
            <a:endParaRPr sz="1100" dirty="0">
              <a:latin typeface="Calibri"/>
              <a:cs typeface="Calibri"/>
            </a:endParaRPr>
          </a:p>
        </p:txBody>
      </p:sp>
      <p:grpSp>
        <p:nvGrpSpPr>
          <p:cNvPr id="16" name="object 16"/>
          <p:cNvGrpSpPr/>
          <p:nvPr/>
        </p:nvGrpSpPr>
        <p:grpSpPr>
          <a:xfrm>
            <a:off x="463295" y="3294913"/>
            <a:ext cx="11252835" cy="984250"/>
            <a:chOff x="463295" y="3294913"/>
            <a:chExt cx="11252835" cy="984250"/>
          </a:xfrm>
        </p:grpSpPr>
        <p:pic>
          <p:nvPicPr>
            <p:cNvPr id="17" name="object 17"/>
            <p:cNvPicPr/>
            <p:nvPr/>
          </p:nvPicPr>
          <p:blipFill>
            <a:blip r:embed="rId2" cstate="print"/>
            <a:stretch>
              <a:fillRect/>
            </a:stretch>
          </p:blipFill>
          <p:spPr>
            <a:xfrm>
              <a:off x="463295" y="3294913"/>
              <a:ext cx="11252835" cy="984097"/>
            </a:xfrm>
            <a:prstGeom prst="rect">
              <a:avLst/>
            </a:prstGeom>
          </p:spPr>
        </p:pic>
        <p:sp>
          <p:nvSpPr>
            <p:cNvPr id="18" name="object 18"/>
            <p:cNvSpPr/>
            <p:nvPr/>
          </p:nvSpPr>
          <p:spPr>
            <a:xfrm>
              <a:off x="548639" y="3355847"/>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59"/>
                  </a:lnTo>
                  <a:lnTo>
                    <a:pt x="11018519" y="822959"/>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19" name="object 19"/>
            <p:cNvSpPr/>
            <p:nvPr/>
          </p:nvSpPr>
          <p:spPr>
            <a:xfrm>
              <a:off x="548639" y="3355847"/>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59"/>
                  </a:lnTo>
                  <a:lnTo>
                    <a:pt x="73151" y="822959"/>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20" name="object 20"/>
          <p:cNvSpPr txBox="1"/>
          <p:nvPr/>
        </p:nvSpPr>
        <p:spPr>
          <a:xfrm>
            <a:off x="856284" y="3640582"/>
            <a:ext cx="1048716" cy="231140"/>
          </a:xfrm>
          <a:prstGeom prst="rect">
            <a:avLst/>
          </a:prstGeom>
        </p:spPr>
        <p:txBody>
          <a:bodyPr vert="horz" wrap="square" lIns="0" tIns="11430" rIns="0" bIns="0" rtlCol="0">
            <a:spAutoFit/>
          </a:bodyPr>
          <a:lstStyle/>
          <a:p>
            <a:pPr marL="12700">
              <a:lnSpc>
                <a:spcPct val="100000"/>
              </a:lnSpc>
              <a:spcBef>
                <a:spcPts val="90"/>
              </a:spcBef>
            </a:pPr>
            <a:r>
              <a:rPr sz="1400" b="1" spc="-20" dirty="0">
                <a:solidFill>
                  <a:srgbClr val="C00000"/>
                </a:solidFill>
                <a:latin typeface="Calibri"/>
                <a:cs typeface="Calibri"/>
              </a:rPr>
              <a:t>Scikit-learn</a:t>
            </a:r>
            <a:endParaRPr sz="1400" dirty="0">
              <a:latin typeface="Calibri"/>
              <a:cs typeface="Calibri"/>
            </a:endParaRPr>
          </a:p>
        </p:txBody>
      </p:sp>
      <p:sp>
        <p:nvSpPr>
          <p:cNvPr id="21" name="object 21"/>
          <p:cNvSpPr txBox="1"/>
          <p:nvPr/>
        </p:nvSpPr>
        <p:spPr>
          <a:xfrm>
            <a:off x="4286250" y="3648202"/>
            <a:ext cx="6915150" cy="181460"/>
          </a:xfrm>
          <a:prstGeom prst="rect">
            <a:avLst/>
          </a:prstGeom>
        </p:spPr>
        <p:txBody>
          <a:bodyPr vert="horz" wrap="square" lIns="0" tIns="12065" rIns="0" bIns="0" rtlCol="0">
            <a:spAutoFit/>
          </a:bodyPr>
          <a:lstStyle/>
          <a:p>
            <a:pPr marL="12700">
              <a:lnSpc>
                <a:spcPct val="100000"/>
              </a:lnSpc>
              <a:spcBef>
                <a:spcPts val="95"/>
              </a:spcBef>
            </a:pPr>
            <a:r>
              <a:rPr lang="en-IN" sz="1100" dirty="0"/>
              <a:t>Used for preprocessing, Support Vector Regression, model evaluation, and performance comparison.</a:t>
            </a:r>
            <a:endParaRPr sz="1100" dirty="0">
              <a:latin typeface="Calibri"/>
              <a:cs typeface="Calibri"/>
            </a:endParaRPr>
          </a:p>
        </p:txBody>
      </p:sp>
      <p:grpSp>
        <p:nvGrpSpPr>
          <p:cNvPr id="22" name="object 22"/>
          <p:cNvGrpSpPr/>
          <p:nvPr/>
        </p:nvGrpSpPr>
        <p:grpSpPr>
          <a:xfrm>
            <a:off x="463295" y="4264177"/>
            <a:ext cx="11252835" cy="984250"/>
            <a:chOff x="463295" y="4264177"/>
            <a:chExt cx="11252835" cy="984250"/>
          </a:xfrm>
        </p:grpSpPr>
        <p:pic>
          <p:nvPicPr>
            <p:cNvPr id="23" name="object 23"/>
            <p:cNvPicPr/>
            <p:nvPr/>
          </p:nvPicPr>
          <p:blipFill>
            <a:blip r:embed="rId2" cstate="print"/>
            <a:stretch>
              <a:fillRect/>
            </a:stretch>
          </p:blipFill>
          <p:spPr>
            <a:xfrm>
              <a:off x="463295" y="4264177"/>
              <a:ext cx="11252835" cy="984097"/>
            </a:xfrm>
            <a:prstGeom prst="rect">
              <a:avLst/>
            </a:prstGeom>
          </p:spPr>
        </p:pic>
        <p:sp>
          <p:nvSpPr>
            <p:cNvPr id="24" name="object 24"/>
            <p:cNvSpPr/>
            <p:nvPr/>
          </p:nvSpPr>
          <p:spPr>
            <a:xfrm>
              <a:off x="548639" y="4325111"/>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60"/>
                  </a:lnTo>
                  <a:lnTo>
                    <a:pt x="11018519" y="822960"/>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25" name="object 25"/>
            <p:cNvSpPr/>
            <p:nvPr/>
          </p:nvSpPr>
          <p:spPr>
            <a:xfrm>
              <a:off x="548639" y="4325111"/>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60"/>
                  </a:lnTo>
                  <a:lnTo>
                    <a:pt x="73151" y="822960"/>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26" name="object 26"/>
          <p:cNvSpPr txBox="1"/>
          <p:nvPr/>
        </p:nvSpPr>
        <p:spPr>
          <a:xfrm>
            <a:off x="856284" y="4609922"/>
            <a:ext cx="1810716" cy="227626"/>
          </a:xfrm>
          <a:prstGeom prst="rect">
            <a:avLst/>
          </a:prstGeom>
        </p:spPr>
        <p:txBody>
          <a:bodyPr vert="horz" wrap="square" lIns="0" tIns="12065" rIns="0" bIns="0" rtlCol="0">
            <a:spAutoFit/>
          </a:bodyPr>
          <a:lstStyle/>
          <a:p>
            <a:pPr marL="12700">
              <a:lnSpc>
                <a:spcPct val="100000"/>
              </a:lnSpc>
              <a:spcBef>
                <a:spcPts val="95"/>
              </a:spcBef>
            </a:pPr>
            <a:r>
              <a:rPr sz="1400" b="1" dirty="0">
                <a:solidFill>
                  <a:srgbClr val="C00000"/>
                </a:solidFill>
                <a:latin typeface="Calibri"/>
                <a:cs typeface="Calibri"/>
              </a:rPr>
              <a:t>Jupyter</a:t>
            </a:r>
            <a:r>
              <a:rPr sz="1400" b="1" spc="-20" dirty="0">
                <a:solidFill>
                  <a:srgbClr val="C00000"/>
                </a:solidFill>
                <a:latin typeface="Calibri"/>
                <a:cs typeface="Calibri"/>
              </a:rPr>
              <a:t> </a:t>
            </a:r>
            <a:r>
              <a:rPr sz="1400" b="1" dirty="0">
                <a:solidFill>
                  <a:srgbClr val="C00000"/>
                </a:solidFill>
                <a:latin typeface="Calibri"/>
                <a:cs typeface="Calibri"/>
              </a:rPr>
              <a:t>/</a:t>
            </a:r>
            <a:r>
              <a:rPr sz="1400" b="1" spc="-65" dirty="0">
                <a:solidFill>
                  <a:srgbClr val="C00000"/>
                </a:solidFill>
                <a:latin typeface="Calibri"/>
                <a:cs typeface="Calibri"/>
              </a:rPr>
              <a:t> </a:t>
            </a:r>
            <a:r>
              <a:rPr lang="en-IN" sz="1400" b="1" spc="-65" dirty="0">
                <a:solidFill>
                  <a:srgbClr val="C00000"/>
                </a:solidFill>
                <a:latin typeface="Calibri"/>
                <a:cs typeface="Calibri"/>
              </a:rPr>
              <a:t>Google </a:t>
            </a:r>
            <a:r>
              <a:rPr lang="en-IN" sz="1400" b="1" spc="-65" dirty="0" err="1">
                <a:solidFill>
                  <a:srgbClr val="C00000"/>
                </a:solidFill>
                <a:latin typeface="Calibri"/>
                <a:cs typeface="Calibri"/>
              </a:rPr>
              <a:t>Colab</a:t>
            </a:r>
            <a:endParaRPr sz="1400" dirty="0">
              <a:latin typeface="Calibri"/>
              <a:cs typeface="Calibri"/>
            </a:endParaRPr>
          </a:p>
        </p:txBody>
      </p:sp>
      <p:sp>
        <p:nvSpPr>
          <p:cNvPr id="27" name="object 27"/>
          <p:cNvSpPr txBox="1"/>
          <p:nvPr/>
        </p:nvSpPr>
        <p:spPr>
          <a:xfrm>
            <a:off x="4286250" y="4617847"/>
            <a:ext cx="4004945" cy="223520"/>
          </a:xfrm>
          <a:prstGeom prst="rect">
            <a:avLst/>
          </a:prstGeom>
        </p:spPr>
        <p:txBody>
          <a:bodyPr vert="horz" wrap="square" lIns="0" tIns="12065" rIns="0" bIns="0" rtlCol="0">
            <a:spAutoFit/>
          </a:bodyPr>
          <a:lstStyle/>
          <a:p>
            <a:pPr marL="12700">
              <a:lnSpc>
                <a:spcPct val="100000"/>
              </a:lnSpc>
              <a:spcBef>
                <a:spcPts val="95"/>
              </a:spcBef>
            </a:pPr>
            <a:r>
              <a:rPr sz="1300" spc="-10" dirty="0">
                <a:solidFill>
                  <a:srgbClr val="252525"/>
                </a:solidFill>
                <a:latin typeface="Calibri"/>
                <a:cs typeface="Calibri"/>
              </a:rPr>
              <a:t>Interactive</a:t>
            </a:r>
            <a:r>
              <a:rPr sz="1300" spc="-5" dirty="0">
                <a:solidFill>
                  <a:srgbClr val="252525"/>
                </a:solidFill>
                <a:latin typeface="Calibri"/>
                <a:cs typeface="Calibri"/>
              </a:rPr>
              <a:t> </a:t>
            </a:r>
            <a:r>
              <a:rPr sz="1300" spc="-10" dirty="0">
                <a:solidFill>
                  <a:srgbClr val="252525"/>
                </a:solidFill>
                <a:latin typeface="Calibri"/>
                <a:cs typeface="Calibri"/>
              </a:rPr>
              <a:t>development</a:t>
            </a:r>
            <a:r>
              <a:rPr sz="1300" spc="55" dirty="0">
                <a:solidFill>
                  <a:srgbClr val="252525"/>
                </a:solidFill>
                <a:latin typeface="Calibri"/>
                <a:cs typeface="Calibri"/>
              </a:rPr>
              <a:t> </a:t>
            </a:r>
            <a:r>
              <a:rPr sz="1300" dirty="0">
                <a:solidFill>
                  <a:srgbClr val="252525"/>
                </a:solidFill>
                <a:latin typeface="Calibri"/>
                <a:cs typeface="Calibri"/>
              </a:rPr>
              <a:t>and</a:t>
            </a:r>
            <a:r>
              <a:rPr sz="1300" spc="-30" dirty="0">
                <a:solidFill>
                  <a:srgbClr val="252525"/>
                </a:solidFill>
                <a:latin typeface="Calibri"/>
                <a:cs typeface="Calibri"/>
              </a:rPr>
              <a:t> </a:t>
            </a:r>
            <a:r>
              <a:rPr sz="1300" spc="-10" dirty="0">
                <a:solidFill>
                  <a:srgbClr val="252525"/>
                </a:solidFill>
                <a:latin typeface="Calibri"/>
                <a:cs typeface="Calibri"/>
              </a:rPr>
              <a:t>experimentation</a:t>
            </a:r>
            <a:r>
              <a:rPr sz="1300" spc="25" dirty="0">
                <a:solidFill>
                  <a:srgbClr val="252525"/>
                </a:solidFill>
                <a:latin typeface="Calibri"/>
                <a:cs typeface="Calibri"/>
              </a:rPr>
              <a:t> </a:t>
            </a:r>
            <a:r>
              <a:rPr sz="1300" spc="-10" dirty="0">
                <a:solidFill>
                  <a:srgbClr val="252525"/>
                </a:solidFill>
                <a:latin typeface="Calibri"/>
                <a:cs typeface="Calibri"/>
              </a:rPr>
              <a:t>environment</a:t>
            </a:r>
            <a:endParaRPr sz="1300">
              <a:latin typeface="Calibri"/>
              <a:cs typeface="Calibri"/>
            </a:endParaRPr>
          </a:p>
        </p:txBody>
      </p:sp>
      <p:grpSp>
        <p:nvGrpSpPr>
          <p:cNvPr id="28" name="object 28"/>
          <p:cNvGrpSpPr/>
          <p:nvPr/>
        </p:nvGrpSpPr>
        <p:grpSpPr>
          <a:xfrm>
            <a:off x="463295" y="5233415"/>
            <a:ext cx="11252835" cy="984250"/>
            <a:chOff x="463295" y="5233415"/>
            <a:chExt cx="11252835" cy="984250"/>
          </a:xfrm>
        </p:grpSpPr>
        <p:pic>
          <p:nvPicPr>
            <p:cNvPr id="29" name="object 29"/>
            <p:cNvPicPr/>
            <p:nvPr/>
          </p:nvPicPr>
          <p:blipFill>
            <a:blip r:embed="rId2" cstate="print"/>
            <a:stretch>
              <a:fillRect/>
            </a:stretch>
          </p:blipFill>
          <p:spPr>
            <a:xfrm>
              <a:off x="463295" y="5233415"/>
              <a:ext cx="11252835" cy="984097"/>
            </a:xfrm>
            <a:prstGeom prst="rect">
              <a:avLst/>
            </a:prstGeom>
          </p:spPr>
        </p:pic>
        <p:sp>
          <p:nvSpPr>
            <p:cNvPr id="30" name="object 30"/>
            <p:cNvSpPr/>
            <p:nvPr/>
          </p:nvSpPr>
          <p:spPr>
            <a:xfrm>
              <a:off x="548639" y="5294375"/>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2"/>
                  </a:lnTo>
                  <a:lnTo>
                    <a:pt x="0" y="749808"/>
                  </a:lnTo>
                  <a:lnTo>
                    <a:pt x="5748" y="778281"/>
                  </a:lnTo>
                  <a:lnTo>
                    <a:pt x="21426" y="801533"/>
                  </a:lnTo>
                  <a:lnTo>
                    <a:pt x="44678" y="817211"/>
                  </a:lnTo>
                  <a:lnTo>
                    <a:pt x="73151" y="822960"/>
                  </a:lnTo>
                  <a:lnTo>
                    <a:pt x="11018519" y="822960"/>
                  </a:lnTo>
                  <a:lnTo>
                    <a:pt x="11046987" y="817211"/>
                  </a:lnTo>
                  <a:lnTo>
                    <a:pt x="11070240" y="801533"/>
                  </a:lnTo>
                  <a:lnTo>
                    <a:pt x="11085921" y="778281"/>
                  </a:lnTo>
                  <a:lnTo>
                    <a:pt x="11091671" y="749808"/>
                  </a:lnTo>
                  <a:lnTo>
                    <a:pt x="11091671" y="73152"/>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31" name="object 31"/>
            <p:cNvSpPr/>
            <p:nvPr/>
          </p:nvSpPr>
          <p:spPr>
            <a:xfrm>
              <a:off x="548639" y="5294375"/>
              <a:ext cx="11092180" cy="822960"/>
            </a:xfrm>
            <a:custGeom>
              <a:avLst/>
              <a:gdLst/>
              <a:ahLst/>
              <a:cxnLst/>
              <a:rect l="l" t="t" r="r" b="b"/>
              <a:pathLst>
                <a:path w="11092180" h="822960">
                  <a:moveTo>
                    <a:pt x="0" y="73152"/>
                  </a:moveTo>
                  <a:lnTo>
                    <a:pt x="5748" y="44684"/>
                  </a:lnTo>
                  <a:lnTo>
                    <a:pt x="21426" y="21431"/>
                  </a:lnTo>
                  <a:lnTo>
                    <a:pt x="44678" y="5750"/>
                  </a:lnTo>
                  <a:lnTo>
                    <a:pt x="73151" y="0"/>
                  </a:lnTo>
                  <a:lnTo>
                    <a:pt x="11018519" y="0"/>
                  </a:lnTo>
                  <a:lnTo>
                    <a:pt x="11046987" y="5750"/>
                  </a:lnTo>
                  <a:lnTo>
                    <a:pt x="11070240" y="21431"/>
                  </a:lnTo>
                  <a:lnTo>
                    <a:pt x="11085921" y="44684"/>
                  </a:lnTo>
                  <a:lnTo>
                    <a:pt x="11091671" y="73152"/>
                  </a:lnTo>
                  <a:lnTo>
                    <a:pt x="11091671" y="749808"/>
                  </a:lnTo>
                  <a:lnTo>
                    <a:pt x="11085921" y="778281"/>
                  </a:lnTo>
                  <a:lnTo>
                    <a:pt x="11070240" y="801533"/>
                  </a:lnTo>
                  <a:lnTo>
                    <a:pt x="11046987" y="817211"/>
                  </a:lnTo>
                  <a:lnTo>
                    <a:pt x="11018519" y="822960"/>
                  </a:lnTo>
                  <a:lnTo>
                    <a:pt x="73151" y="822960"/>
                  </a:lnTo>
                  <a:lnTo>
                    <a:pt x="44678" y="817211"/>
                  </a:lnTo>
                  <a:lnTo>
                    <a:pt x="21426" y="801533"/>
                  </a:lnTo>
                  <a:lnTo>
                    <a:pt x="5748" y="778281"/>
                  </a:lnTo>
                  <a:lnTo>
                    <a:pt x="0" y="749808"/>
                  </a:lnTo>
                  <a:lnTo>
                    <a:pt x="0" y="73152"/>
                  </a:lnTo>
                  <a:close/>
                </a:path>
              </a:pathLst>
            </a:custGeom>
            <a:ln w="12192">
              <a:solidFill>
                <a:srgbClr val="DDD2C4"/>
              </a:solidFill>
            </a:ln>
          </p:spPr>
          <p:txBody>
            <a:bodyPr wrap="square" lIns="0" tIns="0" rIns="0" bIns="0" rtlCol="0"/>
            <a:lstStyle/>
            <a:p>
              <a:endParaRPr/>
            </a:p>
          </p:txBody>
        </p:sp>
      </p:grpSp>
      <p:sp>
        <p:nvSpPr>
          <p:cNvPr id="32" name="object 32"/>
          <p:cNvSpPr txBox="1"/>
          <p:nvPr/>
        </p:nvSpPr>
        <p:spPr>
          <a:xfrm>
            <a:off x="856284" y="5580075"/>
            <a:ext cx="2191716" cy="226985"/>
          </a:xfrm>
          <a:prstGeom prst="rect">
            <a:avLst/>
          </a:prstGeom>
        </p:spPr>
        <p:txBody>
          <a:bodyPr vert="horz" wrap="square" lIns="0" tIns="11430" rIns="0" bIns="0" rtlCol="0">
            <a:spAutoFit/>
          </a:bodyPr>
          <a:lstStyle/>
          <a:p>
            <a:pPr marL="12700">
              <a:lnSpc>
                <a:spcPct val="100000"/>
              </a:lnSpc>
              <a:spcBef>
                <a:spcPts val="90"/>
              </a:spcBef>
            </a:pPr>
            <a:r>
              <a:rPr lang="en-IN" sz="1400" b="1" dirty="0">
                <a:solidFill>
                  <a:srgbClr val="C00000"/>
                </a:solidFill>
              </a:rPr>
              <a:t>Bottom/extra requirement</a:t>
            </a:r>
            <a:endParaRPr sz="1400" b="1" dirty="0">
              <a:solidFill>
                <a:srgbClr val="C00000"/>
              </a:solidFill>
              <a:latin typeface="Calibri"/>
              <a:cs typeface="Calibri"/>
            </a:endParaRPr>
          </a:p>
        </p:txBody>
      </p:sp>
      <p:sp>
        <p:nvSpPr>
          <p:cNvPr id="34" name="object 3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4</a:t>
            </a:fld>
            <a:endParaRPr spc="-25" dirty="0"/>
          </a:p>
        </p:txBody>
      </p:sp>
      <p:sp>
        <p:nvSpPr>
          <p:cNvPr id="33" name="object 33"/>
          <p:cNvSpPr txBox="1"/>
          <p:nvPr/>
        </p:nvSpPr>
        <p:spPr>
          <a:xfrm>
            <a:off x="4286250" y="5587694"/>
            <a:ext cx="6153150" cy="181460"/>
          </a:xfrm>
          <a:prstGeom prst="rect">
            <a:avLst/>
          </a:prstGeom>
        </p:spPr>
        <p:txBody>
          <a:bodyPr vert="horz" wrap="square" lIns="0" tIns="12065" rIns="0" bIns="0" rtlCol="0">
            <a:spAutoFit/>
          </a:bodyPr>
          <a:lstStyle/>
          <a:p>
            <a:pPr marL="12700">
              <a:lnSpc>
                <a:spcPct val="100000"/>
              </a:lnSpc>
              <a:spcBef>
                <a:spcPts val="95"/>
              </a:spcBef>
            </a:pPr>
            <a:r>
              <a:rPr lang="en-IN" sz="1100" b="1" dirty="0"/>
              <a:t>Dataset</a:t>
            </a:r>
            <a:r>
              <a:rPr lang="en-IN" sz="1100" dirty="0"/>
              <a:t> → Crop Yield Prediction dataset containing agricultural and environmental factors.</a:t>
            </a:r>
            <a:endParaRPr sz="11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42240">
              <a:lnSpc>
                <a:spcPct val="100000"/>
              </a:lnSpc>
              <a:spcBef>
                <a:spcPts val="105"/>
              </a:spcBef>
            </a:pPr>
            <a:r>
              <a:rPr spc="-20" dirty="0"/>
              <a:t>LITERATURE</a:t>
            </a:r>
            <a:r>
              <a:rPr spc="-80" dirty="0"/>
              <a:t> </a:t>
            </a:r>
            <a:r>
              <a:rPr dirty="0"/>
              <a:t>REVIEW</a:t>
            </a:r>
            <a:r>
              <a:rPr spc="-45" dirty="0"/>
              <a:t> </a:t>
            </a:r>
            <a:r>
              <a:rPr dirty="0"/>
              <a:t>•</a:t>
            </a:r>
            <a:r>
              <a:rPr spc="-35" dirty="0"/>
              <a:t> </a:t>
            </a:r>
            <a:r>
              <a:rPr spc="-20" dirty="0"/>
              <a:t>PART</a:t>
            </a:r>
            <a:r>
              <a:rPr spc="-30" dirty="0"/>
              <a:t> </a:t>
            </a:r>
            <a:r>
              <a:rPr spc="-50" dirty="0"/>
              <a:t>1</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5</a:t>
            </a:fld>
            <a:endParaRPr spc="-25" dirty="0"/>
          </a:p>
        </p:txBody>
      </p:sp>
      <p:sp>
        <p:nvSpPr>
          <p:cNvPr id="3" name="object 3"/>
          <p:cNvSpPr txBox="1"/>
          <p:nvPr/>
        </p:nvSpPr>
        <p:spPr>
          <a:xfrm>
            <a:off x="5755640" y="933449"/>
            <a:ext cx="68199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Papers</a:t>
            </a:r>
            <a:r>
              <a:rPr sz="1150" i="1" spc="-35" dirty="0">
                <a:solidFill>
                  <a:srgbClr val="6D6D6D"/>
                </a:solidFill>
                <a:latin typeface="Calibri"/>
                <a:cs typeface="Calibri"/>
              </a:rPr>
              <a:t> </a:t>
            </a:r>
            <a:r>
              <a:rPr sz="1150" i="1" spc="-10" dirty="0">
                <a:solidFill>
                  <a:srgbClr val="6D6D6D"/>
                </a:solidFill>
                <a:latin typeface="Calibri"/>
                <a:cs typeface="Calibri"/>
              </a:rPr>
              <a:t>1–</a:t>
            </a:r>
            <a:r>
              <a:rPr sz="1150" i="1" spc="-50" dirty="0">
                <a:solidFill>
                  <a:srgbClr val="6D6D6D"/>
                </a:solidFill>
                <a:latin typeface="Calibri"/>
                <a:cs typeface="Calibri"/>
              </a:rPr>
              <a:t>5</a:t>
            </a:r>
            <a:endParaRPr sz="115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1521557865"/>
              </p:ext>
            </p:extLst>
          </p:nvPr>
        </p:nvGraphicFramePr>
        <p:xfrm>
          <a:off x="362584" y="1295272"/>
          <a:ext cx="11457304" cy="5074280"/>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845185">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025">
                        <a:lnSpc>
                          <a:spcPct val="100000"/>
                        </a:lnSpc>
                      </a:pPr>
                      <a:r>
                        <a:rPr sz="1000" b="1" dirty="0">
                          <a:solidFill>
                            <a:srgbClr val="FFFFFF"/>
                          </a:solidFill>
                          <a:latin typeface="Calibri"/>
                          <a:cs typeface="Calibri"/>
                        </a:rPr>
                        <a:t>Paper</a:t>
                      </a:r>
                      <a:r>
                        <a:rPr sz="1000" b="1" spc="-30" dirty="0">
                          <a:solidFill>
                            <a:srgbClr val="FFFFFF"/>
                          </a:solidFill>
                          <a:latin typeface="Calibri"/>
                          <a:cs typeface="Calibri"/>
                        </a:rPr>
                        <a:t> </a:t>
                      </a:r>
                      <a:r>
                        <a:rPr sz="1000" b="1" dirty="0">
                          <a:solidFill>
                            <a:srgbClr val="FFFFFF"/>
                          </a:solidFill>
                          <a:latin typeface="Calibri"/>
                          <a:cs typeface="Calibri"/>
                        </a:rPr>
                        <a:t>/ </a:t>
                      </a:r>
                      <a:r>
                        <a:rPr sz="1000" b="1" spc="-20" dirty="0">
                          <a:solidFill>
                            <a:srgbClr val="FFFFFF"/>
                          </a:solidFill>
                          <a:latin typeface="Calibri"/>
                          <a:cs typeface="Calibri"/>
                        </a:rPr>
                        <a:t>Year</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660">
                        <a:lnSpc>
                          <a:spcPct val="100000"/>
                        </a:lnSpc>
                      </a:pPr>
                      <a:r>
                        <a:rPr sz="1000" b="1" spc="-10" dirty="0">
                          <a:solidFill>
                            <a:srgbClr val="FFFFFF"/>
                          </a:solidFill>
                          <a:latin typeface="Calibri"/>
                          <a:cs typeface="Calibri"/>
                        </a:rPr>
                        <a:t>Dataset</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295">
                        <a:lnSpc>
                          <a:spcPct val="100000"/>
                        </a:lnSpc>
                      </a:pPr>
                      <a:r>
                        <a:rPr sz="1000" b="1" spc="-10" dirty="0">
                          <a:solidFill>
                            <a:srgbClr val="FFFFFF"/>
                          </a:solidFill>
                          <a:latin typeface="Calibri"/>
                          <a:cs typeface="Calibri"/>
                        </a:rPr>
                        <a:t>Methodology</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930">
                        <a:lnSpc>
                          <a:spcPct val="100000"/>
                        </a:lnSpc>
                      </a:pPr>
                      <a:r>
                        <a:rPr sz="1000" b="1" spc="-10" dirty="0">
                          <a:solidFill>
                            <a:srgbClr val="FFFFFF"/>
                          </a:solidFill>
                          <a:latin typeface="Calibri"/>
                          <a:cs typeface="Calibri"/>
                        </a:rPr>
                        <a:t>Limitation</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845819">
                <a:tc>
                  <a:txBody>
                    <a:bodyPr/>
                    <a:lstStyle/>
                    <a:p>
                      <a:pPr marL="73025">
                        <a:lnSpc>
                          <a:spcPct val="100000"/>
                        </a:lnSpc>
                        <a:spcBef>
                          <a:spcPts val="380"/>
                        </a:spcBef>
                      </a:pPr>
                      <a:r>
                        <a:rPr lang="en-IN" sz="800" b="1" dirty="0"/>
                        <a:t>1. Maya Gopal &amp; Bhargavi • 2019</a:t>
                      </a:r>
                      <a:br>
                        <a:rPr lang="en-IN" sz="800" dirty="0"/>
                      </a:br>
                      <a:r>
                        <a:rPr lang="en-IN" sz="800" i="1" dirty="0"/>
                        <a:t>A Novel Approach for Efficient Crop Yield Prediction</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80"/>
                        </a:spcBef>
                      </a:pPr>
                      <a:r>
                        <a:rPr lang="en-IN" sz="800" dirty="0"/>
                        <a:t>30 years of paddy crop data from districts of Tamil Nadu</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80"/>
                        </a:spcBef>
                      </a:pPr>
                      <a:r>
                        <a:rPr lang="en-IN" sz="800" dirty="0"/>
                        <a:t>Hybrid </a:t>
                      </a:r>
                      <a:r>
                        <a:rPr lang="en-IN" sz="800" b="1" dirty="0"/>
                        <a:t>MLR-ANN</a:t>
                      </a:r>
                      <a:r>
                        <a:rPr lang="en-IN" sz="800" dirty="0"/>
                        <a:t>, compared with SVR, KNN and RF</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nSpc>
                          <a:spcPct val="100000"/>
                        </a:lnSpc>
                        <a:spcBef>
                          <a:spcPts val="380"/>
                        </a:spcBef>
                      </a:pPr>
                      <a:r>
                        <a:rPr lang="en-IN" sz="800" dirty="0"/>
                        <a:t>Mainly focused on paddy and Tamil Nadu; hybrid model is more complex</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845819">
                <a:tc>
                  <a:txBody>
                    <a:bodyPr/>
                    <a:lstStyle/>
                    <a:p>
                      <a:pPr marL="73025">
                        <a:lnSpc>
                          <a:spcPct val="100000"/>
                        </a:lnSpc>
                        <a:spcBef>
                          <a:spcPts val="385"/>
                        </a:spcBef>
                      </a:pPr>
                      <a:r>
                        <a:rPr lang="en-IN" sz="800" b="1" dirty="0"/>
                        <a:t>2. Khosla et al. • 2020</a:t>
                      </a:r>
                      <a:br>
                        <a:rPr lang="en-IN" sz="800" dirty="0"/>
                      </a:br>
                      <a:r>
                        <a:rPr lang="en-IN" sz="800" i="1" dirty="0"/>
                        <a:t>Crop Yield Prediction Using Aggregated Rainfall-Based MANN and SVR</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85"/>
                        </a:spcBef>
                      </a:pPr>
                      <a:r>
                        <a:rPr lang="en-IN" sz="800" dirty="0"/>
                        <a:t>Kharif crops in Visakhapatnam, Andhra Pradesh; rainfall and crop-area data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254000">
                        <a:lnSpc>
                          <a:spcPct val="100000"/>
                        </a:lnSpc>
                        <a:spcBef>
                          <a:spcPts val="385"/>
                        </a:spcBef>
                      </a:pPr>
                      <a:r>
                        <a:rPr lang="en-IN" sz="800" b="1" dirty="0"/>
                        <a:t>MANN</a:t>
                      </a:r>
                      <a:r>
                        <a:rPr lang="en-IN" sz="800" dirty="0"/>
                        <a:t> for rainfall prediction + </a:t>
                      </a:r>
                      <a:r>
                        <a:rPr lang="en-IN" sz="800" b="1" dirty="0"/>
                        <a:t>SVR</a:t>
                      </a:r>
                      <a:r>
                        <a:rPr lang="en-IN" sz="800" dirty="0"/>
                        <a:t> for crop-yield prediction</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659765">
                        <a:lnSpc>
                          <a:spcPct val="100000"/>
                        </a:lnSpc>
                        <a:spcBef>
                          <a:spcPts val="385"/>
                        </a:spcBef>
                      </a:pPr>
                      <a:r>
                        <a:rPr lang="en-IN" sz="800" dirty="0"/>
                        <a:t>Limited to one district and strongly dependent on rainfall and area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845819">
                <a:tc>
                  <a:txBody>
                    <a:bodyPr/>
                    <a:lstStyle/>
                    <a:p>
                      <a:pPr marL="73025" marR="201295">
                        <a:lnSpc>
                          <a:spcPct val="100000"/>
                        </a:lnSpc>
                        <a:spcBef>
                          <a:spcPts val="390"/>
                        </a:spcBef>
                      </a:pPr>
                      <a:r>
                        <a:rPr lang="en-IN" sz="800" b="1" dirty="0"/>
                        <a:t>3. Kumar et al. • 2020</a:t>
                      </a:r>
                      <a:br>
                        <a:rPr lang="en-IN" sz="800" dirty="0"/>
                      </a:br>
                      <a:r>
                        <a:rPr lang="en-IN" sz="800" i="1" dirty="0"/>
                        <a:t>Supervised Machine Learning Approach for Crop Yield Prediction in Agriculture Sector</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0"/>
                        </a:spcBef>
                      </a:pPr>
                      <a:r>
                        <a:rPr lang="en-IN" sz="800" dirty="0"/>
                        <a:t>Indian agricultural/crop-yield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104775">
                        <a:lnSpc>
                          <a:spcPct val="100000"/>
                        </a:lnSpc>
                        <a:spcBef>
                          <a:spcPts val="390"/>
                        </a:spcBef>
                      </a:pPr>
                      <a:r>
                        <a:rPr lang="en-IN" sz="800" b="1" dirty="0"/>
                        <a:t>Supervised Machine Learning</a:t>
                      </a:r>
                      <a:r>
                        <a:rPr lang="en-IN" sz="800" dirty="0"/>
                        <a:t> for crop-yield prediction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13030" algn="just">
                        <a:lnSpc>
                          <a:spcPct val="100000"/>
                        </a:lnSpc>
                        <a:spcBef>
                          <a:spcPts val="390"/>
                        </a:spcBef>
                      </a:pPr>
                      <a:r>
                        <a:rPr lang="en-IN" sz="800" dirty="0"/>
                        <a:t>Does not provide the same three-model comparison as our project</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845819">
                <a:tc>
                  <a:txBody>
                    <a:bodyPr/>
                    <a:lstStyle/>
                    <a:p>
                      <a:pPr marL="73025">
                        <a:lnSpc>
                          <a:spcPct val="100000"/>
                        </a:lnSpc>
                        <a:spcBef>
                          <a:spcPts val="390"/>
                        </a:spcBef>
                      </a:pPr>
                      <a:r>
                        <a:rPr lang="en-IN" sz="800" dirty="0"/>
                        <a:t>4. Nishant et al. • 2022</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90"/>
                        </a:spcBef>
                      </a:pPr>
                      <a:r>
                        <a:rPr lang="en-IN" sz="800" dirty="0"/>
                        <a:t>Indian crop data using state, district, season, area and related features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nSpc>
                          <a:spcPct val="100000"/>
                        </a:lnSpc>
                        <a:spcBef>
                          <a:spcPts val="390"/>
                        </a:spcBef>
                      </a:pPr>
                      <a:r>
                        <a:rPr lang="en-IN" sz="800" dirty="0"/>
                        <a:t>Kernel Ridge, Lasso, Elastic Net and Stacking Regression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238125">
                        <a:lnSpc>
                          <a:spcPct val="100000"/>
                        </a:lnSpc>
                        <a:spcBef>
                          <a:spcPts val="390"/>
                        </a:spcBef>
                      </a:pPr>
                      <a:r>
                        <a:rPr lang="en-IN" sz="800" dirty="0"/>
                        <a:t>Does not focus on RF/XGBoost/SVR comparison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845819">
                <a:tc>
                  <a:txBody>
                    <a:bodyPr/>
                    <a:lstStyle/>
                    <a:p>
                      <a:pPr marL="73025" marR="274320">
                        <a:lnSpc>
                          <a:spcPct val="100000"/>
                        </a:lnSpc>
                        <a:spcBef>
                          <a:spcPts val="395"/>
                        </a:spcBef>
                      </a:pPr>
                      <a:r>
                        <a:rPr sz="800" dirty="0">
                          <a:solidFill>
                            <a:srgbClr val="252525"/>
                          </a:solidFill>
                          <a:latin typeface="Calibri"/>
                          <a:cs typeface="Calibri"/>
                        </a:rPr>
                        <a:t>5</a:t>
                      </a:r>
                      <a:r>
                        <a:rPr lang="en-IN" sz="800" b="1" dirty="0"/>
                        <a:t>5. Elavarasan &amp; Vincent • 2021</a:t>
                      </a:r>
                      <a:br>
                        <a:rPr lang="en-IN" sz="800" dirty="0"/>
                      </a:br>
                      <a:r>
                        <a:rPr lang="en-IN" sz="800" i="1" dirty="0"/>
                        <a:t>A Reinforced Random Forest Model for Enhanced Crop Yield Prediction</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5"/>
                        </a:spcBef>
                      </a:pPr>
                      <a:r>
                        <a:rPr lang="en-IN" sz="800" dirty="0"/>
                        <a:t>Agrarian climate, soil and water parameters</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126364">
                        <a:lnSpc>
                          <a:spcPct val="100000"/>
                        </a:lnSpc>
                        <a:spcBef>
                          <a:spcPts val="395"/>
                        </a:spcBef>
                      </a:pPr>
                      <a:r>
                        <a:rPr lang="en-IN" sz="800" b="1" dirty="0"/>
                        <a:t>Reinforced Random Forest</a:t>
                      </a:r>
                      <a:r>
                        <a:rPr lang="en-IN" sz="800" dirty="0"/>
                        <a:t>, compared with RF, DT, Gradient Boosting, ANN and Deep Q-learning</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36854">
                        <a:lnSpc>
                          <a:spcPct val="100000"/>
                        </a:lnSpc>
                        <a:spcBef>
                          <a:spcPts val="395"/>
                        </a:spcBef>
                      </a:pPr>
                      <a:r>
                        <a:rPr lang="en-IN" sz="800" dirty="0"/>
                        <a:t>Framework is more complex than a basic model-comparison approach</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42240">
              <a:lnSpc>
                <a:spcPct val="100000"/>
              </a:lnSpc>
              <a:spcBef>
                <a:spcPts val="105"/>
              </a:spcBef>
            </a:pPr>
            <a:r>
              <a:rPr spc="-20" dirty="0"/>
              <a:t>LITERATURE</a:t>
            </a:r>
            <a:r>
              <a:rPr spc="-80" dirty="0"/>
              <a:t> </a:t>
            </a:r>
            <a:r>
              <a:rPr dirty="0"/>
              <a:t>REVIEW</a:t>
            </a:r>
            <a:r>
              <a:rPr spc="-45" dirty="0"/>
              <a:t> </a:t>
            </a:r>
            <a:r>
              <a:rPr dirty="0"/>
              <a:t>•</a:t>
            </a:r>
            <a:r>
              <a:rPr spc="-35" dirty="0"/>
              <a:t> </a:t>
            </a:r>
            <a:r>
              <a:rPr spc="-20" dirty="0"/>
              <a:t>PART</a:t>
            </a:r>
            <a:r>
              <a:rPr spc="-30" dirty="0"/>
              <a:t> </a:t>
            </a:r>
            <a:r>
              <a:rPr spc="-50" dirty="0"/>
              <a:t>2</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6</a:t>
            </a:fld>
            <a:endParaRPr spc="-25" dirty="0"/>
          </a:p>
        </p:txBody>
      </p:sp>
      <p:sp>
        <p:nvSpPr>
          <p:cNvPr id="3" name="object 3"/>
          <p:cNvSpPr txBox="1"/>
          <p:nvPr/>
        </p:nvSpPr>
        <p:spPr>
          <a:xfrm>
            <a:off x="5719064" y="933449"/>
            <a:ext cx="75438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Papers</a:t>
            </a:r>
            <a:r>
              <a:rPr sz="1150" i="1" spc="-35" dirty="0">
                <a:solidFill>
                  <a:srgbClr val="6D6D6D"/>
                </a:solidFill>
                <a:latin typeface="Calibri"/>
                <a:cs typeface="Calibri"/>
              </a:rPr>
              <a:t> </a:t>
            </a:r>
            <a:r>
              <a:rPr sz="1150" i="1" spc="-10" dirty="0">
                <a:solidFill>
                  <a:srgbClr val="6D6D6D"/>
                </a:solidFill>
                <a:latin typeface="Calibri"/>
                <a:cs typeface="Calibri"/>
              </a:rPr>
              <a:t>6–</a:t>
            </a:r>
            <a:r>
              <a:rPr sz="1150" i="1" spc="-25" dirty="0">
                <a:solidFill>
                  <a:srgbClr val="6D6D6D"/>
                </a:solidFill>
                <a:latin typeface="Calibri"/>
                <a:cs typeface="Calibri"/>
              </a:rPr>
              <a:t>10</a:t>
            </a:r>
            <a:endParaRPr sz="115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302597882"/>
              </p:ext>
            </p:extLst>
          </p:nvPr>
        </p:nvGraphicFramePr>
        <p:xfrm>
          <a:off x="362584" y="1295272"/>
          <a:ext cx="11457304" cy="5074280"/>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845185">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025">
                        <a:lnSpc>
                          <a:spcPct val="100000"/>
                        </a:lnSpc>
                      </a:pPr>
                      <a:r>
                        <a:rPr sz="1000" b="1" dirty="0">
                          <a:solidFill>
                            <a:srgbClr val="FFFFFF"/>
                          </a:solidFill>
                          <a:latin typeface="Calibri"/>
                          <a:cs typeface="Calibri"/>
                        </a:rPr>
                        <a:t>Paper</a:t>
                      </a:r>
                      <a:r>
                        <a:rPr sz="1000" b="1" spc="-30" dirty="0">
                          <a:solidFill>
                            <a:srgbClr val="FFFFFF"/>
                          </a:solidFill>
                          <a:latin typeface="Calibri"/>
                          <a:cs typeface="Calibri"/>
                        </a:rPr>
                        <a:t> </a:t>
                      </a:r>
                      <a:r>
                        <a:rPr sz="1000" b="1" dirty="0">
                          <a:solidFill>
                            <a:srgbClr val="FFFFFF"/>
                          </a:solidFill>
                          <a:latin typeface="Calibri"/>
                          <a:cs typeface="Calibri"/>
                        </a:rPr>
                        <a:t>/ </a:t>
                      </a:r>
                      <a:r>
                        <a:rPr sz="1000" b="1" spc="-20" dirty="0">
                          <a:solidFill>
                            <a:srgbClr val="FFFFFF"/>
                          </a:solidFill>
                          <a:latin typeface="Calibri"/>
                          <a:cs typeface="Calibri"/>
                        </a:rPr>
                        <a:t>Year</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660">
                        <a:lnSpc>
                          <a:spcPct val="100000"/>
                        </a:lnSpc>
                      </a:pPr>
                      <a:r>
                        <a:rPr sz="1000" b="1" spc="-10" dirty="0">
                          <a:solidFill>
                            <a:srgbClr val="FFFFFF"/>
                          </a:solidFill>
                          <a:latin typeface="Calibri"/>
                          <a:cs typeface="Calibri"/>
                        </a:rPr>
                        <a:t>Dataset</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295">
                        <a:lnSpc>
                          <a:spcPct val="100000"/>
                        </a:lnSpc>
                      </a:pPr>
                      <a:r>
                        <a:rPr sz="1000" b="1" spc="-10" dirty="0">
                          <a:solidFill>
                            <a:srgbClr val="FFFFFF"/>
                          </a:solidFill>
                          <a:latin typeface="Calibri"/>
                          <a:cs typeface="Calibri"/>
                        </a:rPr>
                        <a:t>Methodology</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930">
                        <a:lnSpc>
                          <a:spcPct val="100000"/>
                        </a:lnSpc>
                      </a:pPr>
                      <a:r>
                        <a:rPr sz="1000" b="1" spc="-10" dirty="0">
                          <a:solidFill>
                            <a:srgbClr val="FFFFFF"/>
                          </a:solidFill>
                          <a:latin typeface="Calibri"/>
                          <a:cs typeface="Calibri"/>
                        </a:rPr>
                        <a:t>Limitation</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845819">
                <a:tc>
                  <a:txBody>
                    <a:bodyPr/>
                    <a:lstStyle/>
                    <a:p>
                      <a:pPr marL="73025" marR="150495">
                        <a:lnSpc>
                          <a:spcPct val="100000"/>
                        </a:lnSpc>
                        <a:spcBef>
                          <a:spcPts val="380"/>
                        </a:spcBef>
                      </a:pPr>
                      <a:r>
                        <a:rPr lang="en-IN" sz="800" b="1" dirty="0"/>
                        <a:t>6. N. R. Prasad et al. • 2021</a:t>
                      </a:r>
                      <a:br>
                        <a:rPr lang="en-IN" sz="800" dirty="0"/>
                      </a:br>
                      <a:r>
                        <a:rPr lang="en-IN" sz="800" i="1" dirty="0"/>
                        <a:t>Crop Yield Prediction in Cotton for Regional Level Using Random Forest Approach</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80"/>
                        </a:spcBef>
                      </a:pPr>
                      <a:r>
                        <a:rPr lang="en-IN" sz="800" dirty="0"/>
                        <a:t>Cotton yield in Maharashtra, 2001–2017; satellite and agrometeorological variables</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80"/>
                        </a:spcBef>
                      </a:pPr>
                      <a:r>
                        <a:rPr lang="en-IN" sz="800" dirty="0"/>
                        <a:t>Random Forest + CART + Recursive Feature Elimination</a:t>
                      </a:r>
                      <a:endParaRPr sz="800" b="1"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nSpc>
                          <a:spcPct val="100000"/>
                        </a:lnSpc>
                        <a:spcBef>
                          <a:spcPts val="380"/>
                        </a:spcBef>
                      </a:pPr>
                      <a:r>
                        <a:rPr lang="en-IN" sz="800" dirty="0"/>
                        <a:t>Restricted to cotton and Maharashtra, limiting generalization to multiple crops</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845819">
                <a:tc>
                  <a:txBody>
                    <a:bodyPr/>
                    <a:lstStyle/>
                    <a:p>
                      <a:pPr marL="73025" marR="88265">
                        <a:lnSpc>
                          <a:spcPct val="100000"/>
                        </a:lnSpc>
                        <a:spcBef>
                          <a:spcPts val="385"/>
                        </a:spcBef>
                      </a:pPr>
                      <a:r>
                        <a:rPr lang="en-IN" sz="800" b="1" dirty="0"/>
                        <a:t>7. Mahender Reddy Sheri et al. • 2021</a:t>
                      </a:r>
                      <a:br>
                        <a:rPr lang="en-IN" sz="800" dirty="0"/>
                      </a:br>
                      <a:r>
                        <a:rPr lang="en-IN" sz="800" i="1" dirty="0"/>
                        <a:t>An Optimized Machine Learning Approach for Predicting Various Crop Yields</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85"/>
                        </a:spcBef>
                      </a:pPr>
                      <a:r>
                        <a:rPr lang="en-IN" sz="800" dirty="0"/>
                        <a:t>Telangana agricultural data: temperature, humidity, groundwater, canals, soil type and season</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408940">
                        <a:lnSpc>
                          <a:spcPct val="100000"/>
                        </a:lnSpc>
                        <a:spcBef>
                          <a:spcPts val="385"/>
                        </a:spcBef>
                      </a:pPr>
                      <a:r>
                        <a:rPr lang="en-IN" sz="800" dirty="0"/>
                        <a:t>Random Forest, Multiple Linear Regression, normalization and correlation analysis</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96850">
                        <a:lnSpc>
                          <a:spcPct val="100000"/>
                        </a:lnSpc>
                        <a:spcBef>
                          <a:spcPts val="385"/>
                        </a:spcBef>
                      </a:pPr>
                      <a:r>
                        <a:rPr lang="en-IN" sz="800" dirty="0"/>
                        <a:t>Focused on Telangana and does not include the full RF–XGBoost–SVR comparison</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845819">
                <a:tc>
                  <a:txBody>
                    <a:bodyPr/>
                    <a:lstStyle/>
                    <a:p>
                      <a:pPr marL="73025" marR="131445">
                        <a:lnSpc>
                          <a:spcPct val="100000"/>
                        </a:lnSpc>
                        <a:spcBef>
                          <a:spcPts val="390"/>
                        </a:spcBef>
                      </a:pPr>
                      <a:r>
                        <a:rPr lang="en-IN" sz="800" b="1" dirty="0"/>
                        <a:t>8. N. BanuPriya et al. • 2021</a:t>
                      </a:r>
                      <a:br>
                        <a:rPr lang="en-IN" sz="800" dirty="0"/>
                      </a:br>
                      <a:r>
                        <a:rPr lang="en-IN" sz="800" i="1" dirty="0"/>
                        <a:t>Crop Yield Prediction Based on Indian Agriculture Using Machine Learning</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0"/>
                        </a:spcBef>
                      </a:pPr>
                      <a:r>
                        <a:rPr lang="en-IN" sz="800" dirty="0"/>
                        <a:t>Indian Government agricultural repository; about 2.5 lakh observations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306705">
                        <a:lnSpc>
                          <a:spcPct val="100000"/>
                        </a:lnSpc>
                        <a:spcBef>
                          <a:spcPts val="390"/>
                        </a:spcBef>
                      </a:pPr>
                      <a:r>
                        <a:rPr lang="en-IN" sz="800" dirty="0"/>
                        <a:t>Random Forest, Gradient Boosting, Decision Tree and ensemble methods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304800">
                        <a:lnSpc>
                          <a:spcPct val="100000"/>
                        </a:lnSpc>
                        <a:spcBef>
                          <a:spcPts val="390"/>
                        </a:spcBef>
                      </a:pPr>
                      <a:r>
                        <a:rPr lang="en-IN" sz="800" dirty="0"/>
                        <a:t>Mainly uses administrative/agricultural attributes and lacks richer weather and soil information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845819">
                <a:tc>
                  <a:txBody>
                    <a:bodyPr/>
                    <a:lstStyle/>
                    <a:p>
                      <a:pPr marL="73025">
                        <a:lnSpc>
                          <a:spcPct val="100000"/>
                        </a:lnSpc>
                        <a:spcBef>
                          <a:spcPts val="390"/>
                        </a:spcBef>
                      </a:pPr>
                      <a:r>
                        <a:rPr lang="en-IN" sz="800" b="1" dirty="0"/>
                        <a:t>9. Disha </a:t>
                      </a:r>
                      <a:r>
                        <a:rPr lang="en-IN" sz="800" b="1" dirty="0" err="1"/>
                        <a:t>Chiplonker</a:t>
                      </a:r>
                      <a:r>
                        <a:rPr lang="en-IN" sz="800" b="1" dirty="0"/>
                        <a:t> et al. • 2021</a:t>
                      </a:r>
                      <a:br>
                        <a:rPr lang="en-IN" sz="800" dirty="0"/>
                      </a:br>
                      <a:r>
                        <a:rPr lang="en-IN" sz="800" i="1" dirty="0"/>
                        <a:t>Crop Yield Prediction and Alternate Crop Prediction Using ML</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90"/>
                        </a:spcBef>
                      </a:pPr>
                      <a:r>
                        <a:rPr lang="en-IN" sz="800" dirty="0"/>
                        <a:t>Crop, location and weather-related information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nSpc>
                          <a:spcPct val="100000"/>
                        </a:lnSpc>
                        <a:spcBef>
                          <a:spcPts val="390"/>
                        </a:spcBef>
                      </a:pPr>
                      <a:r>
                        <a:rPr lang="en-IN" sz="800" dirty="0"/>
                        <a:t>Linear Regression and Random Forest Regression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09220">
                        <a:lnSpc>
                          <a:spcPct val="100000"/>
                        </a:lnSpc>
                        <a:spcBef>
                          <a:spcPts val="390"/>
                        </a:spcBef>
                      </a:pPr>
                      <a:r>
                        <a:rPr lang="en-IN" sz="800" dirty="0"/>
                        <a:t>Combines crop recommendation and yield prediction, so yield prediction is only one part of the system</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845819">
                <a:tc>
                  <a:txBody>
                    <a:bodyPr/>
                    <a:lstStyle/>
                    <a:p>
                      <a:pPr marL="73025" marR="252729">
                        <a:lnSpc>
                          <a:spcPct val="100000"/>
                        </a:lnSpc>
                        <a:spcBef>
                          <a:spcPts val="395"/>
                        </a:spcBef>
                      </a:pPr>
                      <a:r>
                        <a:rPr lang="en-IN" sz="800" b="1" dirty="0"/>
                        <a:t>10. Kiran </a:t>
                      </a:r>
                      <a:r>
                        <a:rPr lang="en-IN" sz="800" b="1" dirty="0" err="1"/>
                        <a:t>Moraye</a:t>
                      </a:r>
                      <a:r>
                        <a:rPr lang="en-IN" sz="800" b="1" dirty="0"/>
                        <a:t> et al. • 2021</a:t>
                      </a:r>
                      <a:br>
                        <a:rPr lang="en-IN" sz="800" dirty="0"/>
                      </a:br>
                      <a:r>
                        <a:rPr lang="en-IN" sz="800" i="1" dirty="0"/>
                        <a:t>Crop Yield Prediction Using Random Forest Algorithm for Major Cities in Maharashtra State</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201930">
                        <a:lnSpc>
                          <a:spcPct val="100000"/>
                        </a:lnSpc>
                        <a:spcBef>
                          <a:spcPts val="395"/>
                        </a:spcBef>
                      </a:pPr>
                      <a:r>
                        <a:rPr lang="en-IN" sz="800" dirty="0"/>
                        <a:t>Agricultural data from major cities in Maharashtra</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95"/>
                        </a:spcBef>
                      </a:pPr>
                      <a:r>
                        <a:rPr lang="en-IN" sz="800" dirty="0"/>
                        <a:t>Random Forest</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68910" algn="just">
                        <a:lnSpc>
                          <a:spcPct val="100000"/>
                        </a:lnSpc>
                        <a:spcBef>
                          <a:spcPts val="395"/>
                        </a:spcBef>
                      </a:pPr>
                      <a:r>
                        <a:rPr lang="en-IN" sz="800" dirty="0"/>
                        <a:t>Geographically restricted and primarily evaluates only one ML algorithm</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42240">
              <a:lnSpc>
                <a:spcPct val="100000"/>
              </a:lnSpc>
              <a:spcBef>
                <a:spcPts val="105"/>
              </a:spcBef>
            </a:pPr>
            <a:r>
              <a:rPr spc="-20" dirty="0"/>
              <a:t>LITERATURE</a:t>
            </a:r>
            <a:r>
              <a:rPr spc="-80" dirty="0"/>
              <a:t> </a:t>
            </a:r>
            <a:r>
              <a:rPr dirty="0"/>
              <a:t>REVIEW</a:t>
            </a:r>
            <a:r>
              <a:rPr spc="-45" dirty="0"/>
              <a:t> </a:t>
            </a:r>
            <a:r>
              <a:rPr dirty="0"/>
              <a:t>•</a:t>
            </a:r>
            <a:r>
              <a:rPr spc="-35" dirty="0"/>
              <a:t> </a:t>
            </a:r>
            <a:r>
              <a:rPr spc="-20" dirty="0"/>
              <a:t>PART</a:t>
            </a:r>
            <a:r>
              <a:rPr spc="-30" dirty="0"/>
              <a:t> </a:t>
            </a:r>
            <a:r>
              <a:rPr spc="-50" dirty="0"/>
              <a:t>3</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7</a:t>
            </a:fld>
            <a:endParaRPr spc="-25" dirty="0"/>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Papers</a:t>
            </a:r>
            <a:r>
              <a:rPr sz="1150" i="1" spc="-10" dirty="0">
                <a:solidFill>
                  <a:srgbClr val="6D6D6D"/>
                </a:solidFill>
                <a:latin typeface="Calibri"/>
                <a:cs typeface="Calibri"/>
              </a:rPr>
              <a:t> </a:t>
            </a:r>
            <a:r>
              <a:rPr sz="1150" i="1" spc="-20" dirty="0">
                <a:solidFill>
                  <a:srgbClr val="6D6D6D"/>
                </a:solidFill>
                <a:latin typeface="Calibri"/>
                <a:cs typeface="Calibri"/>
              </a:rPr>
              <a:t>11–</a:t>
            </a:r>
            <a:r>
              <a:rPr sz="1150" i="1" spc="-25" dirty="0">
                <a:solidFill>
                  <a:srgbClr val="6D6D6D"/>
                </a:solidFill>
                <a:latin typeface="Calibri"/>
                <a:cs typeface="Calibri"/>
              </a:rPr>
              <a:t>15</a:t>
            </a:r>
            <a:endParaRPr sz="115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487238847"/>
              </p:ext>
            </p:extLst>
          </p:nvPr>
        </p:nvGraphicFramePr>
        <p:xfrm>
          <a:off x="362584" y="1295272"/>
          <a:ext cx="11457304" cy="5074280"/>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845185">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025">
                        <a:lnSpc>
                          <a:spcPct val="100000"/>
                        </a:lnSpc>
                      </a:pPr>
                      <a:r>
                        <a:rPr sz="1000" b="1" dirty="0">
                          <a:solidFill>
                            <a:srgbClr val="FFFFFF"/>
                          </a:solidFill>
                          <a:latin typeface="Calibri"/>
                          <a:cs typeface="Calibri"/>
                        </a:rPr>
                        <a:t>Paper</a:t>
                      </a:r>
                      <a:r>
                        <a:rPr sz="1000" b="1" spc="-30" dirty="0">
                          <a:solidFill>
                            <a:srgbClr val="FFFFFF"/>
                          </a:solidFill>
                          <a:latin typeface="Calibri"/>
                          <a:cs typeface="Calibri"/>
                        </a:rPr>
                        <a:t> </a:t>
                      </a:r>
                      <a:r>
                        <a:rPr sz="1000" b="1" dirty="0">
                          <a:solidFill>
                            <a:srgbClr val="FFFFFF"/>
                          </a:solidFill>
                          <a:latin typeface="Calibri"/>
                          <a:cs typeface="Calibri"/>
                        </a:rPr>
                        <a:t>/ </a:t>
                      </a:r>
                      <a:r>
                        <a:rPr sz="1000" b="1" spc="-20" dirty="0">
                          <a:solidFill>
                            <a:srgbClr val="FFFFFF"/>
                          </a:solidFill>
                          <a:latin typeface="Calibri"/>
                          <a:cs typeface="Calibri"/>
                        </a:rPr>
                        <a:t>Year</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660">
                        <a:lnSpc>
                          <a:spcPct val="100000"/>
                        </a:lnSpc>
                      </a:pPr>
                      <a:r>
                        <a:rPr sz="1000" b="1" spc="-10" dirty="0">
                          <a:solidFill>
                            <a:srgbClr val="FFFFFF"/>
                          </a:solidFill>
                          <a:latin typeface="Calibri"/>
                          <a:cs typeface="Calibri"/>
                        </a:rPr>
                        <a:t>Dataset</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295">
                        <a:lnSpc>
                          <a:spcPct val="100000"/>
                        </a:lnSpc>
                      </a:pPr>
                      <a:r>
                        <a:rPr sz="1000" b="1" spc="-10" dirty="0">
                          <a:solidFill>
                            <a:srgbClr val="FFFFFF"/>
                          </a:solidFill>
                          <a:latin typeface="Calibri"/>
                          <a:cs typeface="Calibri"/>
                        </a:rPr>
                        <a:t>Methodology</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930">
                        <a:lnSpc>
                          <a:spcPct val="100000"/>
                        </a:lnSpc>
                      </a:pPr>
                      <a:r>
                        <a:rPr sz="1000" b="1" spc="-10" dirty="0">
                          <a:solidFill>
                            <a:srgbClr val="FFFFFF"/>
                          </a:solidFill>
                          <a:latin typeface="Calibri"/>
                          <a:cs typeface="Calibri"/>
                        </a:rPr>
                        <a:t>Limitation</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845819">
                <a:tc>
                  <a:txBody>
                    <a:bodyPr/>
                    <a:lstStyle/>
                    <a:p>
                      <a:pPr marL="73025">
                        <a:lnSpc>
                          <a:spcPct val="100000"/>
                        </a:lnSpc>
                        <a:spcBef>
                          <a:spcPts val="380"/>
                        </a:spcBef>
                      </a:pPr>
                      <a:r>
                        <a:rPr lang="en-IN" sz="800" b="1" dirty="0"/>
                        <a:t>11. Ponraj Arumugam et al. • 2021</a:t>
                      </a:r>
                      <a:br>
                        <a:rPr lang="en-IN" sz="800" dirty="0"/>
                      </a:br>
                      <a:r>
                        <a:rPr lang="en-IN" sz="800" dirty="0"/>
                        <a:t>Remote Sensing Based Yield Estimation of Rice Using Gradient Boosted Regression in India</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80"/>
                        </a:spcBef>
                      </a:pPr>
                      <a:r>
                        <a:rPr lang="en-IN" sz="800" dirty="0"/>
                        <a:t>Indian rice-growing areas, MODIS LAI and district-level yield data, 2003–2017</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0" lvl="0" indent="0" defTabSz="914400" eaLnBrk="1" fontAlgn="auto" latinLnBrk="0" hangingPunct="1">
                        <a:lnSpc>
                          <a:spcPct val="100000"/>
                        </a:lnSpc>
                        <a:spcBef>
                          <a:spcPts val="380"/>
                        </a:spcBef>
                        <a:spcAft>
                          <a:spcPts val="0"/>
                        </a:spcAft>
                        <a:buClrTx/>
                        <a:buSzTx/>
                        <a:buFontTx/>
                        <a:buNone/>
                        <a:tabLst/>
                        <a:defRPr/>
                      </a:pPr>
                      <a:r>
                        <a:rPr lang="en-IN" sz="800" dirty="0"/>
                        <a:t>Gradient Boosted Regression + remote sensing</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89230">
                        <a:lnSpc>
                          <a:spcPct val="100000"/>
                        </a:lnSpc>
                        <a:spcBef>
                          <a:spcPts val="380"/>
                        </a:spcBef>
                      </a:pPr>
                      <a:r>
                        <a:rPr lang="en-IN" sz="800" dirty="0"/>
                        <a:t>Focuses on rice and satellite-derived LAI rather than general agricultural/soil features</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845819">
                <a:tc>
                  <a:txBody>
                    <a:bodyPr/>
                    <a:lstStyle/>
                    <a:p>
                      <a:pPr marL="73025" marR="192405">
                        <a:lnSpc>
                          <a:spcPct val="100000"/>
                        </a:lnSpc>
                        <a:spcBef>
                          <a:spcPts val="385"/>
                        </a:spcBef>
                      </a:pPr>
                      <a:r>
                        <a:rPr lang="en-IN" sz="800" b="1" dirty="0"/>
                        <a:t>12. Ashmitha Nihar et al. • 2022</a:t>
                      </a:r>
                      <a:br>
                        <a:rPr lang="en-IN" sz="800" dirty="0"/>
                      </a:br>
                      <a:r>
                        <a:rPr lang="en-IN" sz="800" dirty="0"/>
                        <a:t>Machine-Learning-Based Regional Yield Forecasting for Sugarcane Crop in Uttar Pradesh, India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marR="317500">
                        <a:lnSpc>
                          <a:spcPct val="100000"/>
                        </a:lnSpc>
                        <a:spcBef>
                          <a:spcPts val="385"/>
                        </a:spcBef>
                      </a:pPr>
                      <a:r>
                        <a:rPr lang="en-IN" sz="800" b="0" i="0" dirty="0">
                          <a:solidFill>
                            <a:schemeClr val="tx1"/>
                          </a:solidFill>
                          <a:effectLst/>
                          <a:latin typeface="+mn-lt"/>
                          <a:ea typeface="+mn-ea"/>
                          <a:cs typeface="+mn-cs"/>
                        </a:rPr>
                        <a:t>18 years of MODIS satellite data for sugarcane in Uttar Pradesh</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240665">
                        <a:lnSpc>
                          <a:spcPct val="100000"/>
                        </a:lnSpc>
                        <a:spcBef>
                          <a:spcPts val="385"/>
                        </a:spcBef>
                      </a:pPr>
                      <a:r>
                        <a:rPr lang="en-IN" sz="800" dirty="0"/>
                        <a:t>SVR, Gradient Boosting, XGBoost and Random Forest</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234950">
                        <a:lnSpc>
                          <a:spcPct val="100000"/>
                        </a:lnSpc>
                        <a:spcBef>
                          <a:spcPts val="385"/>
                        </a:spcBef>
                      </a:pPr>
                      <a:r>
                        <a:rPr lang="en-IN" sz="800" dirty="0"/>
                        <a:t>Crop-specific and dependent on remote-sensing variables, making it more complex than tabular ML</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845819">
                <a:tc>
                  <a:txBody>
                    <a:bodyPr/>
                    <a:lstStyle/>
                    <a:p>
                      <a:pPr marL="73025">
                        <a:lnSpc>
                          <a:spcPct val="100000"/>
                        </a:lnSpc>
                        <a:spcBef>
                          <a:spcPts val="390"/>
                        </a:spcBef>
                      </a:pPr>
                      <a:r>
                        <a:rPr lang="en-IN" sz="800" b="1" dirty="0"/>
                        <a:t>13. Kavita </a:t>
                      </a:r>
                      <a:r>
                        <a:rPr lang="en-IN" sz="800" b="1" dirty="0" err="1"/>
                        <a:t>Jhajharia</a:t>
                      </a:r>
                      <a:r>
                        <a:rPr lang="en-IN" sz="800" b="1" dirty="0"/>
                        <a:t> &amp; Pratistha Mathur • 2022</a:t>
                      </a:r>
                      <a:br>
                        <a:rPr lang="en-IN" sz="800" dirty="0"/>
                      </a:br>
                      <a:r>
                        <a:rPr lang="en-IN" sz="800" dirty="0"/>
                        <a:t>Machine Learning Approaches to Predict Crop Yield Using Integrated Satellite and Climate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334010">
                        <a:lnSpc>
                          <a:spcPct val="100000"/>
                        </a:lnSpc>
                        <a:spcBef>
                          <a:spcPts val="390"/>
                        </a:spcBef>
                      </a:pPr>
                      <a:r>
                        <a:rPr lang="en-IN" sz="800" dirty="0"/>
                        <a:t>Wheat yield data from Rajasthan + satellite vegetation indices + climate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15265">
                        <a:lnSpc>
                          <a:spcPct val="100000"/>
                        </a:lnSpc>
                        <a:spcBef>
                          <a:spcPts val="390"/>
                        </a:spcBef>
                      </a:pPr>
                      <a:r>
                        <a:rPr lang="en-IN" sz="800" dirty="0"/>
                        <a:t>LASSO, SVM, Random Forest and Linear Regression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16535">
                        <a:lnSpc>
                          <a:spcPct val="100000"/>
                        </a:lnSpc>
                        <a:spcBef>
                          <a:spcPts val="390"/>
                        </a:spcBef>
                      </a:pPr>
                      <a:r>
                        <a:rPr lang="en-IN" sz="800" dirty="0"/>
                        <a:t>Limited to wheat/Rajasthan and requires satellite-data processing</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845819">
                <a:tc>
                  <a:txBody>
                    <a:bodyPr/>
                    <a:lstStyle/>
                    <a:p>
                      <a:pPr marL="73025">
                        <a:lnSpc>
                          <a:spcPct val="100000"/>
                        </a:lnSpc>
                        <a:spcBef>
                          <a:spcPts val="390"/>
                        </a:spcBef>
                      </a:pPr>
                      <a:r>
                        <a:rPr lang="en-IN" sz="800" b="1" dirty="0"/>
                        <a:t>14. Sobhana M. et al. • 2022</a:t>
                      </a:r>
                      <a:br>
                        <a:rPr lang="en-IN" sz="800" dirty="0"/>
                      </a:br>
                      <a:r>
                        <a:rPr lang="en-IN" sz="800" dirty="0"/>
                        <a:t>CROPUP – A Crop Yield Prediction and Recommendation System with Geographical Data using DNN and XGBoost</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90"/>
                        </a:spcBef>
                      </a:pPr>
                      <a:r>
                        <a:rPr lang="en-IN" sz="800" dirty="0"/>
                        <a:t>Geographical, soil and environmental agricultural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nSpc>
                          <a:spcPct val="100000"/>
                        </a:lnSpc>
                        <a:spcBef>
                          <a:spcPts val="390"/>
                        </a:spcBef>
                      </a:pPr>
                      <a:r>
                        <a:rPr lang="en-IN" sz="800" dirty="0"/>
                        <a:t>DNN for yield prediction + XGBoost for crop recommendation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80340">
                        <a:lnSpc>
                          <a:spcPct val="100000"/>
                        </a:lnSpc>
                        <a:spcBef>
                          <a:spcPts val="390"/>
                        </a:spcBef>
                      </a:pPr>
                      <a:r>
                        <a:rPr lang="en-IN" sz="800" dirty="0"/>
                        <a:t>Combines two different tasks, making the architecture more complicated than pure yield regression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845819">
                <a:tc>
                  <a:txBody>
                    <a:bodyPr/>
                    <a:lstStyle/>
                    <a:p>
                      <a:pPr marL="73025" marR="419100">
                        <a:lnSpc>
                          <a:spcPct val="100000"/>
                        </a:lnSpc>
                        <a:spcBef>
                          <a:spcPts val="395"/>
                        </a:spcBef>
                      </a:pPr>
                      <a:r>
                        <a:rPr lang="en-IN" sz="800" b="1" dirty="0"/>
                        <a:t>15. Pankaj Das et al. • 2023</a:t>
                      </a:r>
                      <a:br>
                        <a:rPr lang="en-IN" sz="800" dirty="0"/>
                      </a:br>
                      <a:r>
                        <a:rPr lang="en-IN" sz="800" dirty="0"/>
                        <a:t>Crop Yield Prediction Using Hybrid Machine Learning Approach: A Case Study of Lentil</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312420">
                        <a:lnSpc>
                          <a:spcPct val="100000"/>
                        </a:lnSpc>
                        <a:spcBef>
                          <a:spcPts val="395"/>
                        </a:spcBef>
                      </a:pPr>
                      <a:r>
                        <a:rPr lang="en-IN" sz="800" dirty="0"/>
                        <a:t>518 lentil genotypes with agronomic traits</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182245">
                        <a:lnSpc>
                          <a:spcPct val="100000"/>
                        </a:lnSpc>
                        <a:spcBef>
                          <a:spcPts val="395"/>
                        </a:spcBef>
                      </a:pPr>
                      <a:r>
                        <a:rPr lang="en-IN" sz="800" dirty="0"/>
                        <a:t>MARS feature selection + SVR + ANN</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75895">
                        <a:lnSpc>
                          <a:spcPct val="100000"/>
                        </a:lnSpc>
                        <a:spcBef>
                          <a:spcPts val="395"/>
                        </a:spcBef>
                      </a:pPr>
                      <a:r>
                        <a:rPr lang="en-IN" sz="800" dirty="0"/>
                        <a:t>Limited to one crop and genotype-level data; not a multi-crop agricultural dataset</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42240">
              <a:lnSpc>
                <a:spcPct val="100000"/>
              </a:lnSpc>
              <a:spcBef>
                <a:spcPts val="105"/>
              </a:spcBef>
            </a:pPr>
            <a:r>
              <a:rPr spc="-20" dirty="0"/>
              <a:t>LITERATURE</a:t>
            </a:r>
            <a:r>
              <a:rPr spc="-80" dirty="0"/>
              <a:t> </a:t>
            </a:r>
            <a:r>
              <a:rPr dirty="0"/>
              <a:t>REVIEW</a:t>
            </a:r>
            <a:r>
              <a:rPr spc="-45" dirty="0"/>
              <a:t> </a:t>
            </a:r>
            <a:r>
              <a:rPr dirty="0"/>
              <a:t>•</a:t>
            </a:r>
            <a:r>
              <a:rPr spc="-35" dirty="0"/>
              <a:t> </a:t>
            </a:r>
            <a:r>
              <a:rPr spc="-20" dirty="0"/>
              <a:t>PART</a:t>
            </a:r>
            <a:r>
              <a:rPr spc="-30" dirty="0"/>
              <a:t> </a:t>
            </a:r>
            <a:r>
              <a:rPr spc="-50" dirty="0"/>
              <a:t>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8</a:t>
            </a:fld>
            <a:endParaRPr spc="-25" dirty="0"/>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Papers</a:t>
            </a:r>
            <a:r>
              <a:rPr sz="1150" i="1" spc="-10" dirty="0">
                <a:solidFill>
                  <a:srgbClr val="6D6D6D"/>
                </a:solidFill>
                <a:latin typeface="Calibri"/>
                <a:cs typeface="Calibri"/>
              </a:rPr>
              <a:t> </a:t>
            </a:r>
            <a:r>
              <a:rPr sz="1150" i="1" spc="-20" dirty="0">
                <a:solidFill>
                  <a:srgbClr val="6D6D6D"/>
                </a:solidFill>
                <a:latin typeface="Calibri"/>
                <a:cs typeface="Calibri"/>
              </a:rPr>
              <a:t>16–</a:t>
            </a:r>
            <a:r>
              <a:rPr sz="1150" i="1" spc="-25" dirty="0">
                <a:solidFill>
                  <a:srgbClr val="6D6D6D"/>
                </a:solidFill>
                <a:latin typeface="Calibri"/>
                <a:cs typeface="Calibri"/>
              </a:rPr>
              <a:t>20</a:t>
            </a:r>
            <a:endParaRPr sz="115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5074280"/>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845185">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025">
                        <a:lnSpc>
                          <a:spcPct val="100000"/>
                        </a:lnSpc>
                      </a:pPr>
                      <a:r>
                        <a:rPr sz="1000" b="1" dirty="0">
                          <a:solidFill>
                            <a:srgbClr val="FFFFFF"/>
                          </a:solidFill>
                          <a:latin typeface="Calibri"/>
                          <a:cs typeface="Calibri"/>
                        </a:rPr>
                        <a:t>Paper</a:t>
                      </a:r>
                      <a:r>
                        <a:rPr sz="1000" b="1" spc="-30" dirty="0">
                          <a:solidFill>
                            <a:srgbClr val="FFFFFF"/>
                          </a:solidFill>
                          <a:latin typeface="Calibri"/>
                          <a:cs typeface="Calibri"/>
                        </a:rPr>
                        <a:t> </a:t>
                      </a:r>
                      <a:r>
                        <a:rPr sz="1000" b="1" dirty="0">
                          <a:solidFill>
                            <a:srgbClr val="FFFFFF"/>
                          </a:solidFill>
                          <a:latin typeface="Calibri"/>
                          <a:cs typeface="Calibri"/>
                        </a:rPr>
                        <a:t>/ </a:t>
                      </a:r>
                      <a:r>
                        <a:rPr sz="1000" b="1" spc="-20" dirty="0">
                          <a:solidFill>
                            <a:srgbClr val="FFFFFF"/>
                          </a:solidFill>
                          <a:latin typeface="Calibri"/>
                          <a:cs typeface="Calibri"/>
                        </a:rPr>
                        <a:t>Year</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dirty="0">
                        <a:latin typeface="Times New Roman"/>
                        <a:cs typeface="Times New Roman"/>
                      </a:endParaRPr>
                    </a:p>
                    <a:p>
                      <a:pPr>
                        <a:lnSpc>
                          <a:spcPct val="100000"/>
                        </a:lnSpc>
                        <a:spcBef>
                          <a:spcPts val="370"/>
                        </a:spcBef>
                      </a:pPr>
                      <a:endParaRPr sz="1000" dirty="0">
                        <a:latin typeface="Times New Roman"/>
                        <a:cs typeface="Times New Roman"/>
                      </a:endParaRPr>
                    </a:p>
                    <a:p>
                      <a:pPr marL="73660">
                        <a:lnSpc>
                          <a:spcPct val="100000"/>
                        </a:lnSpc>
                      </a:pPr>
                      <a:r>
                        <a:rPr sz="1000" b="1" spc="-10" dirty="0">
                          <a:solidFill>
                            <a:srgbClr val="FFFFFF"/>
                          </a:solidFill>
                          <a:latin typeface="Calibri"/>
                          <a:cs typeface="Calibri"/>
                        </a:rPr>
                        <a:t>Dataset</a:t>
                      </a:r>
                      <a:endParaRPr sz="1000" dirty="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295">
                        <a:lnSpc>
                          <a:spcPct val="100000"/>
                        </a:lnSpc>
                      </a:pPr>
                      <a:r>
                        <a:rPr sz="1000" b="1" spc="-10" dirty="0">
                          <a:solidFill>
                            <a:srgbClr val="FFFFFF"/>
                          </a:solidFill>
                          <a:latin typeface="Calibri"/>
                          <a:cs typeface="Calibri"/>
                        </a:rPr>
                        <a:t>Methodology</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930">
                        <a:lnSpc>
                          <a:spcPct val="100000"/>
                        </a:lnSpc>
                      </a:pPr>
                      <a:r>
                        <a:rPr sz="1000" b="1" spc="-10" dirty="0">
                          <a:solidFill>
                            <a:srgbClr val="FFFFFF"/>
                          </a:solidFill>
                          <a:latin typeface="Calibri"/>
                          <a:cs typeface="Calibri"/>
                        </a:rPr>
                        <a:t>Limitation</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845819">
                <a:tc>
                  <a:txBody>
                    <a:bodyPr/>
                    <a:lstStyle/>
                    <a:p>
                      <a:pPr marL="73025">
                        <a:lnSpc>
                          <a:spcPct val="100000"/>
                        </a:lnSpc>
                        <a:spcBef>
                          <a:spcPts val="380"/>
                        </a:spcBef>
                      </a:pPr>
                      <a:r>
                        <a:rPr lang="en-IN" sz="800" b="1" dirty="0"/>
                        <a:t>16. Sangeetham Rohini, S. Narayana Reddy • 2023</a:t>
                      </a:r>
                      <a:br>
                        <a:rPr lang="en-IN" sz="800" dirty="0"/>
                      </a:br>
                      <a:r>
                        <a:rPr lang="en-IN" sz="800" i="1" dirty="0"/>
                        <a:t>Machine Learning Based Techniques for Paddy Yield Prediction for the State of Andhra Pradesh</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80"/>
                        </a:spcBef>
                      </a:pPr>
                      <a:r>
                        <a:rPr lang="en-IN" sz="800" dirty="0"/>
                        <a:t>Andhra Pradesh paddy yield, 2001–2020 + ET, LAI, LST, NDVI and rainfall</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80"/>
                        </a:spcBef>
                      </a:pPr>
                      <a:r>
                        <a:rPr lang="en-IN" sz="800" dirty="0"/>
                        <a:t>MLR, SVR and Random Forest Regression</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nSpc>
                          <a:spcPct val="100000"/>
                        </a:lnSpc>
                        <a:spcBef>
                          <a:spcPts val="380"/>
                        </a:spcBef>
                      </a:pPr>
                      <a:r>
                        <a:rPr lang="en-IN" sz="800" dirty="0"/>
                        <a:t>Uses a limited dataset and does not include XGBoost</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845819">
                <a:tc>
                  <a:txBody>
                    <a:bodyPr/>
                    <a:lstStyle/>
                    <a:p>
                      <a:pPr marL="73025">
                        <a:lnSpc>
                          <a:spcPct val="100000"/>
                        </a:lnSpc>
                        <a:spcBef>
                          <a:spcPts val="385"/>
                        </a:spcBef>
                      </a:pPr>
                      <a:r>
                        <a:rPr lang="en-IN" sz="800" b="1" dirty="0"/>
                        <a:t>17. Kavita </a:t>
                      </a:r>
                      <a:r>
                        <a:rPr lang="en-IN" sz="800" b="1" dirty="0" err="1"/>
                        <a:t>Jhajharia</a:t>
                      </a:r>
                      <a:r>
                        <a:rPr lang="en-IN" sz="800" b="1" dirty="0"/>
                        <a:t>, Pratistha Mathur • 2023</a:t>
                      </a:r>
                      <a:br>
                        <a:rPr lang="en-IN" sz="800" dirty="0"/>
                      </a:br>
                      <a:r>
                        <a:rPr lang="en-IN" sz="800" i="1" dirty="0"/>
                        <a:t>Prediction of Crop Yield Using Satellite Vegetation Indices Combined with Machine Learning Approaches</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85"/>
                        </a:spcBef>
                      </a:pPr>
                      <a:r>
                        <a:rPr lang="en-IN" sz="800" dirty="0"/>
                        <a:t>Rajasthan crop-yield data + vegetation indices + weather data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313055">
                        <a:lnSpc>
                          <a:spcPct val="100000"/>
                        </a:lnSpc>
                        <a:spcBef>
                          <a:spcPts val="385"/>
                        </a:spcBef>
                      </a:pPr>
                      <a:r>
                        <a:rPr lang="en-IN" sz="800" dirty="0"/>
                        <a:t>Decision Tree, Random Forest, LASSO and SVR</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27000">
                        <a:lnSpc>
                          <a:spcPct val="100000"/>
                        </a:lnSpc>
                        <a:spcBef>
                          <a:spcPts val="385"/>
                        </a:spcBef>
                      </a:pPr>
                      <a:r>
                        <a:rPr lang="en-IN" sz="800" dirty="0"/>
                        <a:t>Focused on Rajasthan and requires satellite/remote-sensing data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845819">
                <a:tc>
                  <a:txBody>
                    <a:bodyPr/>
                    <a:lstStyle/>
                    <a:p>
                      <a:pPr marL="73025" marR="91440">
                        <a:lnSpc>
                          <a:spcPct val="100000"/>
                        </a:lnSpc>
                        <a:spcBef>
                          <a:spcPts val="390"/>
                        </a:spcBef>
                      </a:pPr>
                      <a:r>
                        <a:rPr lang="en-IN" sz="800" b="1" dirty="0"/>
                        <a:t>18. Sonam Sah et al. • 2024</a:t>
                      </a:r>
                      <a:br>
                        <a:rPr lang="en-IN" sz="800" dirty="0"/>
                      </a:br>
                      <a:r>
                        <a:rPr lang="en-IN" sz="800" i="1" dirty="0"/>
                        <a:t>Rice Yield Prediction Through Integration of Biophysical Parameters with SAR and Optical Remote Sensing Data Using Machine Learning Models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0"/>
                        </a:spcBef>
                      </a:pPr>
                      <a:r>
                        <a:rPr lang="en-IN" sz="800" dirty="0"/>
                        <a:t>Indian rice data + SAR/optical remote sensing + biophysical parameters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71780">
                        <a:lnSpc>
                          <a:spcPct val="100000"/>
                        </a:lnSpc>
                        <a:spcBef>
                          <a:spcPts val="390"/>
                        </a:spcBef>
                      </a:pPr>
                      <a:r>
                        <a:rPr lang="en-IN" sz="800" dirty="0"/>
                        <a:t>Machine-learning models using SAR and optical satellite information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47015">
                        <a:lnSpc>
                          <a:spcPct val="100000"/>
                        </a:lnSpc>
                        <a:spcBef>
                          <a:spcPts val="390"/>
                        </a:spcBef>
                      </a:pPr>
                      <a:r>
                        <a:rPr lang="en-IN" sz="800" dirty="0"/>
                        <a:t>Focuses specifically on rice and requires specialized remote-sensing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845819">
                <a:tc>
                  <a:txBody>
                    <a:bodyPr/>
                    <a:lstStyle/>
                    <a:p>
                      <a:pPr marL="73025">
                        <a:lnSpc>
                          <a:spcPct val="100000"/>
                        </a:lnSpc>
                        <a:spcBef>
                          <a:spcPts val="390"/>
                        </a:spcBef>
                      </a:pPr>
                      <a:r>
                        <a:rPr lang="en-IN" sz="800" b="1" dirty="0"/>
                        <a:t>19. Anand </a:t>
                      </a:r>
                      <a:r>
                        <a:rPr lang="en-IN" sz="800" b="1" dirty="0" err="1"/>
                        <a:t>Digambarrao</a:t>
                      </a:r>
                      <a:r>
                        <a:rPr lang="en-IN" sz="800" b="1" dirty="0"/>
                        <a:t> Kadam, Nagsen Samadhan Bansod • 2025</a:t>
                      </a:r>
                      <a:br>
                        <a:rPr lang="en-IN" sz="800" dirty="0"/>
                      </a:br>
                      <a:r>
                        <a:rPr lang="en-IN" sz="800" i="1" dirty="0"/>
                        <a:t>Enhancing Crop Yield Prediction Using Machine Learning: A Comprehensive Study for Sustainable Agriculture</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90"/>
                        </a:spcBef>
                      </a:pPr>
                      <a:r>
                        <a:rPr lang="en-IN" sz="800" dirty="0"/>
                        <a:t>Soil characteristics and major crops in Maharashtra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nSpc>
                          <a:spcPct val="100000"/>
                        </a:lnSpc>
                        <a:spcBef>
                          <a:spcPts val="390"/>
                        </a:spcBef>
                      </a:pPr>
                      <a:r>
                        <a:rPr lang="en-IN" sz="800" dirty="0"/>
                        <a:t>Random Forest, XGBoost, SVR and </a:t>
                      </a:r>
                      <a:r>
                        <a:rPr lang="en-IN" sz="800" dirty="0" err="1"/>
                        <a:t>LightGBM</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84455">
                        <a:lnSpc>
                          <a:spcPct val="100000"/>
                        </a:lnSpc>
                        <a:spcBef>
                          <a:spcPts val="390"/>
                        </a:spcBef>
                      </a:pPr>
                      <a:r>
                        <a:rPr lang="en-IN" sz="800" dirty="0"/>
                        <a:t>Maharashtra-specific; performs a very similar RF/XGBoost/SVR comparison to our project</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845819">
                <a:tc>
                  <a:txBody>
                    <a:bodyPr/>
                    <a:lstStyle/>
                    <a:p>
                      <a:pPr marL="73025" marR="99060">
                        <a:lnSpc>
                          <a:spcPct val="100000"/>
                        </a:lnSpc>
                        <a:spcBef>
                          <a:spcPts val="395"/>
                        </a:spcBef>
                      </a:pPr>
                      <a:r>
                        <a:rPr lang="en-IN" sz="800" b="1" dirty="0"/>
                        <a:t>20. Ahmad </a:t>
                      </a:r>
                      <a:r>
                        <a:rPr lang="en-IN" sz="800" b="1" dirty="0" err="1"/>
                        <a:t>Alsaber</a:t>
                      </a:r>
                      <a:r>
                        <a:rPr lang="en-IN" sz="800" b="1" dirty="0"/>
                        <a:t> et al. • 2025</a:t>
                      </a:r>
                      <a:br>
                        <a:rPr lang="en-IN" sz="800" dirty="0"/>
                      </a:br>
                      <a:r>
                        <a:rPr lang="en-IN" sz="800" i="1" dirty="0"/>
                        <a:t>Optimizing Potato Yield Predictions in Uttar Pradesh, India: A Comparative Analysis of Machine Learning Models</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110489">
                        <a:lnSpc>
                          <a:spcPct val="100000"/>
                        </a:lnSpc>
                        <a:spcBef>
                          <a:spcPts val="395"/>
                        </a:spcBef>
                      </a:pPr>
                      <a:r>
                        <a:rPr lang="en-IN" sz="800" dirty="0"/>
                        <a:t>16 years of potato yield and weather data from 7 UP districts, 2005–2021</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00660">
                        <a:lnSpc>
                          <a:spcPct val="100000"/>
                        </a:lnSpc>
                        <a:spcBef>
                          <a:spcPts val="395"/>
                        </a:spcBef>
                      </a:pPr>
                      <a:r>
                        <a:rPr lang="en-IN" sz="800" dirty="0"/>
                        <a:t>Elastic Net, Random Forest, ANN, XGBoost and SVR</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71450" algn="just">
                        <a:lnSpc>
                          <a:spcPct val="100000"/>
                        </a:lnSpc>
                        <a:spcBef>
                          <a:spcPts val="395"/>
                        </a:spcBef>
                      </a:pPr>
                      <a:r>
                        <a:rPr lang="en-IN" sz="800" dirty="0"/>
                        <a:t>Limited to potato and seven districts; model performance varies significantly by </a:t>
                      </a:r>
                      <a:r>
                        <a:rPr lang="en-IN" sz="800" dirty="0" err="1"/>
                        <a:t>locatior</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443865">
              <a:lnSpc>
                <a:spcPct val="100000"/>
              </a:lnSpc>
              <a:spcBef>
                <a:spcPts val="105"/>
              </a:spcBef>
            </a:pPr>
            <a:r>
              <a:rPr dirty="0"/>
              <a:t>EDA</a:t>
            </a:r>
            <a:r>
              <a:rPr spc="-55" dirty="0"/>
              <a:t> </a:t>
            </a:r>
            <a:r>
              <a:rPr dirty="0"/>
              <a:t>•</a:t>
            </a:r>
            <a:r>
              <a:rPr spc="-20" dirty="0"/>
              <a:t> </a:t>
            </a:r>
            <a:r>
              <a:rPr spc="-55" dirty="0"/>
              <a:t>DATASET</a:t>
            </a:r>
            <a:r>
              <a:rPr spc="-70" dirty="0"/>
              <a:t> </a:t>
            </a:r>
            <a:r>
              <a:rPr spc="-10" dirty="0"/>
              <a:t>QUALITY</a:t>
            </a:r>
          </a:p>
        </p:txBody>
      </p:sp>
      <p:sp>
        <p:nvSpPr>
          <p:cNvPr id="3" name="object 3"/>
          <p:cNvSpPr txBox="1"/>
          <p:nvPr/>
        </p:nvSpPr>
        <p:spPr>
          <a:xfrm>
            <a:off x="4493514" y="933449"/>
            <a:ext cx="3202305" cy="201295"/>
          </a:xfrm>
          <a:prstGeom prst="rect">
            <a:avLst/>
          </a:prstGeom>
        </p:spPr>
        <p:txBody>
          <a:bodyPr vert="horz" wrap="square" lIns="0" tIns="12700" rIns="0" bIns="0" rtlCol="0">
            <a:spAutoFit/>
          </a:bodyPr>
          <a:lstStyle/>
          <a:p>
            <a:pPr marL="12700">
              <a:lnSpc>
                <a:spcPct val="100000"/>
              </a:lnSpc>
              <a:spcBef>
                <a:spcPts val="100"/>
              </a:spcBef>
            </a:pPr>
            <a:r>
              <a:rPr sz="1150" i="1" spc="-10" dirty="0">
                <a:solidFill>
                  <a:srgbClr val="6D6D6D"/>
                </a:solidFill>
                <a:latin typeface="Calibri"/>
                <a:cs typeface="Calibri"/>
              </a:rPr>
              <a:t>Exploratory</a:t>
            </a:r>
            <a:r>
              <a:rPr sz="1150" i="1" spc="5" dirty="0">
                <a:solidFill>
                  <a:srgbClr val="6D6D6D"/>
                </a:solidFill>
                <a:latin typeface="Calibri"/>
                <a:cs typeface="Calibri"/>
              </a:rPr>
              <a:t> </a:t>
            </a:r>
            <a:r>
              <a:rPr sz="1150" i="1" dirty="0">
                <a:solidFill>
                  <a:srgbClr val="6D6D6D"/>
                </a:solidFill>
                <a:latin typeface="Calibri"/>
                <a:cs typeface="Calibri"/>
              </a:rPr>
              <a:t>analysis</a:t>
            </a:r>
            <a:r>
              <a:rPr sz="1150" i="1" spc="-20" dirty="0">
                <a:solidFill>
                  <a:srgbClr val="6D6D6D"/>
                </a:solidFill>
                <a:latin typeface="Calibri"/>
                <a:cs typeface="Calibri"/>
              </a:rPr>
              <a:t> </a:t>
            </a:r>
            <a:r>
              <a:rPr sz="1150" i="1" dirty="0">
                <a:solidFill>
                  <a:srgbClr val="6D6D6D"/>
                </a:solidFill>
                <a:latin typeface="Calibri"/>
                <a:cs typeface="Calibri"/>
              </a:rPr>
              <a:t>of</a:t>
            </a:r>
            <a:r>
              <a:rPr sz="1150" i="1" spc="5" dirty="0">
                <a:solidFill>
                  <a:srgbClr val="6D6D6D"/>
                </a:solidFill>
                <a:latin typeface="Calibri"/>
                <a:cs typeface="Calibri"/>
              </a:rPr>
              <a:t> </a:t>
            </a:r>
            <a:r>
              <a:rPr sz="1150" i="1" dirty="0">
                <a:solidFill>
                  <a:srgbClr val="6D6D6D"/>
                </a:solidFill>
                <a:latin typeface="Calibri"/>
                <a:cs typeface="Calibri"/>
              </a:rPr>
              <a:t>the supplied</a:t>
            </a:r>
            <a:r>
              <a:rPr sz="1150" i="1" spc="-25" dirty="0">
                <a:solidFill>
                  <a:srgbClr val="6D6D6D"/>
                </a:solidFill>
                <a:latin typeface="Calibri"/>
                <a:cs typeface="Calibri"/>
              </a:rPr>
              <a:t> </a:t>
            </a:r>
            <a:r>
              <a:rPr sz="1150" i="1" spc="-10" dirty="0">
                <a:solidFill>
                  <a:srgbClr val="6D6D6D"/>
                </a:solidFill>
                <a:latin typeface="Calibri"/>
                <a:cs typeface="Calibri"/>
              </a:rPr>
              <a:t>network-</a:t>
            </a:r>
            <a:r>
              <a:rPr sz="1150" i="1" dirty="0">
                <a:solidFill>
                  <a:srgbClr val="6D6D6D"/>
                </a:solidFill>
                <a:latin typeface="Calibri"/>
                <a:cs typeface="Calibri"/>
              </a:rPr>
              <a:t>flow</a:t>
            </a:r>
            <a:r>
              <a:rPr sz="1150" i="1" spc="-10" dirty="0">
                <a:solidFill>
                  <a:srgbClr val="6D6D6D"/>
                </a:solidFill>
                <a:latin typeface="Calibri"/>
                <a:cs typeface="Calibri"/>
              </a:rPr>
              <a:t> </a:t>
            </a:r>
            <a:r>
              <a:rPr sz="1150" i="1" spc="-25" dirty="0">
                <a:solidFill>
                  <a:srgbClr val="6D6D6D"/>
                </a:solidFill>
                <a:latin typeface="Calibri"/>
                <a:cs typeface="Calibri"/>
              </a:rPr>
              <a:t>CSV</a:t>
            </a:r>
            <a:endParaRPr sz="1150">
              <a:latin typeface="Calibri"/>
              <a:cs typeface="Calibri"/>
            </a:endParaRPr>
          </a:p>
        </p:txBody>
      </p:sp>
      <p:grpSp>
        <p:nvGrpSpPr>
          <p:cNvPr id="4" name="object 4"/>
          <p:cNvGrpSpPr/>
          <p:nvPr/>
        </p:nvGrpSpPr>
        <p:grpSpPr>
          <a:xfrm>
            <a:off x="536448" y="1310601"/>
            <a:ext cx="2218690" cy="1167130"/>
            <a:chOff x="536448" y="1310601"/>
            <a:chExt cx="2218690" cy="1167130"/>
          </a:xfrm>
        </p:grpSpPr>
        <p:pic>
          <p:nvPicPr>
            <p:cNvPr id="5" name="object 5"/>
            <p:cNvPicPr/>
            <p:nvPr/>
          </p:nvPicPr>
          <p:blipFill>
            <a:blip r:embed="rId2" cstate="print"/>
            <a:stretch>
              <a:fillRect/>
            </a:stretch>
          </p:blipFill>
          <p:spPr>
            <a:xfrm>
              <a:off x="536448" y="1310601"/>
              <a:ext cx="2218563" cy="1167041"/>
            </a:xfrm>
            <a:prstGeom prst="rect">
              <a:avLst/>
            </a:prstGeom>
          </p:spPr>
        </p:pic>
        <p:sp>
          <p:nvSpPr>
            <p:cNvPr id="6" name="object 6"/>
            <p:cNvSpPr/>
            <p:nvPr/>
          </p:nvSpPr>
          <p:spPr>
            <a:xfrm>
              <a:off x="621792" y="1371599"/>
              <a:ext cx="2057400" cy="1005840"/>
            </a:xfrm>
            <a:custGeom>
              <a:avLst/>
              <a:gdLst/>
              <a:ahLst/>
              <a:cxnLst/>
              <a:rect l="l" t="t" r="r" b="b"/>
              <a:pathLst>
                <a:path w="2057400" h="1005839">
                  <a:moveTo>
                    <a:pt x="1984247" y="0"/>
                  </a:moveTo>
                  <a:lnTo>
                    <a:pt x="73151" y="0"/>
                  </a:lnTo>
                  <a:lnTo>
                    <a:pt x="44678" y="5750"/>
                  </a:lnTo>
                  <a:lnTo>
                    <a:pt x="21426" y="21431"/>
                  </a:lnTo>
                  <a:lnTo>
                    <a:pt x="5748" y="44684"/>
                  </a:lnTo>
                  <a:lnTo>
                    <a:pt x="0" y="73151"/>
                  </a:lnTo>
                  <a:lnTo>
                    <a:pt x="0" y="932688"/>
                  </a:lnTo>
                  <a:lnTo>
                    <a:pt x="5748" y="961155"/>
                  </a:lnTo>
                  <a:lnTo>
                    <a:pt x="21426" y="984408"/>
                  </a:lnTo>
                  <a:lnTo>
                    <a:pt x="44678" y="1000089"/>
                  </a:lnTo>
                  <a:lnTo>
                    <a:pt x="73151" y="1005839"/>
                  </a:lnTo>
                  <a:lnTo>
                    <a:pt x="1984247"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7" y="0"/>
                  </a:lnTo>
                  <a:close/>
                </a:path>
              </a:pathLst>
            </a:custGeom>
            <a:solidFill>
              <a:srgbClr val="FFFFFF"/>
            </a:solidFill>
          </p:spPr>
          <p:txBody>
            <a:bodyPr wrap="square" lIns="0" tIns="0" rIns="0" bIns="0" rtlCol="0"/>
            <a:lstStyle/>
            <a:p>
              <a:endParaRPr/>
            </a:p>
          </p:txBody>
        </p:sp>
        <p:sp>
          <p:nvSpPr>
            <p:cNvPr id="7" name="object 7"/>
            <p:cNvSpPr/>
            <p:nvPr/>
          </p:nvSpPr>
          <p:spPr>
            <a:xfrm>
              <a:off x="621792" y="1371599"/>
              <a:ext cx="2057400" cy="1005840"/>
            </a:xfrm>
            <a:custGeom>
              <a:avLst/>
              <a:gdLst/>
              <a:ahLst/>
              <a:cxnLst/>
              <a:rect l="l" t="t" r="r" b="b"/>
              <a:pathLst>
                <a:path w="2057400" h="1005839">
                  <a:moveTo>
                    <a:pt x="0" y="73151"/>
                  </a:moveTo>
                  <a:lnTo>
                    <a:pt x="5748" y="44684"/>
                  </a:lnTo>
                  <a:lnTo>
                    <a:pt x="21426" y="21431"/>
                  </a:lnTo>
                  <a:lnTo>
                    <a:pt x="44678" y="5750"/>
                  </a:lnTo>
                  <a:lnTo>
                    <a:pt x="73151" y="0"/>
                  </a:lnTo>
                  <a:lnTo>
                    <a:pt x="1984247"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7" y="1005839"/>
                  </a:lnTo>
                  <a:lnTo>
                    <a:pt x="73151" y="1005839"/>
                  </a:lnTo>
                  <a:lnTo>
                    <a:pt x="44678" y="1000089"/>
                  </a:lnTo>
                  <a:lnTo>
                    <a:pt x="21426" y="984408"/>
                  </a:lnTo>
                  <a:lnTo>
                    <a:pt x="5748"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1131824" y="1519809"/>
            <a:ext cx="1036955" cy="689610"/>
          </a:xfrm>
          <a:prstGeom prst="rect">
            <a:avLst/>
          </a:prstGeom>
        </p:spPr>
        <p:txBody>
          <a:bodyPr vert="horz" wrap="square" lIns="0" tIns="12700" rIns="0" bIns="0" rtlCol="0">
            <a:spAutoFit/>
          </a:bodyPr>
          <a:lstStyle/>
          <a:p>
            <a:pPr algn="ctr">
              <a:lnSpc>
                <a:spcPct val="100000"/>
              </a:lnSpc>
              <a:spcBef>
                <a:spcPts val="100"/>
              </a:spcBef>
            </a:pPr>
            <a:r>
              <a:rPr lang="en-IN" sz="2400" b="1" spc="-10" dirty="0">
                <a:solidFill>
                  <a:srgbClr val="C00000"/>
                </a:solidFill>
                <a:latin typeface="Calibri"/>
                <a:cs typeface="Calibri"/>
              </a:rPr>
              <a:t>17,400</a:t>
            </a:r>
            <a:endParaRPr sz="2400" dirty="0">
              <a:latin typeface="Calibri"/>
              <a:cs typeface="Calibri"/>
            </a:endParaRPr>
          </a:p>
          <a:p>
            <a:pPr algn="ctr">
              <a:lnSpc>
                <a:spcPct val="100000"/>
              </a:lnSpc>
              <a:spcBef>
                <a:spcPts val="1205"/>
              </a:spcBef>
            </a:pPr>
            <a:r>
              <a:rPr sz="950" dirty="0">
                <a:solidFill>
                  <a:srgbClr val="6D6D6D"/>
                </a:solidFill>
                <a:latin typeface="Calibri"/>
                <a:cs typeface="Calibri"/>
              </a:rPr>
              <a:t>RAW</a:t>
            </a:r>
            <a:r>
              <a:rPr sz="950" spc="175" dirty="0">
                <a:solidFill>
                  <a:srgbClr val="6D6D6D"/>
                </a:solidFill>
                <a:latin typeface="Calibri"/>
                <a:cs typeface="Calibri"/>
              </a:rPr>
              <a:t> </a:t>
            </a:r>
            <a:r>
              <a:rPr sz="950" spc="-10" dirty="0">
                <a:solidFill>
                  <a:srgbClr val="6D6D6D"/>
                </a:solidFill>
                <a:latin typeface="Calibri"/>
                <a:cs typeface="Calibri"/>
              </a:rPr>
              <a:t>RECORDS</a:t>
            </a:r>
            <a:endParaRPr sz="950" dirty="0">
              <a:latin typeface="Calibri"/>
              <a:cs typeface="Calibri"/>
            </a:endParaRPr>
          </a:p>
        </p:txBody>
      </p:sp>
      <p:grpSp>
        <p:nvGrpSpPr>
          <p:cNvPr id="9" name="object 9"/>
          <p:cNvGrpSpPr/>
          <p:nvPr/>
        </p:nvGrpSpPr>
        <p:grpSpPr>
          <a:xfrm>
            <a:off x="2758439" y="1310601"/>
            <a:ext cx="2218690" cy="1167130"/>
            <a:chOff x="2758439" y="1310601"/>
            <a:chExt cx="2218690" cy="1167130"/>
          </a:xfrm>
        </p:grpSpPr>
        <p:pic>
          <p:nvPicPr>
            <p:cNvPr id="10" name="object 10"/>
            <p:cNvPicPr/>
            <p:nvPr/>
          </p:nvPicPr>
          <p:blipFill>
            <a:blip r:embed="rId2" cstate="print"/>
            <a:stretch>
              <a:fillRect/>
            </a:stretch>
          </p:blipFill>
          <p:spPr>
            <a:xfrm>
              <a:off x="2758439" y="1310601"/>
              <a:ext cx="2218563" cy="1167041"/>
            </a:xfrm>
            <a:prstGeom prst="rect">
              <a:avLst/>
            </a:prstGeom>
          </p:spPr>
        </p:pic>
        <p:sp>
          <p:nvSpPr>
            <p:cNvPr id="11" name="object 11"/>
            <p:cNvSpPr/>
            <p:nvPr/>
          </p:nvSpPr>
          <p:spPr>
            <a:xfrm>
              <a:off x="2843783" y="1371599"/>
              <a:ext cx="2057400" cy="1005840"/>
            </a:xfrm>
            <a:custGeom>
              <a:avLst/>
              <a:gdLst/>
              <a:ahLst/>
              <a:cxnLst/>
              <a:rect l="l" t="t" r="r" b="b"/>
              <a:pathLst>
                <a:path w="2057400" h="1005839">
                  <a:moveTo>
                    <a:pt x="1984248" y="0"/>
                  </a:moveTo>
                  <a:lnTo>
                    <a:pt x="73152" y="0"/>
                  </a:lnTo>
                  <a:lnTo>
                    <a:pt x="44684" y="5750"/>
                  </a:lnTo>
                  <a:lnTo>
                    <a:pt x="21431" y="21431"/>
                  </a:lnTo>
                  <a:lnTo>
                    <a:pt x="5750" y="44684"/>
                  </a:lnTo>
                  <a:lnTo>
                    <a:pt x="0" y="73151"/>
                  </a:lnTo>
                  <a:lnTo>
                    <a:pt x="0" y="932688"/>
                  </a:lnTo>
                  <a:lnTo>
                    <a:pt x="5750" y="961155"/>
                  </a:lnTo>
                  <a:lnTo>
                    <a:pt x="21431" y="984408"/>
                  </a:lnTo>
                  <a:lnTo>
                    <a:pt x="44684" y="1000089"/>
                  </a:lnTo>
                  <a:lnTo>
                    <a:pt x="73152"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12" name="object 12"/>
            <p:cNvSpPr/>
            <p:nvPr/>
          </p:nvSpPr>
          <p:spPr>
            <a:xfrm>
              <a:off x="2843783" y="1371599"/>
              <a:ext cx="2057400" cy="1005840"/>
            </a:xfrm>
            <a:custGeom>
              <a:avLst/>
              <a:gdLst/>
              <a:ahLst/>
              <a:cxnLst/>
              <a:rect l="l" t="t" r="r" b="b"/>
              <a:pathLst>
                <a:path w="2057400" h="1005839">
                  <a:moveTo>
                    <a:pt x="0" y="73151"/>
                  </a:moveTo>
                  <a:lnTo>
                    <a:pt x="5750" y="44684"/>
                  </a:lnTo>
                  <a:lnTo>
                    <a:pt x="21431" y="21431"/>
                  </a:lnTo>
                  <a:lnTo>
                    <a:pt x="44684" y="5750"/>
                  </a:lnTo>
                  <a:lnTo>
                    <a:pt x="73152"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2"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3323971" y="1519809"/>
            <a:ext cx="1095375" cy="689610"/>
          </a:xfrm>
          <a:prstGeom prst="rect">
            <a:avLst/>
          </a:prstGeom>
        </p:spPr>
        <p:txBody>
          <a:bodyPr vert="horz" wrap="square" lIns="0" tIns="12700" rIns="0" bIns="0" rtlCol="0">
            <a:spAutoFit/>
          </a:bodyPr>
          <a:lstStyle/>
          <a:p>
            <a:pPr marL="3810" algn="ctr">
              <a:lnSpc>
                <a:spcPct val="100000"/>
              </a:lnSpc>
              <a:spcBef>
                <a:spcPts val="100"/>
              </a:spcBef>
            </a:pPr>
            <a:r>
              <a:rPr lang="en-IN" sz="2400" b="1" spc="-25" dirty="0">
                <a:solidFill>
                  <a:srgbClr val="C00000"/>
                </a:solidFill>
                <a:latin typeface="Calibri"/>
                <a:cs typeface="Calibri"/>
              </a:rPr>
              <a:t>9</a:t>
            </a:r>
            <a:endParaRPr sz="2400" dirty="0">
              <a:latin typeface="Calibri"/>
              <a:cs typeface="Calibri"/>
            </a:endParaRPr>
          </a:p>
          <a:p>
            <a:pPr algn="ctr">
              <a:lnSpc>
                <a:spcPct val="100000"/>
              </a:lnSpc>
              <a:spcBef>
                <a:spcPts val="1205"/>
              </a:spcBef>
            </a:pPr>
            <a:r>
              <a:rPr sz="950" spc="10" dirty="0">
                <a:solidFill>
                  <a:srgbClr val="6D6D6D"/>
                </a:solidFill>
                <a:latin typeface="Calibri"/>
                <a:cs typeface="Calibri"/>
              </a:rPr>
              <a:t>FEATURE</a:t>
            </a:r>
            <a:r>
              <a:rPr sz="950" spc="270" dirty="0">
                <a:solidFill>
                  <a:srgbClr val="6D6D6D"/>
                </a:solidFill>
                <a:latin typeface="Calibri"/>
                <a:cs typeface="Calibri"/>
              </a:rPr>
              <a:t> </a:t>
            </a:r>
            <a:r>
              <a:rPr sz="950" spc="-10" dirty="0">
                <a:solidFill>
                  <a:srgbClr val="6D6D6D"/>
                </a:solidFill>
                <a:latin typeface="Calibri"/>
                <a:cs typeface="Calibri"/>
              </a:rPr>
              <a:t>COLUMNS</a:t>
            </a:r>
            <a:endParaRPr sz="950" dirty="0">
              <a:latin typeface="Calibri"/>
              <a:cs typeface="Calibri"/>
            </a:endParaRPr>
          </a:p>
        </p:txBody>
      </p:sp>
      <p:grpSp>
        <p:nvGrpSpPr>
          <p:cNvPr id="14" name="object 14"/>
          <p:cNvGrpSpPr/>
          <p:nvPr/>
        </p:nvGrpSpPr>
        <p:grpSpPr>
          <a:xfrm>
            <a:off x="4980432" y="1310601"/>
            <a:ext cx="2218690" cy="1167130"/>
            <a:chOff x="4980432" y="1310601"/>
            <a:chExt cx="2218690" cy="1167130"/>
          </a:xfrm>
        </p:grpSpPr>
        <p:pic>
          <p:nvPicPr>
            <p:cNvPr id="15" name="object 15"/>
            <p:cNvPicPr/>
            <p:nvPr/>
          </p:nvPicPr>
          <p:blipFill>
            <a:blip r:embed="rId2" cstate="print"/>
            <a:stretch>
              <a:fillRect/>
            </a:stretch>
          </p:blipFill>
          <p:spPr>
            <a:xfrm>
              <a:off x="4980432" y="1310601"/>
              <a:ext cx="2218563" cy="1167041"/>
            </a:xfrm>
            <a:prstGeom prst="rect">
              <a:avLst/>
            </a:prstGeom>
          </p:spPr>
        </p:pic>
        <p:sp>
          <p:nvSpPr>
            <p:cNvPr id="16" name="object 16"/>
            <p:cNvSpPr/>
            <p:nvPr/>
          </p:nvSpPr>
          <p:spPr>
            <a:xfrm>
              <a:off x="5065776"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17" name="object 17"/>
            <p:cNvSpPr/>
            <p:nvPr/>
          </p:nvSpPr>
          <p:spPr>
            <a:xfrm>
              <a:off x="5065776"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18" name="object 18"/>
          <p:cNvSpPr txBox="1"/>
          <p:nvPr/>
        </p:nvSpPr>
        <p:spPr>
          <a:xfrm>
            <a:off x="5747765" y="1519809"/>
            <a:ext cx="693420" cy="689610"/>
          </a:xfrm>
          <a:prstGeom prst="rect">
            <a:avLst/>
          </a:prstGeom>
        </p:spPr>
        <p:txBody>
          <a:bodyPr vert="horz" wrap="square" lIns="0" tIns="12700" rIns="0" bIns="0" rtlCol="0">
            <a:spAutoFit/>
          </a:bodyPr>
          <a:lstStyle/>
          <a:p>
            <a:pPr marL="5080" algn="ctr">
              <a:lnSpc>
                <a:spcPct val="100000"/>
              </a:lnSpc>
              <a:spcBef>
                <a:spcPts val="100"/>
              </a:spcBef>
            </a:pPr>
            <a:r>
              <a:rPr lang="en-IN" sz="2400" b="1" spc="-50" dirty="0">
                <a:solidFill>
                  <a:srgbClr val="C00000"/>
                </a:solidFill>
                <a:latin typeface="Calibri"/>
                <a:cs typeface="Calibri"/>
              </a:rPr>
              <a:t>0</a:t>
            </a:r>
            <a:endParaRPr sz="2400" dirty="0">
              <a:latin typeface="Calibri"/>
              <a:cs typeface="Calibri"/>
            </a:endParaRPr>
          </a:p>
          <a:p>
            <a:pPr algn="ctr">
              <a:lnSpc>
                <a:spcPct val="100000"/>
              </a:lnSpc>
              <a:spcBef>
                <a:spcPts val="1205"/>
              </a:spcBef>
            </a:pPr>
            <a:r>
              <a:rPr sz="950" spc="35" dirty="0">
                <a:solidFill>
                  <a:srgbClr val="6D6D6D"/>
                </a:solidFill>
                <a:latin typeface="Calibri"/>
                <a:cs typeface="Calibri"/>
              </a:rPr>
              <a:t>DUPLICATES</a:t>
            </a:r>
            <a:endParaRPr sz="950" dirty="0">
              <a:latin typeface="Calibri"/>
              <a:cs typeface="Calibri"/>
            </a:endParaRPr>
          </a:p>
        </p:txBody>
      </p:sp>
      <p:grpSp>
        <p:nvGrpSpPr>
          <p:cNvPr id="19" name="object 19"/>
          <p:cNvGrpSpPr/>
          <p:nvPr/>
        </p:nvGrpSpPr>
        <p:grpSpPr>
          <a:xfrm>
            <a:off x="7202423" y="1310601"/>
            <a:ext cx="2218690" cy="1167130"/>
            <a:chOff x="7202423" y="1310601"/>
            <a:chExt cx="2218690" cy="1167130"/>
          </a:xfrm>
        </p:grpSpPr>
        <p:pic>
          <p:nvPicPr>
            <p:cNvPr id="20" name="object 20"/>
            <p:cNvPicPr/>
            <p:nvPr/>
          </p:nvPicPr>
          <p:blipFill>
            <a:blip r:embed="rId2" cstate="print"/>
            <a:stretch>
              <a:fillRect/>
            </a:stretch>
          </p:blipFill>
          <p:spPr>
            <a:xfrm>
              <a:off x="7202423" y="1310601"/>
              <a:ext cx="2218562" cy="1167041"/>
            </a:xfrm>
            <a:prstGeom prst="rect">
              <a:avLst/>
            </a:prstGeom>
          </p:spPr>
        </p:pic>
        <p:sp>
          <p:nvSpPr>
            <p:cNvPr id="21" name="object 21"/>
            <p:cNvSpPr/>
            <p:nvPr/>
          </p:nvSpPr>
          <p:spPr>
            <a:xfrm>
              <a:off x="7287767"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22" name="object 22"/>
            <p:cNvSpPr/>
            <p:nvPr/>
          </p:nvSpPr>
          <p:spPr>
            <a:xfrm>
              <a:off x="7287767"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23" name="object 23"/>
          <p:cNvSpPr txBox="1"/>
          <p:nvPr/>
        </p:nvSpPr>
        <p:spPr>
          <a:xfrm>
            <a:off x="7897114" y="1519809"/>
            <a:ext cx="839469" cy="689610"/>
          </a:xfrm>
          <a:prstGeom prst="rect">
            <a:avLst/>
          </a:prstGeom>
        </p:spPr>
        <p:txBody>
          <a:bodyPr vert="horz" wrap="square" lIns="0" tIns="12700" rIns="0" bIns="0" rtlCol="0">
            <a:spAutoFit/>
          </a:bodyPr>
          <a:lstStyle/>
          <a:p>
            <a:pPr marL="5080" algn="ctr">
              <a:lnSpc>
                <a:spcPct val="100000"/>
              </a:lnSpc>
              <a:spcBef>
                <a:spcPts val="100"/>
              </a:spcBef>
            </a:pPr>
            <a:r>
              <a:rPr lang="en-IN" sz="2400" b="1" spc="-50" dirty="0">
                <a:solidFill>
                  <a:srgbClr val="C00000"/>
                </a:solidFill>
                <a:latin typeface="Calibri"/>
                <a:cs typeface="Calibri"/>
              </a:rPr>
              <a:t>0</a:t>
            </a:r>
            <a:endParaRPr sz="2400" dirty="0">
              <a:latin typeface="Calibri"/>
              <a:cs typeface="Calibri"/>
            </a:endParaRPr>
          </a:p>
          <a:p>
            <a:pPr algn="ctr">
              <a:lnSpc>
                <a:spcPct val="100000"/>
              </a:lnSpc>
              <a:spcBef>
                <a:spcPts val="1205"/>
              </a:spcBef>
            </a:pPr>
            <a:r>
              <a:rPr sz="950" dirty="0">
                <a:solidFill>
                  <a:srgbClr val="6D6D6D"/>
                </a:solidFill>
                <a:latin typeface="Calibri"/>
                <a:cs typeface="Calibri"/>
              </a:rPr>
              <a:t>MISSING</a:t>
            </a:r>
            <a:r>
              <a:rPr sz="950" spc="350" dirty="0">
                <a:solidFill>
                  <a:srgbClr val="6D6D6D"/>
                </a:solidFill>
                <a:latin typeface="Calibri"/>
                <a:cs typeface="Calibri"/>
              </a:rPr>
              <a:t> </a:t>
            </a:r>
            <a:r>
              <a:rPr sz="950" spc="-10" dirty="0">
                <a:solidFill>
                  <a:srgbClr val="6D6D6D"/>
                </a:solidFill>
                <a:latin typeface="Calibri"/>
                <a:cs typeface="Calibri"/>
              </a:rPr>
              <a:t>CELLS</a:t>
            </a:r>
            <a:endParaRPr sz="950" dirty="0">
              <a:latin typeface="Calibri"/>
              <a:cs typeface="Calibri"/>
            </a:endParaRPr>
          </a:p>
        </p:txBody>
      </p:sp>
      <p:grpSp>
        <p:nvGrpSpPr>
          <p:cNvPr id="24" name="object 24"/>
          <p:cNvGrpSpPr/>
          <p:nvPr/>
        </p:nvGrpSpPr>
        <p:grpSpPr>
          <a:xfrm>
            <a:off x="9424416" y="1310601"/>
            <a:ext cx="2218690" cy="1167130"/>
            <a:chOff x="9424416" y="1310601"/>
            <a:chExt cx="2218690" cy="1167130"/>
          </a:xfrm>
        </p:grpSpPr>
        <p:pic>
          <p:nvPicPr>
            <p:cNvPr id="25" name="object 25"/>
            <p:cNvPicPr/>
            <p:nvPr/>
          </p:nvPicPr>
          <p:blipFill>
            <a:blip r:embed="rId2" cstate="print"/>
            <a:stretch>
              <a:fillRect/>
            </a:stretch>
          </p:blipFill>
          <p:spPr>
            <a:xfrm>
              <a:off x="9424416" y="1310601"/>
              <a:ext cx="2218562" cy="1167041"/>
            </a:xfrm>
            <a:prstGeom prst="rect">
              <a:avLst/>
            </a:prstGeom>
          </p:spPr>
        </p:pic>
        <p:sp>
          <p:nvSpPr>
            <p:cNvPr id="26" name="object 26"/>
            <p:cNvSpPr/>
            <p:nvPr/>
          </p:nvSpPr>
          <p:spPr>
            <a:xfrm>
              <a:off x="9509760"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27" name="object 27"/>
            <p:cNvSpPr/>
            <p:nvPr/>
          </p:nvSpPr>
          <p:spPr>
            <a:xfrm>
              <a:off x="9509760"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28" name="object 28"/>
          <p:cNvSpPr txBox="1"/>
          <p:nvPr/>
        </p:nvSpPr>
        <p:spPr>
          <a:xfrm>
            <a:off x="10051668" y="1527181"/>
            <a:ext cx="974980" cy="682238"/>
          </a:xfrm>
          <a:prstGeom prst="rect">
            <a:avLst/>
          </a:prstGeom>
        </p:spPr>
        <p:txBody>
          <a:bodyPr vert="horz" wrap="square" lIns="0" tIns="12700" rIns="0" bIns="0" rtlCol="0">
            <a:spAutoFit/>
          </a:bodyPr>
          <a:lstStyle/>
          <a:p>
            <a:pPr marL="4445" algn="ctr">
              <a:lnSpc>
                <a:spcPct val="100000"/>
              </a:lnSpc>
              <a:spcBef>
                <a:spcPts val="100"/>
              </a:spcBef>
            </a:pPr>
            <a:r>
              <a:rPr lang="en-IN" sz="2400" b="1" spc="-50" dirty="0">
                <a:solidFill>
                  <a:srgbClr val="C00000"/>
                </a:solidFill>
                <a:latin typeface="Calibri"/>
                <a:cs typeface="Calibri"/>
              </a:rPr>
              <a:t>1</a:t>
            </a:r>
            <a:endParaRPr sz="2400" dirty="0">
              <a:latin typeface="Calibri"/>
              <a:cs typeface="Calibri"/>
            </a:endParaRPr>
          </a:p>
          <a:p>
            <a:pPr algn="ctr">
              <a:lnSpc>
                <a:spcPct val="100000"/>
              </a:lnSpc>
              <a:spcBef>
                <a:spcPts val="1205"/>
              </a:spcBef>
            </a:pPr>
            <a:r>
              <a:rPr lang="en-IN" sz="950" spc="-10" dirty="0">
                <a:solidFill>
                  <a:srgbClr val="6D6D6D"/>
                </a:solidFill>
                <a:latin typeface="Calibri"/>
                <a:cs typeface="Calibri"/>
              </a:rPr>
              <a:t>TARGET VARIABLE</a:t>
            </a:r>
            <a:endParaRPr sz="950" dirty="0">
              <a:latin typeface="Calibri"/>
              <a:cs typeface="Calibri"/>
            </a:endParaRPr>
          </a:p>
        </p:txBody>
      </p:sp>
      <p:grpSp>
        <p:nvGrpSpPr>
          <p:cNvPr id="29" name="object 29"/>
          <p:cNvGrpSpPr/>
          <p:nvPr/>
        </p:nvGrpSpPr>
        <p:grpSpPr>
          <a:xfrm>
            <a:off x="554736" y="2636507"/>
            <a:ext cx="11069955" cy="3041650"/>
            <a:chOff x="554736" y="2636507"/>
            <a:chExt cx="11069955" cy="3041650"/>
          </a:xfrm>
        </p:grpSpPr>
        <p:pic>
          <p:nvPicPr>
            <p:cNvPr id="30" name="object 30"/>
            <p:cNvPicPr/>
            <p:nvPr/>
          </p:nvPicPr>
          <p:blipFill>
            <a:blip r:embed="rId3" cstate="print"/>
            <a:stretch>
              <a:fillRect/>
            </a:stretch>
          </p:blipFill>
          <p:spPr>
            <a:xfrm>
              <a:off x="554736" y="2636507"/>
              <a:ext cx="11069955" cy="3041523"/>
            </a:xfrm>
            <a:prstGeom prst="rect">
              <a:avLst/>
            </a:prstGeom>
          </p:spPr>
        </p:pic>
        <p:sp>
          <p:nvSpPr>
            <p:cNvPr id="31" name="object 31"/>
            <p:cNvSpPr/>
            <p:nvPr/>
          </p:nvSpPr>
          <p:spPr>
            <a:xfrm>
              <a:off x="640080" y="2697479"/>
              <a:ext cx="10909300" cy="2880360"/>
            </a:xfrm>
            <a:custGeom>
              <a:avLst/>
              <a:gdLst/>
              <a:ahLst/>
              <a:cxnLst/>
              <a:rect l="l" t="t" r="r" b="b"/>
              <a:pathLst>
                <a:path w="10909300" h="2880360">
                  <a:moveTo>
                    <a:pt x="10835640" y="0"/>
                  </a:moveTo>
                  <a:lnTo>
                    <a:pt x="73164" y="0"/>
                  </a:lnTo>
                  <a:lnTo>
                    <a:pt x="44684" y="5750"/>
                  </a:lnTo>
                  <a:lnTo>
                    <a:pt x="21428" y="21431"/>
                  </a:lnTo>
                  <a:lnTo>
                    <a:pt x="5749" y="44684"/>
                  </a:lnTo>
                  <a:lnTo>
                    <a:pt x="0" y="73152"/>
                  </a:lnTo>
                  <a:lnTo>
                    <a:pt x="0" y="2807208"/>
                  </a:lnTo>
                  <a:lnTo>
                    <a:pt x="5749" y="2835675"/>
                  </a:lnTo>
                  <a:lnTo>
                    <a:pt x="21428" y="2858928"/>
                  </a:lnTo>
                  <a:lnTo>
                    <a:pt x="44684" y="2874609"/>
                  </a:lnTo>
                  <a:lnTo>
                    <a:pt x="73164" y="2880360"/>
                  </a:lnTo>
                  <a:lnTo>
                    <a:pt x="10835640" y="2880360"/>
                  </a:lnTo>
                  <a:lnTo>
                    <a:pt x="10864107" y="2874609"/>
                  </a:lnTo>
                  <a:lnTo>
                    <a:pt x="10887360" y="2858928"/>
                  </a:lnTo>
                  <a:lnTo>
                    <a:pt x="10903041" y="2835675"/>
                  </a:lnTo>
                  <a:lnTo>
                    <a:pt x="10908792" y="2807208"/>
                  </a:lnTo>
                  <a:lnTo>
                    <a:pt x="10908792" y="73152"/>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a:p>
          </p:txBody>
        </p:sp>
        <p:sp>
          <p:nvSpPr>
            <p:cNvPr id="32" name="object 32"/>
            <p:cNvSpPr/>
            <p:nvPr/>
          </p:nvSpPr>
          <p:spPr>
            <a:xfrm>
              <a:off x="640080" y="2697479"/>
              <a:ext cx="10909300" cy="2880360"/>
            </a:xfrm>
            <a:custGeom>
              <a:avLst/>
              <a:gdLst/>
              <a:ahLst/>
              <a:cxnLst/>
              <a:rect l="l" t="t" r="r" b="b"/>
              <a:pathLst>
                <a:path w="10909300" h="2880360">
                  <a:moveTo>
                    <a:pt x="0" y="73152"/>
                  </a:moveTo>
                  <a:lnTo>
                    <a:pt x="5749" y="44684"/>
                  </a:lnTo>
                  <a:lnTo>
                    <a:pt x="21428" y="21431"/>
                  </a:lnTo>
                  <a:lnTo>
                    <a:pt x="44684" y="5750"/>
                  </a:lnTo>
                  <a:lnTo>
                    <a:pt x="73164" y="0"/>
                  </a:lnTo>
                  <a:lnTo>
                    <a:pt x="10835640" y="0"/>
                  </a:lnTo>
                  <a:lnTo>
                    <a:pt x="10864107" y="5750"/>
                  </a:lnTo>
                  <a:lnTo>
                    <a:pt x="10887360" y="21431"/>
                  </a:lnTo>
                  <a:lnTo>
                    <a:pt x="10903041" y="44684"/>
                  </a:lnTo>
                  <a:lnTo>
                    <a:pt x="10908792" y="73152"/>
                  </a:lnTo>
                  <a:lnTo>
                    <a:pt x="10908792" y="2807208"/>
                  </a:lnTo>
                  <a:lnTo>
                    <a:pt x="10903041" y="2835675"/>
                  </a:lnTo>
                  <a:lnTo>
                    <a:pt x="10887360" y="2858928"/>
                  </a:lnTo>
                  <a:lnTo>
                    <a:pt x="10864107" y="2874609"/>
                  </a:lnTo>
                  <a:lnTo>
                    <a:pt x="10835640" y="2880360"/>
                  </a:lnTo>
                  <a:lnTo>
                    <a:pt x="73164" y="2880360"/>
                  </a:lnTo>
                  <a:lnTo>
                    <a:pt x="44684" y="2874609"/>
                  </a:lnTo>
                  <a:lnTo>
                    <a:pt x="21428" y="2858928"/>
                  </a:lnTo>
                  <a:lnTo>
                    <a:pt x="5749" y="2835675"/>
                  </a:lnTo>
                  <a:lnTo>
                    <a:pt x="0" y="2807208"/>
                  </a:lnTo>
                  <a:lnTo>
                    <a:pt x="0" y="73152"/>
                  </a:lnTo>
                  <a:close/>
                </a:path>
              </a:pathLst>
            </a:custGeom>
            <a:ln w="12192">
              <a:solidFill>
                <a:srgbClr val="DDD2C4"/>
              </a:solidFill>
            </a:ln>
          </p:spPr>
          <p:txBody>
            <a:bodyPr wrap="square" lIns="0" tIns="0" rIns="0" bIns="0" rtlCol="0"/>
            <a:lstStyle/>
            <a:p>
              <a:endParaRPr/>
            </a:p>
          </p:txBody>
        </p:sp>
      </p:grpSp>
      <p:sp>
        <p:nvSpPr>
          <p:cNvPr id="33" name="object 33"/>
          <p:cNvSpPr txBox="1">
            <a:spLocks noGrp="1"/>
          </p:cNvSpPr>
          <p:nvPr>
            <p:ph type="body" idx="1"/>
          </p:nvPr>
        </p:nvSpPr>
        <p:spPr>
          <a:xfrm>
            <a:off x="947724" y="2981960"/>
            <a:ext cx="6196330" cy="2532745"/>
          </a:xfrm>
          <a:prstGeom prst="rect">
            <a:avLst/>
          </a:prstGeom>
        </p:spPr>
        <p:txBody>
          <a:bodyPr vert="horz" wrap="square" lIns="0" tIns="11430" rIns="0" bIns="0" rtlCol="0">
            <a:spAutoFit/>
          </a:bodyPr>
          <a:lstStyle/>
          <a:p>
            <a:pPr marL="12700">
              <a:lnSpc>
                <a:spcPct val="100000"/>
              </a:lnSpc>
              <a:spcBef>
                <a:spcPts val="90"/>
              </a:spcBef>
            </a:pPr>
            <a:r>
              <a:rPr dirty="0"/>
              <a:t>EDA</a:t>
            </a:r>
            <a:r>
              <a:rPr spc="-55" dirty="0"/>
              <a:t> </a:t>
            </a:r>
            <a:r>
              <a:rPr spc="-10" dirty="0"/>
              <a:t>PROCESS</a:t>
            </a:r>
            <a:endParaRPr lang="en-IN" spc="-10" dirty="0"/>
          </a:p>
          <a:p>
            <a:pPr marL="12700">
              <a:lnSpc>
                <a:spcPct val="100000"/>
              </a:lnSpc>
              <a:spcBef>
                <a:spcPts val="90"/>
              </a:spcBef>
            </a:pPr>
            <a:endParaRPr spc="-10" dirty="0"/>
          </a:p>
          <a:p>
            <a:pPr marL="171450" lvl="0" indent="-171450">
              <a:buFont typeface="Arial" panose="020B0604020202020204" pitchFamily="34" charset="0"/>
              <a:buChar char="•"/>
            </a:pPr>
            <a:r>
              <a:rPr lang="en-IN" sz="1200" b="0" dirty="0">
                <a:solidFill>
                  <a:schemeClr val="tx1"/>
                </a:solidFill>
              </a:rPr>
              <a:t>Inspect dataset dimensions, feature names, and data types </a:t>
            </a:r>
          </a:p>
          <a:p>
            <a:pPr marL="171450" lvl="0" indent="-171450">
              <a:buFont typeface="Arial" panose="020B0604020202020204" pitchFamily="34" charset="0"/>
              <a:buChar char="•"/>
            </a:pPr>
            <a:r>
              <a:rPr lang="en-IN" sz="1200" b="0" dirty="0">
                <a:solidFill>
                  <a:schemeClr val="tx1"/>
                </a:solidFill>
              </a:rPr>
              <a:t>Check missing values and duplicate records </a:t>
            </a:r>
          </a:p>
          <a:p>
            <a:pPr marL="171450" lvl="0" indent="-171450">
              <a:buFont typeface="Arial" panose="020B0604020202020204" pitchFamily="34" charset="0"/>
              <a:buChar char="•"/>
            </a:pPr>
            <a:r>
              <a:rPr lang="en-IN" sz="1200" b="0" dirty="0" err="1">
                <a:solidFill>
                  <a:schemeClr val="tx1"/>
                </a:solidFill>
              </a:rPr>
              <a:t>Analyze</a:t>
            </a:r>
            <a:r>
              <a:rPr lang="en-IN" sz="1200" b="0" dirty="0">
                <a:solidFill>
                  <a:schemeClr val="tx1"/>
                </a:solidFill>
              </a:rPr>
              <a:t> categorical features such as State, Crop, and Season </a:t>
            </a:r>
          </a:p>
          <a:p>
            <a:pPr marL="171450" lvl="0" indent="-171450">
              <a:buFont typeface="Arial" panose="020B0604020202020204" pitchFamily="34" charset="0"/>
              <a:buChar char="•"/>
            </a:pPr>
            <a:r>
              <a:rPr lang="en-IN" sz="1200" b="0" dirty="0">
                <a:solidFill>
                  <a:schemeClr val="tx1"/>
                </a:solidFill>
              </a:rPr>
              <a:t>Examine numerical features such as Area, Production, Rainfall, Fertilizer, and Pesticide </a:t>
            </a:r>
          </a:p>
          <a:p>
            <a:pPr marL="171450" lvl="0" indent="-171450">
              <a:buFont typeface="Arial" panose="020B0604020202020204" pitchFamily="34" charset="0"/>
              <a:buChar char="•"/>
            </a:pPr>
            <a:r>
              <a:rPr lang="en-IN" sz="1200" b="0" dirty="0" err="1">
                <a:solidFill>
                  <a:schemeClr val="tx1"/>
                </a:solidFill>
              </a:rPr>
              <a:t>Analyze</a:t>
            </a:r>
            <a:r>
              <a:rPr lang="en-IN" sz="1200" b="0" dirty="0">
                <a:solidFill>
                  <a:schemeClr val="tx1"/>
                </a:solidFill>
              </a:rPr>
              <a:t> the distribution of the Yield target variable </a:t>
            </a:r>
          </a:p>
          <a:p>
            <a:pPr marL="171450" lvl="0" indent="-171450">
              <a:buFont typeface="Arial" panose="020B0604020202020204" pitchFamily="34" charset="0"/>
              <a:buChar char="•"/>
            </a:pPr>
            <a:r>
              <a:rPr lang="en-IN" sz="1200" b="0" dirty="0">
                <a:solidFill>
                  <a:schemeClr val="tx1"/>
                </a:solidFill>
              </a:rPr>
              <a:t>Visualize feature distributions, boxplots, and correlations </a:t>
            </a:r>
          </a:p>
          <a:p>
            <a:pPr marL="171450" lvl="0" indent="-171450">
              <a:buFont typeface="Arial" panose="020B0604020202020204" pitchFamily="34" charset="0"/>
              <a:buChar char="•"/>
            </a:pPr>
            <a:r>
              <a:rPr lang="en-IN" sz="1200" b="0" dirty="0">
                <a:solidFill>
                  <a:schemeClr val="tx1"/>
                </a:solidFill>
              </a:rPr>
              <a:t>Identify important factors affecting crop yield</a:t>
            </a:r>
          </a:p>
          <a:p>
            <a:pPr>
              <a:lnSpc>
                <a:spcPct val="100000"/>
              </a:lnSpc>
              <a:spcBef>
                <a:spcPts val="1160"/>
              </a:spcBef>
            </a:pPr>
            <a:endParaRPr sz="1300" dirty="0">
              <a:latin typeface="Calibri"/>
              <a:cs typeface="Calibri"/>
            </a:endParaRPr>
          </a:p>
          <a:p>
            <a:pPr marL="12700">
              <a:lnSpc>
                <a:spcPct val="100000"/>
              </a:lnSpc>
            </a:pPr>
            <a:r>
              <a:rPr lang="en-IN" sz="1200" b="0" i="1" dirty="0"/>
              <a:t>The dataset contains 17,400 records and 10 total columns, including 9 input features and the Yield target. No missing values or duplicate records were found.</a:t>
            </a:r>
            <a:r>
              <a:rPr sz="1150" b="0" i="1" spc="-10" dirty="0">
                <a:solidFill>
                  <a:srgbClr val="B92431"/>
                </a:solidFill>
                <a:latin typeface="Calibri"/>
                <a:cs typeface="Calibri"/>
              </a:rPr>
              <a:t>.</a:t>
            </a:r>
            <a:endParaRPr sz="1150" b="0" i="1" dirty="0">
              <a:latin typeface="Calibri"/>
              <a:cs typeface="Calibri"/>
            </a:endParaRPr>
          </a:p>
        </p:txBody>
      </p:sp>
      <p:sp>
        <p:nvSpPr>
          <p:cNvPr id="34" name="object 3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9</a:t>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269875">
              <a:lnSpc>
                <a:spcPct val="100000"/>
              </a:lnSpc>
              <a:spcBef>
                <a:spcPts val="105"/>
              </a:spcBef>
            </a:pPr>
            <a:r>
              <a:rPr dirty="0"/>
              <a:t>EDA</a:t>
            </a:r>
            <a:r>
              <a:rPr spc="-40" dirty="0"/>
              <a:t> </a:t>
            </a:r>
            <a:r>
              <a:rPr dirty="0"/>
              <a:t>•</a:t>
            </a:r>
            <a:r>
              <a:rPr spc="-15" dirty="0"/>
              <a:t> </a:t>
            </a:r>
            <a:r>
              <a:rPr dirty="0"/>
              <a:t>CLASS</a:t>
            </a:r>
            <a:r>
              <a:rPr spc="-60" dirty="0"/>
              <a:t> </a:t>
            </a:r>
            <a:r>
              <a:rPr spc="-10" dirty="0"/>
              <a:t>DISTRIBUTION</a:t>
            </a:r>
          </a:p>
        </p:txBody>
      </p:sp>
      <p:sp>
        <p:nvSpPr>
          <p:cNvPr id="3" name="object 3"/>
          <p:cNvSpPr txBox="1"/>
          <p:nvPr/>
        </p:nvSpPr>
        <p:spPr>
          <a:xfrm>
            <a:off x="4935473" y="933449"/>
            <a:ext cx="231521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Traffic</a:t>
            </a:r>
            <a:r>
              <a:rPr sz="1150" i="1" spc="-10" dirty="0">
                <a:solidFill>
                  <a:srgbClr val="6D6D6D"/>
                </a:solidFill>
                <a:latin typeface="Calibri"/>
                <a:cs typeface="Calibri"/>
              </a:rPr>
              <a:t> </a:t>
            </a:r>
            <a:r>
              <a:rPr sz="1150" i="1" dirty="0">
                <a:solidFill>
                  <a:srgbClr val="6D6D6D"/>
                </a:solidFill>
                <a:latin typeface="Calibri"/>
                <a:cs typeface="Calibri"/>
              </a:rPr>
              <a:t>balance</a:t>
            </a:r>
            <a:r>
              <a:rPr sz="1150" i="1" spc="-25" dirty="0">
                <a:solidFill>
                  <a:srgbClr val="6D6D6D"/>
                </a:solidFill>
                <a:latin typeface="Calibri"/>
                <a:cs typeface="Calibri"/>
              </a:rPr>
              <a:t> </a:t>
            </a:r>
            <a:r>
              <a:rPr sz="1150" i="1" dirty="0">
                <a:solidFill>
                  <a:srgbClr val="6D6D6D"/>
                </a:solidFill>
                <a:latin typeface="Calibri"/>
                <a:cs typeface="Calibri"/>
              </a:rPr>
              <a:t>after</a:t>
            </a:r>
            <a:r>
              <a:rPr sz="1150" i="1" spc="10" dirty="0">
                <a:solidFill>
                  <a:srgbClr val="6D6D6D"/>
                </a:solidFill>
                <a:latin typeface="Calibri"/>
                <a:cs typeface="Calibri"/>
              </a:rPr>
              <a:t> </a:t>
            </a:r>
            <a:r>
              <a:rPr sz="1150" i="1" spc="-10" dirty="0">
                <a:solidFill>
                  <a:srgbClr val="6D6D6D"/>
                </a:solidFill>
                <a:latin typeface="Calibri"/>
                <a:cs typeface="Calibri"/>
              </a:rPr>
              <a:t>duplicate</a:t>
            </a:r>
            <a:r>
              <a:rPr sz="1150" i="1" spc="-55" dirty="0">
                <a:solidFill>
                  <a:srgbClr val="6D6D6D"/>
                </a:solidFill>
                <a:latin typeface="Calibri"/>
                <a:cs typeface="Calibri"/>
              </a:rPr>
              <a:t> </a:t>
            </a:r>
            <a:r>
              <a:rPr sz="1150" i="1" spc="-10" dirty="0">
                <a:solidFill>
                  <a:srgbClr val="6D6D6D"/>
                </a:solidFill>
                <a:latin typeface="Calibri"/>
                <a:cs typeface="Calibri"/>
              </a:rPr>
              <a:t>removal</a:t>
            </a:r>
            <a:endParaRPr sz="1150">
              <a:latin typeface="Calibri"/>
              <a:cs typeface="Calibri"/>
            </a:endParaRPr>
          </a:p>
        </p:txBody>
      </p:sp>
      <p:grpSp>
        <p:nvGrpSpPr>
          <p:cNvPr id="9" name="object 9"/>
          <p:cNvGrpSpPr/>
          <p:nvPr/>
        </p:nvGrpSpPr>
        <p:grpSpPr>
          <a:xfrm>
            <a:off x="7229856" y="1310665"/>
            <a:ext cx="4394835" cy="4321810"/>
            <a:chOff x="7229856" y="1310665"/>
            <a:chExt cx="4394835" cy="4321810"/>
          </a:xfrm>
        </p:grpSpPr>
        <p:pic>
          <p:nvPicPr>
            <p:cNvPr id="10" name="object 10"/>
            <p:cNvPicPr/>
            <p:nvPr/>
          </p:nvPicPr>
          <p:blipFill>
            <a:blip r:embed="rId2" cstate="print"/>
            <a:stretch>
              <a:fillRect/>
            </a:stretch>
          </p:blipFill>
          <p:spPr>
            <a:xfrm>
              <a:off x="7229856" y="1310665"/>
              <a:ext cx="4394834" cy="4321683"/>
            </a:xfrm>
            <a:prstGeom prst="rect">
              <a:avLst/>
            </a:prstGeom>
          </p:spPr>
        </p:pic>
        <p:sp>
          <p:nvSpPr>
            <p:cNvPr id="11" name="object 11"/>
            <p:cNvSpPr/>
            <p:nvPr/>
          </p:nvSpPr>
          <p:spPr>
            <a:xfrm>
              <a:off x="7315200" y="1371600"/>
              <a:ext cx="4234180" cy="4160520"/>
            </a:xfrm>
            <a:custGeom>
              <a:avLst/>
              <a:gdLst/>
              <a:ahLst/>
              <a:cxnLst/>
              <a:rect l="l" t="t" r="r" b="b"/>
              <a:pathLst>
                <a:path w="4234180" h="4160520">
                  <a:moveTo>
                    <a:pt x="4160520"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4160520" y="4160520"/>
                  </a:lnTo>
                  <a:lnTo>
                    <a:pt x="4188987" y="4154769"/>
                  </a:lnTo>
                  <a:lnTo>
                    <a:pt x="4212240" y="4139088"/>
                  </a:lnTo>
                  <a:lnTo>
                    <a:pt x="4227921" y="4115835"/>
                  </a:lnTo>
                  <a:lnTo>
                    <a:pt x="4233672" y="4087368"/>
                  </a:lnTo>
                  <a:lnTo>
                    <a:pt x="4233672" y="73151"/>
                  </a:lnTo>
                  <a:lnTo>
                    <a:pt x="4227921" y="44684"/>
                  </a:lnTo>
                  <a:lnTo>
                    <a:pt x="4212240" y="21431"/>
                  </a:lnTo>
                  <a:lnTo>
                    <a:pt x="4188987" y="5750"/>
                  </a:lnTo>
                  <a:lnTo>
                    <a:pt x="4160520" y="0"/>
                  </a:lnTo>
                  <a:close/>
                </a:path>
              </a:pathLst>
            </a:custGeom>
            <a:solidFill>
              <a:srgbClr val="FFFFFF"/>
            </a:solidFill>
          </p:spPr>
          <p:txBody>
            <a:bodyPr wrap="square" lIns="0" tIns="0" rIns="0" bIns="0" rtlCol="0"/>
            <a:lstStyle/>
            <a:p>
              <a:endParaRPr/>
            </a:p>
          </p:txBody>
        </p:sp>
        <p:sp>
          <p:nvSpPr>
            <p:cNvPr id="12" name="object 12"/>
            <p:cNvSpPr/>
            <p:nvPr/>
          </p:nvSpPr>
          <p:spPr>
            <a:xfrm>
              <a:off x="7315200" y="1371600"/>
              <a:ext cx="4234180" cy="4160520"/>
            </a:xfrm>
            <a:custGeom>
              <a:avLst/>
              <a:gdLst/>
              <a:ahLst/>
              <a:cxnLst/>
              <a:rect l="l" t="t" r="r" b="b"/>
              <a:pathLst>
                <a:path w="4234180" h="4160520">
                  <a:moveTo>
                    <a:pt x="0" y="73151"/>
                  </a:moveTo>
                  <a:lnTo>
                    <a:pt x="5750" y="44684"/>
                  </a:lnTo>
                  <a:lnTo>
                    <a:pt x="21431" y="21431"/>
                  </a:lnTo>
                  <a:lnTo>
                    <a:pt x="44684" y="5750"/>
                  </a:lnTo>
                  <a:lnTo>
                    <a:pt x="73151" y="0"/>
                  </a:lnTo>
                  <a:lnTo>
                    <a:pt x="4160520" y="0"/>
                  </a:lnTo>
                  <a:lnTo>
                    <a:pt x="4188987" y="5750"/>
                  </a:lnTo>
                  <a:lnTo>
                    <a:pt x="4212240" y="21431"/>
                  </a:lnTo>
                  <a:lnTo>
                    <a:pt x="4227921" y="44684"/>
                  </a:lnTo>
                  <a:lnTo>
                    <a:pt x="4233672" y="73151"/>
                  </a:lnTo>
                  <a:lnTo>
                    <a:pt x="4233672" y="4087368"/>
                  </a:lnTo>
                  <a:lnTo>
                    <a:pt x="4227921" y="4115835"/>
                  </a:lnTo>
                  <a:lnTo>
                    <a:pt x="4212240" y="4139088"/>
                  </a:lnTo>
                  <a:lnTo>
                    <a:pt x="4188987" y="4154769"/>
                  </a:lnTo>
                  <a:lnTo>
                    <a:pt x="4160520" y="4160520"/>
                  </a:lnTo>
                  <a:lnTo>
                    <a:pt x="73151" y="4160520"/>
                  </a:lnTo>
                  <a:lnTo>
                    <a:pt x="44684" y="4154769"/>
                  </a:lnTo>
                  <a:lnTo>
                    <a:pt x="21431" y="4139088"/>
                  </a:lnTo>
                  <a:lnTo>
                    <a:pt x="5750" y="4115835"/>
                  </a:lnTo>
                  <a:lnTo>
                    <a:pt x="0" y="4087368"/>
                  </a:lnTo>
                  <a:lnTo>
                    <a:pt x="0" y="73151"/>
                  </a:lnTo>
                  <a:close/>
                </a:path>
                <a:path w="4234180" h="4160520">
                  <a:moveTo>
                    <a:pt x="457200" y="1874520"/>
                  </a:moveTo>
                  <a:lnTo>
                    <a:pt x="3776472" y="1874520"/>
                  </a:lnTo>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7703946" y="1651184"/>
            <a:ext cx="3452495" cy="3329757"/>
          </a:xfrm>
          <a:prstGeom prst="rect">
            <a:avLst/>
          </a:prstGeom>
        </p:spPr>
        <p:txBody>
          <a:bodyPr vert="horz" wrap="square" lIns="0" tIns="107314" rIns="0" bIns="0" rtlCol="0">
            <a:spAutoFit/>
          </a:bodyPr>
          <a:lstStyle/>
          <a:p>
            <a:pPr marL="8255" algn="ctr">
              <a:lnSpc>
                <a:spcPct val="100000"/>
              </a:lnSpc>
              <a:spcBef>
                <a:spcPts val="844"/>
              </a:spcBef>
            </a:pPr>
            <a:r>
              <a:rPr sz="1400" b="1" dirty="0">
                <a:solidFill>
                  <a:srgbClr val="C00000"/>
                </a:solidFill>
                <a:latin typeface="Calibri"/>
                <a:cs typeface="Calibri"/>
              </a:rPr>
              <a:t>CLEANED</a:t>
            </a:r>
            <a:r>
              <a:rPr sz="1400" b="1" spc="-65" dirty="0">
                <a:solidFill>
                  <a:srgbClr val="C00000"/>
                </a:solidFill>
                <a:latin typeface="Calibri"/>
                <a:cs typeface="Calibri"/>
              </a:rPr>
              <a:t> </a:t>
            </a:r>
            <a:r>
              <a:rPr sz="1400" b="1" spc="-10" dirty="0">
                <a:solidFill>
                  <a:srgbClr val="C00000"/>
                </a:solidFill>
                <a:latin typeface="Calibri"/>
                <a:cs typeface="Calibri"/>
              </a:rPr>
              <a:t>DATASET</a:t>
            </a:r>
            <a:endParaRPr sz="1400" dirty="0">
              <a:latin typeface="Calibri"/>
              <a:cs typeface="Calibri"/>
            </a:endParaRPr>
          </a:p>
          <a:p>
            <a:pPr>
              <a:lnSpc>
                <a:spcPct val="100000"/>
              </a:lnSpc>
              <a:spcBef>
                <a:spcPts val="145"/>
              </a:spcBef>
            </a:pPr>
            <a:endParaRPr sz="1400" dirty="0">
              <a:latin typeface="Calibri"/>
              <a:cs typeface="Calibri"/>
            </a:endParaRPr>
          </a:p>
          <a:p>
            <a:pPr marL="10795" algn="ctr">
              <a:lnSpc>
                <a:spcPct val="100000"/>
              </a:lnSpc>
            </a:pPr>
            <a:r>
              <a:rPr lang="en-IN" sz="3400" b="1" spc="-10" dirty="0">
                <a:solidFill>
                  <a:srgbClr val="252525"/>
                </a:solidFill>
                <a:latin typeface="Calibri"/>
                <a:cs typeface="Calibri"/>
              </a:rPr>
              <a:t>17,400</a:t>
            </a:r>
            <a:endParaRPr sz="3400" dirty="0">
              <a:latin typeface="Calibri"/>
              <a:cs typeface="Calibri"/>
            </a:endParaRPr>
          </a:p>
          <a:p>
            <a:pPr marL="10160" algn="ctr">
              <a:lnSpc>
                <a:spcPct val="100000"/>
              </a:lnSpc>
              <a:spcBef>
                <a:spcPts val="860"/>
              </a:spcBef>
            </a:pPr>
            <a:r>
              <a:rPr lang="en-IN" sz="1100" dirty="0">
                <a:solidFill>
                  <a:schemeClr val="tx1">
                    <a:lumMod val="65000"/>
                    <a:lumOff val="35000"/>
                  </a:schemeClr>
                </a:solidFill>
              </a:rPr>
              <a:t>crop-yield records</a:t>
            </a:r>
            <a:endParaRPr sz="1100" dirty="0">
              <a:solidFill>
                <a:schemeClr val="tx1">
                  <a:lumMod val="65000"/>
                  <a:lumOff val="35000"/>
                </a:schemeClr>
              </a:solidFill>
              <a:latin typeface="Calibri"/>
              <a:cs typeface="Calibri"/>
            </a:endParaRPr>
          </a:p>
          <a:p>
            <a:pPr>
              <a:lnSpc>
                <a:spcPct val="100000"/>
              </a:lnSpc>
            </a:pPr>
            <a:endParaRPr sz="1100" dirty="0">
              <a:latin typeface="Calibri"/>
              <a:cs typeface="Calibri"/>
            </a:endParaRPr>
          </a:p>
          <a:p>
            <a:pPr>
              <a:lnSpc>
                <a:spcPct val="100000"/>
              </a:lnSpc>
              <a:spcBef>
                <a:spcPts val="1205"/>
              </a:spcBef>
            </a:pPr>
            <a:endParaRPr sz="1100" dirty="0">
              <a:latin typeface="Calibri"/>
              <a:cs typeface="Calibri"/>
            </a:endParaRPr>
          </a:p>
          <a:p>
            <a:pPr marL="9525" algn="ctr">
              <a:lnSpc>
                <a:spcPct val="100000"/>
              </a:lnSpc>
            </a:pPr>
            <a:r>
              <a:rPr lang="en-IN" sz="1200" b="1" dirty="0">
                <a:solidFill>
                  <a:srgbClr val="C00000"/>
                </a:solidFill>
              </a:rPr>
              <a:t>0 • MISSING VALUES</a:t>
            </a:r>
          </a:p>
          <a:p>
            <a:pPr marL="9525" algn="ctr">
              <a:lnSpc>
                <a:spcPct val="100000"/>
              </a:lnSpc>
            </a:pPr>
            <a:endParaRPr lang="en-IN" sz="1200" b="1" dirty="0">
              <a:solidFill>
                <a:srgbClr val="C00000"/>
              </a:solidFill>
            </a:endParaRPr>
          </a:p>
          <a:p>
            <a:pPr marL="9525" algn="ctr">
              <a:lnSpc>
                <a:spcPct val="100000"/>
              </a:lnSpc>
            </a:pPr>
            <a:r>
              <a:rPr lang="en-IN" sz="1400" b="1" dirty="0">
                <a:solidFill>
                  <a:srgbClr val="0070C0"/>
                </a:solidFill>
              </a:rPr>
              <a:t>0 • DUPLICATE RECORDS</a:t>
            </a:r>
          </a:p>
          <a:p>
            <a:pPr marL="9525" algn="ctr">
              <a:lnSpc>
                <a:spcPct val="100000"/>
              </a:lnSpc>
            </a:pPr>
            <a:endParaRPr lang="en-IN" sz="1400" b="1" dirty="0">
              <a:solidFill>
                <a:srgbClr val="0070C0"/>
              </a:solidFill>
            </a:endParaRPr>
          </a:p>
          <a:p>
            <a:pPr marL="9525" algn="ctr"/>
            <a:r>
              <a:rPr lang="en-IN" sz="1000" i="1" dirty="0"/>
              <a:t>The dataset is clean and contains no missing values or duplicate records, making it suitable for model training and evaluation.</a:t>
            </a:r>
          </a:p>
          <a:p>
            <a:pPr marL="9525" algn="ctr">
              <a:lnSpc>
                <a:spcPct val="100000"/>
              </a:lnSpc>
            </a:pPr>
            <a:endParaRPr sz="1400" b="1" dirty="0">
              <a:solidFill>
                <a:srgbClr val="0070C0"/>
              </a:solidFill>
              <a:latin typeface="Calibri"/>
              <a:cs typeface="Calibri"/>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10</a:t>
            </a:fld>
            <a:endParaRPr spc="-25" dirty="0"/>
          </a:p>
        </p:txBody>
      </p:sp>
      <p:pic>
        <p:nvPicPr>
          <p:cNvPr id="17" name="Picture 16">
            <a:extLst>
              <a:ext uri="{FF2B5EF4-FFF2-40B4-BE49-F238E27FC236}">
                <a16:creationId xmlns:a16="http://schemas.microsoft.com/office/drawing/2014/main" id="{1BAD0D2D-DE90-1573-49F5-FFA2AC1E24F9}"/>
              </a:ext>
            </a:extLst>
          </p:cNvPr>
          <p:cNvPicPr>
            <a:picLocks noChangeAspect="1"/>
          </p:cNvPicPr>
          <p:nvPr/>
        </p:nvPicPr>
        <p:blipFill>
          <a:blip r:embed="rId3"/>
          <a:stretch>
            <a:fillRect/>
          </a:stretch>
        </p:blipFill>
        <p:spPr>
          <a:xfrm>
            <a:off x="567309" y="1365121"/>
            <a:ext cx="6755883" cy="418221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489584">
              <a:lnSpc>
                <a:spcPct val="100000"/>
              </a:lnSpc>
              <a:spcBef>
                <a:spcPts val="105"/>
              </a:spcBef>
            </a:pPr>
            <a:r>
              <a:rPr dirty="0"/>
              <a:t>EDA</a:t>
            </a:r>
            <a:r>
              <a:rPr spc="-60" dirty="0"/>
              <a:t> </a:t>
            </a:r>
            <a:r>
              <a:rPr dirty="0"/>
              <a:t>•</a:t>
            </a:r>
            <a:r>
              <a:rPr spc="-35" dirty="0"/>
              <a:t> </a:t>
            </a:r>
            <a:r>
              <a:rPr dirty="0"/>
              <a:t>FLOW</a:t>
            </a:r>
            <a:r>
              <a:rPr spc="-50" dirty="0"/>
              <a:t> </a:t>
            </a:r>
            <a:r>
              <a:rPr spc="-10" dirty="0"/>
              <a:t>DURATION</a:t>
            </a:r>
          </a:p>
        </p:txBody>
      </p:sp>
      <p:sp>
        <p:nvSpPr>
          <p:cNvPr id="3" name="object 3"/>
          <p:cNvSpPr txBox="1"/>
          <p:nvPr/>
        </p:nvSpPr>
        <p:spPr>
          <a:xfrm>
            <a:off x="4328921" y="933449"/>
            <a:ext cx="3529965"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Comparing</a:t>
            </a:r>
            <a:r>
              <a:rPr sz="1150" i="1" spc="-50" dirty="0">
                <a:solidFill>
                  <a:srgbClr val="6D6D6D"/>
                </a:solidFill>
                <a:latin typeface="Calibri"/>
                <a:cs typeface="Calibri"/>
              </a:rPr>
              <a:t> </a:t>
            </a:r>
            <a:r>
              <a:rPr sz="1150" i="1" dirty="0">
                <a:solidFill>
                  <a:srgbClr val="6D6D6D"/>
                </a:solidFill>
                <a:latin typeface="Calibri"/>
                <a:cs typeface="Calibri"/>
              </a:rPr>
              <a:t>temporal</a:t>
            </a:r>
            <a:r>
              <a:rPr sz="1150" i="1" spc="-30" dirty="0">
                <a:solidFill>
                  <a:srgbClr val="6D6D6D"/>
                </a:solidFill>
                <a:latin typeface="Calibri"/>
                <a:cs typeface="Calibri"/>
              </a:rPr>
              <a:t> </a:t>
            </a:r>
            <a:r>
              <a:rPr sz="1150" i="1" dirty="0">
                <a:solidFill>
                  <a:srgbClr val="6D6D6D"/>
                </a:solidFill>
                <a:latin typeface="Calibri"/>
                <a:cs typeface="Calibri"/>
              </a:rPr>
              <a:t>behaviour</a:t>
            </a:r>
            <a:r>
              <a:rPr sz="1150" i="1" spc="-65" dirty="0">
                <a:solidFill>
                  <a:srgbClr val="6D6D6D"/>
                </a:solidFill>
                <a:latin typeface="Calibri"/>
                <a:cs typeface="Calibri"/>
              </a:rPr>
              <a:t> </a:t>
            </a:r>
            <a:r>
              <a:rPr sz="1150" i="1" dirty="0">
                <a:solidFill>
                  <a:srgbClr val="6D6D6D"/>
                </a:solidFill>
                <a:latin typeface="Calibri"/>
                <a:cs typeface="Calibri"/>
              </a:rPr>
              <a:t>of</a:t>
            </a:r>
            <a:r>
              <a:rPr sz="1150" i="1" spc="-20" dirty="0">
                <a:solidFill>
                  <a:srgbClr val="6D6D6D"/>
                </a:solidFill>
                <a:latin typeface="Calibri"/>
                <a:cs typeface="Calibri"/>
              </a:rPr>
              <a:t> </a:t>
            </a:r>
            <a:r>
              <a:rPr sz="1150" i="1" dirty="0">
                <a:solidFill>
                  <a:srgbClr val="6D6D6D"/>
                </a:solidFill>
                <a:latin typeface="Calibri"/>
                <a:cs typeface="Calibri"/>
              </a:rPr>
              <a:t>BENIGN</a:t>
            </a:r>
            <a:r>
              <a:rPr sz="1150" i="1" spc="-10" dirty="0">
                <a:solidFill>
                  <a:srgbClr val="6D6D6D"/>
                </a:solidFill>
                <a:latin typeface="Calibri"/>
                <a:cs typeface="Calibri"/>
              </a:rPr>
              <a:t> </a:t>
            </a:r>
            <a:r>
              <a:rPr sz="1150" i="1" dirty="0">
                <a:solidFill>
                  <a:srgbClr val="6D6D6D"/>
                </a:solidFill>
                <a:latin typeface="Calibri"/>
                <a:cs typeface="Calibri"/>
              </a:rPr>
              <a:t>and</a:t>
            </a:r>
            <a:r>
              <a:rPr sz="1150" i="1" spc="-25" dirty="0">
                <a:solidFill>
                  <a:srgbClr val="6D6D6D"/>
                </a:solidFill>
                <a:latin typeface="Calibri"/>
                <a:cs typeface="Calibri"/>
              </a:rPr>
              <a:t> </a:t>
            </a:r>
            <a:r>
              <a:rPr sz="1150" i="1" dirty="0">
                <a:solidFill>
                  <a:srgbClr val="6D6D6D"/>
                </a:solidFill>
                <a:latin typeface="Calibri"/>
                <a:cs typeface="Calibri"/>
              </a:rPr>
              <a:t>DDoS</a:t>
            </a:r>
            <a:r>
              <a:rPr sz="1150" i="1" spc="-45" dirty="0">
                <a:solidFill>
                  <a:srgbClr val="6D6D6D"/>
                </a:solidFill>
                <a:latin typeface="Calibri"/>
                <a:cs typeface="Calibri"/>
              </a:rPr>
              <a:t> </a:t>
            </a:r>
            <a:r>
              <a:rPr sz="1150" i="1" spc="-10" dirty="0">
                <a:solidFill>
                  <a:srgbClr val="6D6D6D"/>
                </a:solidFill>
                <a:latin typeface="Calibri"/>
                <a:cs typeface="Calibri"/>
              </a:rPr>
              <a:t>traffic</a:t>
            </a:r>
            <a:endParaRPr sz="1150">
              <a:latin typeface="Calibri"/>
              <a:cs typeface="Calibri"/>
            </a:endParaRPr>
          </a:p>
        </p:txBody>
      </p:sp>
      <p:grpSp>
        <p:nvGrpSpPr>
          <p:cNvPr id="9" name="object 9"/>
          <p:cNvGrpSpPr/>
          <p:nvPr/>
        </p:nvGrpSpPr>
        <p:grpSpPr>
          <a:xfrm>
            <a:off x="7595616" y="1310665"/>
            <a:ext cx="4029075" cy="4321810"/>
            <a:chOff x="7595616" y="1310665"/>
            <a:chExt cx="4029075" cy="4321810"/>
          </a:xfrm>
        </p:grpSpPr>
        <p:pic>
          <p:nvPicPr>
            <p:cNvPr id="10" name="object 10"/>
            <p:cNvPicPr/>
            <p:nvPr/>
          </p:nvPicPr>
          <p:blipFill>
            <a:blip r:embed="rId2" cstate="print"/>
            <a:stretch>
              <a:fillRect/>
            </a:stretch>
          </p:blipFill>
          <p:spPr>
            <a:xfrm>
              <a:off x="7595616" y="1310665"/>
              <a:ext cx="4029075" cy="4321683"/>
            </a:xfrm>
            <a:prstGeom prst="rect">
              <a:avLst/>
            </a:prstGeom>
          </p:spPr>
        </p:pic>
        <p:sp>
          <p:nvSpPr>
            <p:cNvPr id="11" name="object 11"/>
            <p:cNvSpPr/>
            <p:nvPr/>
          </p:nvSpPr>
          <p:spPr>
            <a:xfrm>
              <a:off x="7680960" y="1371600"/>
              <a:ext cx="3868420" cy="4160520"/>
            </a:xfrm>
            <a:custGeom>
              <a:avLst/>
              <a:gdLst/>
              <a:ahLst/>
              <a:cxnLst/>
              <a:rect l="l" t="t" r="r" b="b"/>
              <a:pathLst>
                <a:path w="3868420" h="4160520">
                  <a:moveTo>
                    <a:pt x="3794760"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3794760" y="4160520"/>
                  </a:lnTo>
                  <a:lnTo>
                    <a:pt x="3823227" y="4154769"/>
                  </a:lnTo>
                  <a:lnTo>
                    <a:pt x="3846480" y="4139088"/>
                  </a:lnTo>
                  <a:lnTo>
                    <a:pt x="3862161" y="4115835"/>
                  </a:lnTo>
                  <a:lnTo>
                    <a:pt x="3867912" y="4087368"/>
                  </a:lnTo>
                  <a:lnTo>
                    <a:pt x="3867912" y="73151"/>
                  </a:lnTo>
                  <a:lnTo>
                    <a:pt x="3862161" y="44684"/>
                  </a:lnTo>
                  <a:lnTo>
                    <a:pt x="3846480" y="21431"/>
                  </a:lnTo>
                  <a:lnTo>
                    <a:pt x="3823227" y="5750"/>
                  </a:lnTo>
                  <a:lnTo>
                    <a:pt x="3794760" y="0"/>
                  </a:lnTo>
                  <a:close/>
                </a:path>
              </a:pathLst>
            </a:custGeom>
            <a:solidFill>
              <a:srgbClr val="FFFFFF"/>
            </a:solidFill>
          </p:spPr>
          <p:txBody>
            <a:bodyPr wrap="square" lIns="0" tIns="0" rIns="0" bIns="0" rtlCol="0"/>
            <a:lstStyle/>
            <a:p>
              <a:endParaRPr/>
            </a:p>
          </p:txBody>
        </p:sp>
        <p:sp>
          <p:nvSpPr>
            <p:cNvPr id="12" name="object 12"/>
            <p:cNvSpPr/>
            <p:nvPr/>
          </p:nvSpPr>
          <p:spPr>
            <a:xfrm>
              <a:off x="7680960" y="1371600"/>
              <a:ext cx="3868420" cy="4160520"/>
            </a:xfrm>
            <a:custGeom>
              <a:avLst/>
              <a:gdLst/>
              <a:ahLst/>
              <a:cxnLst/>
              <a:rect l="l" t="t" r="r" b="b"/>
              <a:pathLst>
                <a:path w="3868420" h="4160520">
                  <a:moveTo>
                    <a:pt x="0" y="73151"/>
                  </a:moveTo>
                  <a:lnTo>
                    <a:pt x="5750" y="44684"/>
                  </a:lnTo>
                  <a:lnTo>
                    <a:pt x="21431" y="21431"/>
                  </a:lnTo>
                  <a:lnTo>
                    <a:pt x="44684" y="5750"/>
                  </a:lnTo>
                  <a:lnTo>
                    <a:pt x="73151" y="0"/>
                  </a:lnTo>
                  <a:lnTo>
                    <a:pt x="3794760" y="0"/>
                  </a:lnTo>
                  <a:lnTo>
                    <a:pt x="3823227" y="5750"/>
                  </a:lnTo>
                  <a:lnTo>
                    <a:pt x="3846480" y="21431"/>
                  </a:lnTo>
                  <a:lnTo>
                    <a:pt x="3862161" y="44684"/>
                  </a:lnTo>
                  <a:lnTo>
                    <a:pt x="3867912" y="73151"/>
                  </a:lnTo>
                  <a:lnTo>
                    <a:pt x="3867912" y="4087368"/>
                  </a:lnTo>
                  <a:lnTo>
                    <a:pt x="3862161" y="4115835"/>
                  </a:lnTo>
                  <a:lnTo>
                    <a:pt x="3846480" y="4139088"/>
                  </a:lnTo>
                  <a:lnTo>
                    <a:pt x="3823227" y="4154769"/>
                  </a:lnTo>
                  <a:lnTo>
                    <a:pt x="3794760" y="4160520"/>
                  </a:lnTo>
                  <a:lnTo>
                    <a:pt x="73151" y="4160520"/>
                  </a:lnTo>
                  <a:lnTo>
                    <a:pt x="44684" y="4154769"/>
                  </a:lnTo>
                  <a:lnTo>
                    <a:pt x="21431" y="4139088"/>
                  </a:lnTo>
                  <a:lnTo>
                    <a:pt x="5750" y="4115835"/>
                  </a:lnTo>
                  <a:lnTo>
                    <a:pt x="0" y="4087368"/>
                  </a:lnTo>
                  <a:lnTo>
                    <a:pt x="0" y="73151"/>
                  </a:lnTo>
                  <a:close/>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7944357" y="1701164"/>
            <a:ext cx="1453515" cy="238125"/>
          </a:xfrm>
          <a:prstGeom prst="rect">
            <a:avLst/>
          </a:prstGeom>
        </p:spPr>
        <p:txBody>
          <a:bodyPr vert="horz" wrap="square" lIns="0" tIns="11430" rIns="0" bIns="0" rtlCol="0">
            <a:spAutoFit/>
          </a:bodyPr>
          <a:lstStyle/>
          <a:p>
            <a:pPr marL="12700">
              <a:lnSpc>
                <a:spcPct val="100000"/>
              </a:lnSpc>
              <a:spcBef>
                <a:spcPts val="90"/>
              </a:spcBef>
            </a:pPr>
            <a:r>
              <a:rPr sz="1400" b="1" spc="-20" dirty="0">
                <a:solidFill>
                  <a:srgbClr val="C00000"/>
                </a:solidFill>
                <a:latin typeface="Calibri"/>
                <a:cs typeface="Calibri"/>
              </a:rPr>
              <a:t>WHAT</a:t>
            </a:r>
            <a:r>
              <a:rPr sz="1400" b="1" spc="-30" dirty="0">
                <a:solidFill>
                  <a:srgbClr val="C00000"/>
                </a:solidFill>
                <a:latin typeface="Calibri"/>
                <a:cs typeface="Calibri"/>
              </a:rPr>
              <a:t> </a:t>
            </a:r>
            <a:r>
              <a:rPr sz="1400" b="1" dirty="0">
                <a:solidFill>
                  <a:srgbClr val="C00000"/>
                </a:solidFill>
                <a:latin typeface="Calibri"/>
                <a:cs typeface="Calibri"/>
              </a:rPr>
              <a:t>THIS</a:t>
            </a:r>
            <a:r>
              <a:rPr sz="1400" b="1" spc="-40" dirty="0">
                <a:solidFill>
                  <a:srgbClr val="C00000"/>
                </a:solidFill>
                <a:latin typeface="Calibri"/>
                <a:cs typeface="Calibri"/>
              </a:rPr>
              <a:t> </a:t>
            </a:r>
            <a:r>
              <a:rPr sz="1400" b="1" spc="-20" dirty="0">
                <a:solidFill>
                  <a:srgbClr val="C00000"/>
                </a:solidFill>
                <a:latin typeface="Calibri"/>
                <a:cs typeface="Calibri"/>
              </a:rPr>
              <a:t>SHOWS</a:t>
            </a:r>
            <a:endParaRPr sz="1400">
              <a:latin typeface="Calibri"/>
              <a:cs typeface="Calibri"/>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11</a:t>
            </a:fld>
            <a:endParaRPr spc="-25" dirty="0"/>
          </a:p>
        </p:txBody>
      </p:sp>
      <p:sp>
        <p:nvSpPr>
          <p:cNvPr id="14" name="object 14"/>
          <p:cNvSpPr txBox="1"/>
          <p:nvPr/>
        </p:nvSpPr>
        <p:spPr>
          <a:xfrm>
            <a:off x="7858886" y="2000224"/>
            <a:ext cx="3255010" cy="2813591"/>
          </a:xfrm>
          <a:prstGeom prst="rect">
            <a:avLst/>
          </a:prstGeom>
        </p:spPr>
        <p:txBody>
          <a:bodyPr vert="horz" wrap="square" lIns="0" tIns="12700" rIns="0" bIns="0" rtlCol="0">
            <a:spAutoFit/>
          </a:bodyPr>
          <a:lstStyle/>
          <a:p>
            <a:pPr marL="285750" lvl="0" indent="-285750" algn="just">
              <a:buFont typeface="Arial" panose="020B0604020202020204" pitchFamily="34" charset="0"/>
              <a:buChar char="•"/>
            </a:pPr>
            <a:r>
              <a:rPr lang="en-IN" sz="1400" b="1" dirty="0"/>
              <a:t>Correlation analysis</a:t>
            </a:r>
            <a:r>
              <a:rPr lang="en-IN" sz="1400" dirty="0"/>
              <a:t> shows the relationship between the numerical agricultural features and crop yield. </a:t>
            </a:r>
          </a:p>
          <a:p>
            <a:pPr marL="285750" lvl="0" indent="-285750" algn="just">
              <a:buFont typeface="Arial" panose="020B0604020202020204" pitchFamily="34" charset="0"/>
              <a:buChar char="•"/>
            </a:pPr>
            <a:r>
              <a:rPr lang="en-IN" sz="1400" dirty="0"/>
              <a:t>Features with stronger correlation with </a:t>
            </a:r>
            <a:r>
              <a:rPr lang="en-IN" sz="1400" b="1" dirty="0"/>
              <a:t>Yield</a:t>
            </a:r>
            <a:r>
              <a:rPr lang="en-IN" sz="1400" dirty="0"/>
              <a:t> may have a greater influence on prediction. </a:t>
            </a:r>
          </a:p>
          <a:p>
            <a:pPr marL="285750" lvl="0" indent="-285750" algn="just">
              <a:buFont typeface="Arial" panose="020B0604020202020204" pitchFamily="34" charset="0"/>
              <a:buChar char="•"/>
            </a:pPr>
            <a:r>
              <a:rPr lang="en-IN" sz="1400" dirty="0"/>
              <a:t>The heatmap helps identify relationships between variables and possible </a:t>
            </a:r>
            <a:r>
              <a:rPr lang="en-IN" sz="1400" b="1" dirty="0"/>
              <a:t>redundant features</a:t>
            </a:r>
            <a:r>
              <a:rPr lang="en-IN" sz="1400" dirty="0"/>
              <a:t>. </a:t>
            </a:r>
          </a:p>
          <a:p>
            <a:pPr marL="285750" lvl="0" indent="-285750" algn="just">
              <a:buFont typeface="Arial" panose="020B0604020202020204" pitchFamily="34" charset="0"/>
              <a:buChar char="•"/>
            </a:pPr>
            <a:r>
              <a:rPr lang="en-IN" sz="1400" dirty="0"/>
              <a:t>This analysis supports </a:t>
            </a:r>
            <a:r>
              <a:rPr lang="en-IN" sz="1400" b="1" dirty="0"/>
              <a:t>feature selection and model preparation</a:t>
            </a:r>
            <a:r>
              <a:rPr lang="en-IN" sz="1400" dirty="0"/>
              <a:t> before training Random Forest, XGBoost, and SVR.</a:t>
            </a:r>
          </a:p>
        </p:txBody>
      </p:sp>
      <p:pic>
        <p:nvPicPr>
          <p:cNvPr id="20" name="Picture 19">
            <a:extLst>
              <a:ext uri="{FF2B5EF4-FFF2-40B4-BE49-F238E27FC236}">
                <a16:creationId xmlns:a16="http://schemas.microsoft.com/office/drawing/2014/main" id="{28B55ED8-19EC-800A-18BF-4E10B55C82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0" y="1310665"/>
            <a:ext cx="4450526" cy="47468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30672" y="341122"/>
            <a:ext cx="4056127" cy="352019"/>
          </a:xfrm>
          <a:prstGeom prst="rect">
            <a:avLst/>
          </a:prstGeom>
        </p:spPr>
        <p:txBody>
          <a:bodyPr vert="horz" wrap="square" lIns="0" tIns="13335" rIns="0" bIns="0" rtlCol="0">
            <a:spAutoFit/>
          </a:bodyPr>
          <a:lstStyle/>
          <a:p>
            <a:pPr marL="12700">
              <a:lnSpc>
                <a:spcPct val="100000"/>
              </a:lnSpc>
              <a:spcBef>
                <a:spcPts val="105"/>
              </a:spcBef>
            </a:pPr>
            <a:r>
              <a:rPr dirty="0"/>
              <a:t>EDA</a:t>
            </a:r>
            <a:r>
              <a:rPr spc="-35" dirty="0"/>
              <a:t> </a:t>
            </a:r>
            <a:r>
              <a:rPr dirty="0"/>
              <a:t>•</a:t>
            </a:r>
            <a:r>
              <a:rPr spc="-15" dirty="0"/>
              <a:t> </a:t>
            </a:r>
            <a:r>
              <a:rPr lang="en-IN" dirty="0"/>
              <a:t>AGRICULTURAL FEATURES</a:t>
            </a:r>
            <a:endParaRPr spc="-10" dirty="0"/>
          </a:p>
        </p:txBody>
      </p:sp>
      <p:sp>
        <p:nvSpPr>
          <p:cNvPr id="3" name="object 3"/>
          <p:cNvSpPr txBox="1"/>
          <p:nvPr/>
        </p:nvSpPr>
        <p:spPr>
          <a:xfrm>
            <a:off x="4618482" y="933449"/>
            <a:ext cx="3458718" cy="197490"/>
          </a:xfrm>
          <a:prstGeom prst="rect">
            <a:avLst/>
          </a:prstGeom>
        </p:spPr>
        <p:txBody>
          <a:bodyPr vert="horz" wrap="square" lIns="0" tIns="12700" rIns="0" bIns="0" rtlCol="0">
            <a:spAutoFit/>
          </a:bodyPr>
          <a:lstStyle/>
          <a:p>
            <a:pPr marL="12700">
              <a:lnSpc>
                <a:spcPct val="100000"/>
              </a:lnSpc>
              <a:spcBef>
                <a:spcPts val="100"/>
              </a:spcBef>
            </a:pPr>
            <a:r>
              <a:rPr lang="en-IN" sz="1200" i="1" dirty="0"/>
              <a:t>Distribution of important agricultural input features</a:t>
            </a:r>
            <a:endParaRPr sz="1150" i="1" dirty="0">
              <a:latin typeface="Calibri"/>
              <a:cs typeface="Calibri"/>
            </a:endParaRPr>
          </a:p>
        </p:txBody>
      </p:sp>
      <p:sp>
        <p:nvSpPr>
          <p:cNvPr id="9" name="object 9"/>
          <p:cNvSpPr txBox="1"/>
          <p:nvPr/>
        </p:nvSpPr>
        <p:spPr>
          <a:xfrm>
            <a:off x="2393442" y="5284089"/>
            <a:ext cx="2378710" cy="197490"/>
          </a:xfrm>
          <a:prstGeom prst="rect">
            <a:avLst/>
          </a:prstGeom>
        </p:spPr>
        <p:txBody>
          <a:bodyPr vert="horz" wrap="square" lIns="0" tIns="12700" rIns="0" bIns="0" rtlCol="0">
            <a:spAutoFit/>
          </a:bodyPr>
          <a:lstStyle/>
          <a:p>
            <a:pPr marL="12700">
              <a:lnSpc>
                <a:spcPct val="100000"/>
              </a:lnSpc>
              <a:spcBef>
                <a:spcPts val="100"/>
              </a:spcBef>
            </a:pPr>
            <a:r>
              <a:rPr lang="en-IN" sz="1200" b="1" dirty="0">
                <a:solidFill>
                  <a:srgbClr val="C00000"/>
                </a:solidFill>
              </a:rPr>
              <a:t>PRODUCTION DISTRIBUTION</a:t>
            </a:r>
            <a:endParaRPr sz="1200" b="1" dirty="0">
              <a:solidFill>
                <a:srgbClr val="C00000"/>
              </a:solidFill>
              <a:latin typeface="Calibri"/>
              <a:cs typeface="Calibri"/>
            </a:endParaRPr>
          </a:p>
        </p:txBody>
      </p:sp>
      <p:sp>
        <p:nvSpPr>
          <p:cNvPr id="15" name="object 15"/>
          <p:cNvSpPr txBox="1"/>
          <p:nvPr/>
        </p:nvSpPr>
        <p:spPr>
          <a:xfrm>
            <a:off x="7579182" y="5284089"/>
            <a:ext cx="2741295" cy="197490"/>
          </a:xfrm>
          <a:prstGeom prst="rect">
            <a:avLst/>
          </a:prstGeom>
        </p:spPr>
        <p:txBody>
          <a:bodyPr vert="horz" wrap="square" lIns="0" tIns="12700" rIns="0" bIns="0" rtlCol="0">
            <a:spAutoFit/>
          </a:bodyPr>
          <a:lstStyle/>
          <a:p>
            <a:pPr marL="12700">
              <a:lnSpc>
                <a:spcPct val="100000"/>
              </a:lnSpc>
              <a:spcBef>
                <a:spcPts val="100"/>
              </a:spcBef>
            </a:pPr>
            <a:r>
              <a:rPr lang="en-IN" sz="1200" b="1" dirty="0">
                <a:solidFill>
                  <a:srgbClr val="C00000"/>
                </a:solidFill>
              </a:rPr>
              <a:t>ANNUAL RAINFALL DISTRIBUTION</a:t>
            </a:r>
            <a:endParaRPr sz="1200" b="1" dirty="0">
              <a:solidFill>
                <a:srgbClr val="C00000"/>
              </a:solidFill>
              <a:latin typeface="Calibri"/>
              <a:cs typeface="Calibri"/>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12</a:t>
            </a:fld>
            <a:endParaRPr spc="-25" dirty="0"/>
          </a:p>
        </p:txBody>
      </p:sp>
      <p:pic>
        <p:nvPicPr>
          <p:cNvPr id="23" name="Picture 22">
            <a:extLst>
              <a:ext uri="{FF2B5EF4-FFF2-40B4-BE49-F238E27FC236}">
                <a16:creationId xmlns:a16="http://schemas.microsoft.com/office/drawing/2014/main" id="{38A07A2E-D9A8-5E8A-F33F-4882BE0D6B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132" y="1295400"/>
            <a:ext cx="4876800" cy="3857749"/>
          </a:xfrm>
          <a:prstGeom prst="rect">
            <a:avLst/>
          </a:prstGeom>
        </p:spPr>
      </p:pic>
      <p:pic>
        <p:nvPicPr>
          <p:cNvPr id="25" name="Picture 24">
            <a:extLst>
              <a:ext uri="{FF2B5EF4-FFF2-40B4-BE49-F238E27FC236}">
                <a16:creationId xmlns:a16="http://schemas.microsoft.com/office/drawing/2014/main" id="{E5C93ADB-FDE1-90D3-4245-34A466E4BD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4936" y="1295399"/>
            <a:ext cx="5264931" cy="38577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544830">
              <a:lnSpc>
                <a:spcPct val="100000"/>
              </a:lnSpc>
              <a:spcBef>
                <a:spcPts val="105"/>
              </a:spcBef>
            </a:pPr>
            <a:r>
              <a:rPr spc="-55" dirty="0"/>
              <a:t>DATASET</a:t>
            </a:r>
            <a:r>
              <a:rPr spc="-70" dirty="0"/>
              <a:t> </a:t>
            </a:r>
            <a:r>
              <a:rPr spc="-10" dirty="0"/>
              <a:t>DESCRIPTION</a:t>
            </a:r>
          </a:p>
        </p:txBody>
      </p:sp>
      <p:sp>
        <p:nvSpPr>
          <p:cNvPr id="3" name="object 3"/>
          <p:cNvSpPr txBox="1"/>
          <p:nvPr/>
        </p:nvSpPr>
        <p:spPr>
          <a:xfrm>
            <a:off x="4166572" y="960120"/>
            <a:ext cx="3867276" cy="197490"/>
          </a:xfrm>
          <a:prstGeom prst="rect">
            <a:avLst/>
          </a:prstGeom>
        </p:spPr>
        <p:txBody>
          <a:bodyPr vert="horz" wrap="square" lIns="0" tIns="12700" rIns="0" bIns="0" rtlCol="0">
            <a:spAutoFit/>
          </a:bodyPr>
          <a:lstStyle/>
          <a:p>
            <a:pPr marL="12700">
              <a:lnSpc>
                <a:spcPct val="100000"/>
              </a:lnSpc>
              <a:spcBef>
                <a:spcPts val="100"/>
              </a:spcBef>
            </a:pPr>
            <a:r>
              <a:rPr lang="en-IN" sz="1200" i="1" dirty="0"/>
              <a:t>What is actually present in the supplied crop-yield data</a:t>
            </a:r>
            <a:endParaRPr sz="1150" i="1" dirty="0">
              <a:latin typeface="Calibri"/>
              <a:cs typeface="Calibri"/>
            </a:endParaRPr>
          </a:p>
        </p:txBody>
      </p:sp>
      <p:grpSp>
        <p:nvGrpSpPr>
          <p:cNvPr id="4" name="object 4"/>
          <p:cNvGrpSpPr/>
          <p:nvPr/>
        </p:nvGrpSpPr>
        <p:grpSpPr>
          <a:xfrm>
            <a:off x="431574" y="1319459"/>
            <a:ext cx="5547360" cy="4321810"/>
            <a:chOff x="463295" y="1310665"/>
            <a:chExt cx="5547360" cy="4321810"/>
          </a:xfrm>
        </p:grpSpPr>
        <p:pic>
          <p:nvPicPr>
            <p:cNvPr id="5" name="object 5"/>
            <p:cNvPicPr/>
            <p:nvPr/>
          </p:nvPicPr>
          <p:blipFill>
            <a:blip r:embed="rId2" cstate="print"/>
            <a:stretch>
              <a:fillRect/>
            </a:stretch>
          </p:blipFill>
          <p:spPr>
            <a:xfrm>
              <a:off x="463295" y="1310665"/>
              <a:ext cx="5546979" cy="4321683"/>
            </a:xfrm>
            <a:prstGeom prst="rect">
              <a:avLst/>
            </a:prstGeom>
          </p:spPr>
        </p:pic>
        <p:sp>
          <p:nvSpPr>
            <p:cNvPr id="6" name="object 6"/>
            <p:cNvSpPr/>
            <p:nvPr/>
          </p:nvSpPr>
          <p:spPr>
            <a:xfrm>
              <a:off x="548639" y="1371600"/>
              <a:ext cx="5386070" cy="4160520"/>
            </a:xfrm>
            <a:custGeom>
              <a:avLst/>
              <a:gdLst/>
              <a:ahLst/>
              <a:cxnLst/>
              <a:rect l="l" t="t" r="r" b="b"/>
              <a:pathLst>
                <a:path w="5386070" h="4160520">
                  <a:moveTo>
                    <a:pt x="5312664" y="0"/>
                  </a:moveTo>
                  <a:lnTo>
                    <a:pt x="73139" y="0"/>
                  </a:lnTo>
                  <a:lnTo>
                    <a:pt x="44668" y="5750"/>
                  </a:lnTo>
                  <a:lnTo>
                    <a:pt x="21420" y="21431"/>
                  </a:lnTo>
                  <a:lnTo>
                    <a:pt x="5746" y="44684"/>
                  </a:lnTo>
                  <a:lnTo>
                    <a:pt x="0" y="73151"/>
                  </a:lnTo>
                  <a:lnTo>
                    <a:pt x="0" y="4087368"/>
                  </a:lnTo>
                  <a:lnTo>
                    <a:pt x="5746" y="4115835"/>
                  </a:lnTo>
                  <a:lnTo>
                    <a:pt x="21420" y="4139088"/>
                  </a:lnTo>
                  <a:lnTo>
                    <a:pt x="44668" y="4154769"/>
                  </a:lnTo>
                  <a:lnTo>
                    <a:pt x="73139" y="4160520"/>
                  </a:lnTo>
                  <a:lnTo>
                    <a:pt x="5312664" y="4160520"/>
                  </a:lnTo>
                  <a:lnTo>
                    <a:pt x="5341131" y="4154769"/>
                  </a:lnTo>
                  <a:lnTo>
                    <a:pt x="5364384" y="4139088"/>
                  </a:lnTo>
                  <a:lnTo>
                    <a:pt x="5380065" y="4115835"/>
                  </a:lnTo>
                  <a:lnTo>
                    <a:pt x="5385816" y="4087368"/>
                  </a:lnTo>
                  <a:lnTo>
                    <a:pt x="5385816" y="73151"/>
                  </a:lnTo>
                  <a:lnTo>
                    <a:pt x="5380065" y="44684"/>
                  </a:lnTo>
                  <a:lnTo>
                    <a:pt x="5364384" y="21431"/>
                  </a:lnTo>
                  <a:lnTo>
                    <a:pt x="5341131" y="5750"/>
                  </a:lnTo>
                  <a:lnTo>
                    <a:pt x="5312664" y="0"/>
                  </a:lnTo>
                  <a:close/>
                </a:path>
              </a:pathLst>
            </a:custGeom>
            <a:solidFill>
              <a:srgbClr val="FFFFFF"/>
            </a:solidFill>
          </p:spPr>
          <p:txBody>
            <a:bodyPr wrap="square" lIns="0" tIns="0" rIns="0" bIns="0" rtlCol="0"/>
            <a:lstStyle/>
            <a:p>
              <a:endParaRPr/>
            </a:p>
          </p:txBody>
        </p:sp>
        <p:sp>
          <p:nvSpPr>
            <p:cNvPr id="7" name="object 7"/>
            <p:cNvSpPr/>
            <p:nvPr/>
          </p:nvSpPr>
          <p:spPr>
            <a:xfrm>
              <a:off x="548639" y="1371600"/>
              <a:ext cx="5386070" cy="4160520"/>
            </a:xfrm>
            <a:custGeom>
              <a:avLst/>
              <a:gdLst/>
              <a:ahLst/>
              <a:cxnLst/>
              <a:rect l="l" t="t" r="r" b="b"/>
              <a:pathLst>
                <a:path w="5386070" h="4160520">
                  <a:moveTo>
                    <a:pt x="0" y="73151"/>
                  </a:moveTo>
                  <a:lnTo>
                    <a:pt x="5746" y="44684"/>
                  </a:lnTo>
                  <a:lnTo>
                    <a:pt x="21420" y="21431"/>
                  </a:lnTo>
                  <a:lnTo>
                    <a:pt x="44668" y="5750"/>
                  </a:lnTo>
                  <a:lnTo>
                    <a:pt x="73139" y="0"/>
                  </a:lnTo>
                  <a:lnTo>
                    <a:pt x="5312664" y="0"/>
                  </a:lnTo>
                  <a:lnTo>
                    <a:pt x="5341131" y="5750"/>
                  </a:lnTo>
                  <a:lnTo>
                    <a:pt x="5364384" y="21431"/>
                  </a:lnTo>
                  <a:lnTo>
                    <a:pt x="5380065" y="44684"/>
                  </a:lnTo>
                  <a:lnTo>
                    <a:pt x="5385816" y="73151"/>
                  </a:lnTo>
                  <a:lnTo>
                    <a:pt x="5385816" y="4087368"/>
                  </a:lnTo>
                  <a:lnTo>
                    <a:pt x="5380065" y="4115835"/>
                  </a:lnTo>
                  <a:lnTo>
                    <a:pt x="5364384" y="4139088"/>
                  </a:lnTo>
                  <a:lnTo>
                    <a:pt x="5341131" y="4154769"/>
                  </a:lnTo>
                  <a:lnTo>
                    <a:pt x="5312664" y="4160520"/>
                  </a:lnTo>
                  <a:lnTo>
                    <a:pt x="73139" y="4160520"/>
                  </a:lnTo>
                  <a:lnTo>
                    <a:pt x="44668" y="4154769"/>
                  </a:lnTo>
                  <a:lnTo>
                    <a:pt x="21420" y="4139088"/>
                  </a:lnTo>
                  <a:lnTo>
                    <a:pt x="5746" y="4115835"/>
                  </a:lnTo>
                  <a:lnTo>
                    <a:pt x="0" y="408736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810564" y="1640204"/>
            <a:ext cx="1311275" cy="212238"/>
          </a:xfrm>
          <a:prstGeom prst="rect">
            <a:avLst/>
          </a:prstGeom>
        </p:spPr>
        <p:txBody>
          <a:bodyPr vert="horz" wrap="square" lIns="0" tIns="12065" rIns="0" bIns="0" rtlCol="0">
            <a:spAutoFit/>
          </a:bodyPr>
          <a:lstStyle/>
          <a:p>
            <a:pPr marL="12700">
              <a:lnSpc>
                <a:spcPct val="100000"/>
              </a:lnSpc>
              <a:spcBef>
                <a:spcPts val="95"/>
              </a:spcBef>
            </a:pPr>
            <a:r>
              <a:rPr sz="1300" b="1" dirty="0">
                <a:solidFill>
                  <a:srgbClr val="C00000"/>
                </a:solidFill>
                <a:latin typeface="Calibri"/>
                <a:cs typeface="Calibri"/>
              </a:rPr>
              <a:t>SUPPLIED</a:t>
            </a:r>
            <a:r>
              <a:rPr sz="1300" b="1" spc="-45" dirty="0">
                <a:solidFill>
                  <a:srgbClr val="C00000"/>
                </a:solidFill>
                <a:latin typeface="Calibri"/>
                <a:cs typeface="Calibri"/>
              </a:rPr>
              <a:t> </a:t>
            </a:r>
            <a:r>
              <a:rPr lang="en-IN" sz="1300" b="1" spc="-45" dirty="0">
                <a:solidFill>
                  <a:srgbClr val="C00000"/>
                </a:solidFill>
                <a:latin typeface="Calibri"/>
                <a:cs typeface="Calibri"/>
              </a:rPr>
              <a:t>DATASET</a:t>
            </a:r>
            <a:endParaRPr sz="1300" dirty="0">
              <a:latin typeface="Calibri"/>
              <a:cs typeface="Calibri"/>
            </a:endParaRPr>
          </a:p>
        </p:txBody>
      </p:sp>
      <p:sp>
        <p:nvSpPr>
          <p:cNvPr id="9" name="object 9"/>
          <p:cNvSpPr txBox="1"/>
          <p:nvPr/>
        </p:nvSpPr>
        <p:spPr>
          <a:xfrm>
            <a:off x="810564" y="2069668"/>
            <a:ext cx="3654425" cy="227626"/>
          </a:xfrm>
          <a:prstGeom prst="rect">
            <a:avLst/>
          </a:prstGeom>
        </p:spPr>
        <p:txBody>
          <a:bodyPr vert="horz" wrap="square" lIns="0" tIns="12065" rIns="0" bIns="0" rtlCol="0">
            <a:spAutoFit/>
          </a:bodyPr>
          <a:lstStyle/>
          <a:p>
            <a:pPr marL="12700">
              <a:lnSpc>
                <a:spcPct val="100000"/>
              </a:lnSpc>
              <a:spcBef>
                <a:spcPts val="95"/>
              </a:spcBef>
            </a:pPr>
            <a:r>
              <a:rPr lang="en-IN" sz="1400" b="1" dirty="0"/>
              <a:t>Crop Yield Prediction Dataset</a:t>
            </a:r>
            <a:endParaRPr sz="1300" b="1" dirty="0">
              <a:latin typeface="Calibri"/>
              <a:cs typeface="Calibri"/>
            </a:endParaRPr>
          </a:p>
        </p:txBody>
      </p:sp>
      <p:sp>
        <p:nvSpPr>
          <p:cNvPr id="10" name="object 10"/>
          <p:cNvSpPr txBox="1"/>
          <p:nvPr/>
        </p:nvSpPr>
        <p:spPr>
          <a:xfrm>
            <a:off x="810564" y="2585465"/>
            <a:ext cx="633730"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6D6D6D"/>
                </a:solidFill>
                <a:latin typeface="Calibri"/>
                <a:cs typeface="Calibri"/>
              </a:rPr>
              <a:t>RAW</a:t>
            </a:r>
            <a:r>
              <a:rPr sz="950" b="1" spc="-25" dirty="0">
                <a:solidFill>
                  <a:srgbClr val="6D6D6D"/>
                </a:solidFill>
                <a:latin typeface="Calibri"/>
                <a:cs typeface="Calibri"/>
              </a:rPr>
              <a:t> </a:t>
            </a:r>
            <a:r>
              <a:rPr sz="950" b="1" spc="-10" dirty="0">
                <a:solidFill>
                  <a:srgbClr val="6D6D6D"/>
                </a:solidFill>
                <a:latin typeface="Calibri"/>
                <a:cs typeface="Calibri"/>
              </a:rPr>
              <a:t>SHAPE</a:t>
            </a:r>
            <a:endParaRPr sz="950">
              <a:latin typeface="Calibri"/>
              <a:cs typeface="Calibri"/>
            </a:endParaRPr>
          </a:p>
        </p:txBody>
      </p:sp>
      <p:sp>
        <p:nvSpPr>
          <p:cNvPr id="11" name="object 11"/>
          <p:cNvSpPr txBox="1"/>
          <p:nvPr/>
        </p:nvSpPr>
        <p:spPr>
          <a:xfrm>
            <a:off x="2685414" y="2585466"/>
            <a:ext cx="2038986" cy="197490"/>
          </a:xfrm>
          <a:prstGeom prst="rect">
            <a:avLst/>
          </a:prstGeom>
        </p:spPr>
        <p:txBody>
          <a:bodyPr vert="horz" wrap="square" lIns="0" tIns="12700" rIns="0" bIns="0" rtlCol="0">
            <a:spAutoFit/>
          </a:bodyPr>
          <a:lstStyle/>
          <a:p>
            <a:pPr marL="12700">
              <a:lnSpc>
                <a:spcPct val="100000"/>
              </a:lnSpc>
              <a:spcBef>
                <a:spcPts val="100"/>
              </a:spcBef>
            </a:pPr>
            <a:r>
              <a:rPr lang="en-IN" sz="1200" dirty="0"/>
              <a:t>17,400 rows × 10 columns</a:t>
            </a:r>
            <a:endParaRPr sz="1150" dirty="0">
              <a:latin typeface="Calibri"/>
              <a:cs typeface="Calibri"/>
            </a:endParaRPr>
          </a:p>
        </p:txBody>
      </p:sp>
      <p:sp>
        <p:nvSpPr>
          <p:cNvPr id="12" name="object 12"/>
          <p:cNvSpPr txBox="1"/>
          <p:nvPr/>
        </p:nvSpPr>
        <p:spPr>
          <a:xfrm>
            <a:off x="810564" y="3088639"/>
            <a:ext cx="427355" cy="172085"/>
          </a:xfrm>
          <a:prstGeom prst="rect">
            <a:avLst/>
          </a:prstGeom>
        </p:spPr>
        <p:txBody>
          <a:bodyPr vert="horz" wrap="square" lIns="0" tIns="13970" rIns="0" bIns="0" rtlCol="0">
            <a:spAutoFit/>
          </a:bodyPr>
          <a:lstStyle/>
          <a:p>
            <a:pPr marL="12700">
              <a:lnSpc>
                <a:spcPct val="100000"/>
              </a:lnSpc>
              <a:spcBef>
                <a:spcPts val="110"/>
              </a:spcBef>
            </a:pPr>
            <a:r>
              <a:rPr sz="950" b="1" spc="-10" dirty="0">
                <a:solidFill>
                  <a:srgbClr val="6D6D6D"/>
                </a:solidFill>
                <a:latin typeface="Calibri"/>
                <a:cs typeface="Calibri"/>
              </a:rPr>
              <a:t>TARGET</a:t>
            </a:r>
            <a:endParaRPr sz="950">
              <a:latin typeface="Calibri"/>
              <a:cs typeface="Calibri"/>
            </a:endParaRPr>
          </a:p>
        </p:txBody>
      </p:sp>
      <p:sp>
        <p:nvSpPr>
          <p:cNvPr id="13" name="object 13"/>
          <p:cNvSpPr txBox="1"/>
          <p:nvPr/>
        </p:nvSpPr>
        <p:spPr>
          <a:xfrm>
            <a:off x="2685414" y="3088639"/>
            <a:ext cx="1454150" cy="197490"/>
          </a:xfrm>
          <a:prstGeom prst="rect">
            <a:avLst/>
          </a:prstGeom>
        </p:spPr>
        <p:txBody>
          <a:bodyPr vert="horz" wrap="square" lIns="0" tIns="12700" rIns="0" bIns="0" rtlCol="0">
            <a:spAutoFit/>
          </a:bodyPr>
          <a:lstStyle/>
          <a:p>
            <a:pPr marL="12700">
              <a:lnSpc>
                <a:spcPct val="100000"/>
              </a:lnSpc>
              <a:spcBef>
                <a:spcPts val="100"/>
              </a:spcBef>
            </a:pPr>
            <a:r>
              <a:rPr lang="en-IN" sz="1200" dirty="0"/>
              <a:t>Yield</a:t>
            </a:r>
            <a:endParaRPr sz="1150" dirty="0">
              <a:latin typeface="Calibri"/>
              <a:cs typeface="Calibri"/>
            </a:endParaRPr>
          </a:p>
        </p:txBody>
      </p:sp>
      <p:sp>
        <p:nvSpPr>
          <p:cNvPr id="14" name="object 14"/>
          <p:cNvSpPr txBox="1"/>
          <p:nvPr/>
        </p:nvSpPr>
        <p:spPr>
          <a:xfrm>
            <a:off x="810564" y="3591814"/>
            <a:ext cx="832485"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6D6D6D"/>
                </a:solidFill>
                <a:latin typeface="Calibri"/>
                <a:cs typeface="Calibri"/>
              </a:rPr>
              <a:t>CLEANED</a:t>
            </a:r>
            <a:r>
              <a:rPr sz="950" b="1" spc="-30" dirty="0">
                <a:solidFill>
                  <a:srgbClr val="6D6D6D"/>
                </a:solidFill>
                <a:latin typeface="Calibri"/>
                <a:cs typeface="Calibri"/>
              </a:rPr>
              <a:t> </a:t>
            </a:r>
            <a:r>
              <a:rPr sz="950" b="1" spc="-20" dirty="0">
                <a:solidFill>
                  <a:srgbClr val="6D6D6D"/>
                </a:solidFill>
                <a:latin typeface="Calibri"/>
                <a:cs typeface="Calibri"/>
              </a:rPr>
              <a:t>ROWS</a:t>
            </a:r>
            <a:endParaRPr sz="950">
              <a:latin typeface="Calibri"/>
              <a:cs typeface="Calibri"/>
            </a:endParaRPr>
          </a:p>
        </p:txBody>
      </p:sp>
      <p:sp>
        <p:nvSpPr>
          <p:cNvPr id="15" name="object 15"/>
          <p:cNvSpPr txBox="1"/>
          <p:nvPr/>
        </p:nvSpPr>
        <p:spPr>
          <a:xfrm>
            <a:off x="2685414" y="3591814"/>
            <a:ext cx="2172335" cy="197490"/>
          </a:xfrm>
          <a:prstGeom prst="rect">
            <a:avLst/>
          </a:prstGeom>
        </p:spPr>
        <p:txBody>
          <a:bodyPr vert="horz" wrap="square" lIns="0" tIns="12700" rIns="0" bIns="0" rtlCol="0">
            <a:spAutoFit/>
          </a:bodyPr>
          <a:lstStyle/>
          <a:p>
            <a:pPr marL="12700">
              <a:lnSpc>
                <a:spcPct val="100000"/>
              </a:lnSpc>
              <a:spcBef>
                <a:spcPts val="100"/>
              </a:spcBef>
            </a:pPr>
            <a:r>
              <a:rPr lang="en-IN" sz="1200" dirty="0"/>
              <a:t>17,400 rows</a:t>
            </a:r>
            <a:endParaRPr sz="1150" dirty="0">
              <a:latin typeface="Calibri"/>
              <a:cs typeface="Calibri"/>
            </a:endParaRPr>
          </a:p>
        </p:txBody>
      </p:sp>
      <p:sp>
        <p:nvSpPr>
          <p:cNvPr id="16" name="object 16"/>
          <p:cNvSpPr txBox="1"/>
          <p:nvPr/>
        </p:nvSpPr>
        <p:spPr>
          <a:xfrm>
            <a:off x="810564" y="4094429"/>
            <a:ext cx="775970"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6D6D6D"/>
                </a:solidFill>
                <a:latin typeface="Calibri"/>
                <a:cs typeface="Calibri"/>
              </a:rPr>
              <a:t>MISSING</a:t>
            </a:r>
            <a:r>
              <a:rPr sz="950" b="1" spc="-15" dirty="0">
                <a:solidFill>
                  <a:srgbClr val="6D6D6D"/>
                </a:solidFill>
                <a:latin typeface="Calibri"/>
                <a:cs typeface="Calibri"/>
              </a:rPr>
              <a:t> </a:t>
            </a:r>
            <a:r>
              <a:rPr sz="950" b="1" spc="-20" dirty="0">
                <a:solidFill>
                  <a:srgbClr val="6D6D6D"/>
                </a:solidFill>
                <a:latin typeface="Calibri"/>
                <a:cs typeface="Calibri"/>
              </a:rPr>
              <a:t>DATA</a:t>
            </a:r>
            <a:endParaRPr sz="950">
              <a:latin typeface="Calibri"/>
              <a:cs typeface="Calibri"/>
            </a:endParaRPr>
          </a:p>
        </p:txBody>
      </p:sp>
      <p:sp>
        <p:nvSpPr>
          <p:cNvPr id="17" name="object 17"/>
          <p:cNvSpPr txBox="1"/>
          <p:nvPr/>
        </p:nvSpPr>
        <p:spPr>
          <a:xfrm>
            <a:off x="2685414" y="4094429"/>
            <a:ext cx="1800225" cy="198131"/>
          </a:xfrm>
          <a:prstGeom prst="rect">
            <a:avLst/>
          </a:prstGeom>
        </p:spPr>
        <p:txBody>
          <a:bodyPr vert="horz" wrap="square" lIns="0" tIns="13335" rIns="0" bIns="0" rtlCol="0">
            <a:spAutoFit/>
          </a:bodyPr>
          <a:lstStyle/>
          <a:p>
            <a:pPr marL="12700">
              <a:lnSpc>
                <a:spcPct val="100000"/>
              </a:lnSpc>
              <a:spcBef>
                <a:spcPts val="105"/>
              </a:spcBef>
            </a:pPr>
            <a:r>
              <a:rPr lang="en-IN" sz="1200" dirty="0"/>
              <a:t>0 missing values</a:t>
            </a:r>
            <a:endParaRPr sz="1150" dirty="0">
              <a:latin typeface="Calibri"/>
              <a:cs typeface="Calibri"/>
            </a:endParaRPr>
          </a:p>
        </p:txBody>
      </p:sp>
      <p:sp>
        <p:nvSpPr>
          <p:cNvPr id="18" name="object 18"/>
          <p:cNvSpPr txBox="1"/>
          <p:nvPr/>
        </p:nvSpPr>
        <p:spPr>
          <a:xfrm>
            <a:off x="810564" y="4598034"/>
            <a:ext cx="814069"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6D6D6D"/>
                </a:solidFill>
                <a:latin typeface="Calibri"/>
                <a:cs typeface="Calibri"/>
              </a:rPr>
              <a:t>FEATURE</a:t>
            </a:r>
            <a:r>
              <a:rPr sz="950" b="1" spc="-40" dirty="0">
                <a:solidFill>
                  <a:srgbClr val="6D6D6D"/>
                </a:solidFill>
                <a:latin typeface="Calibri"/>
                <a:cs typeface="Calibri"/>
              </a:rPr>
              <a:t> </a:t>
            </a:r>
            <a:r>
              <a:rPr sz="950" b="1" spc="-10" dirty="0">
                <a:solidFill>
                  <a:srgbClr val="6D6D6D"/>
                </a:solidFill>
                <a:latin typeface="Calibri"/>
                <a:cs typeface="Calibri"/>
              </a:rPr>
              <a:t>TYPES</a:t>
            </a:r>
            <a:endParaRPr sz="950">
              <a:latin typeface="Calibri"/>
              <a:cs typeface="Calibri"/>
            </a:endParaRPr>
          </a:p>
        </p:txBody>
      </p:sp>
      <p:sp>
        <p:nvSpPr>
          <p:cNvPr id="19" name="object 19"/>
          <p:cNvSpPr txBox="1"/>
          <p:nvPr/>
        </p:nvSpPr>
        <p:spPr>
          <a:xfrm>
            <a:off x="2685414" y="4598035"/>
            <a:ext cx="2894330" cy="566822"/>
          </a:xfrm>
          <a:prstGeom prst="rect">
            <a:avLst/>
          </a:prstGeom>
        </p:spPr>
        <p:txBody>
          <a:bodyPr vert="horz" wrap="square" lIns="0" tIns="12700" rIns="0" bIns="0" rtlCol="0">
            <a:spAutoFit/>
          </a:bodyPr>
          <a:lstStyle/>
          <a:p>
            <a:pPr marL="12700">
              <a:lnSpc>
                <a:spcPct val="100000"/>
              </a:lnSpc>
              <a:spcBef>
                <a:spcPts val="100"/>
              </a:spcBef>
            </a:pPr>
            <a:r>
              <a:rPr lang="en-IN" sz="1200" dirty="0"/>
              <a:t>Year, State, Crop, Season, Area, Production, Annual Rainfall, Fertilizer, Pesticide</a:t>
            </a:r>
            <a:endParaRPr sz="1150" dirty="0">
              <a:latin typeface="Calibri"/>
              <a:cs typeface="Calibri"/>
            </a:endParaRPr>
          </a:p>
        </p:txBody>
      </p:sp>
      <p:grpSp>
        <p:nvGrpSpPr>
          <p:cNvPr id="20" name="object 20"/>
          <p:cNvGrpSpPr/>
          <p:nvPr/>
        </p:nvGrpSpPr>
        <p:grpSpPr>
          <a:xfrm>
            <a:off x="6169152" y="1310665"/>
            <a:ext cx="5547360" cy="4321810"/>
            <a:chOff x="6169152" y="1310665"/>
            <a:chExt cx="5547360" cy="4321810"/>
          </a:xfrm>
        </p:grpSpPr>
        <p:pic>
          <p:nvPicPr>
            <p:cNvPr id="21" name="object 21"/>
            <p:cNvPicPr/>
            <p:nvPr/>
          </p:nvPicPr>
          <p:blipFill>
            <a:blip r:embed="rId2" cstate="print"/>
            <a:stretch>
              <a:fillRect/>
            </a:stretch>
          </p:blipFill>
          <p:spPr>
            <a:xfrm>
              <a:off x="6169152" y="1310665"/>
              <a:ext cx="5546979" cy="4321683"/>
            </a:xfrm>
            <a:prstGeom prst="rect">
              <a:avLst/>
            </a:prstGeom>
          </p:spPr>
        </p:pic>
        <p:sp>
          <p:nvSpPr>
            <p:cNvPr id="22" name="object 22"/>
            <p:cNvSpPr/>
            <p:nvPr/>
          </p:nvSpPr>
          <p:spPr>
            <a:xfrm>
              <a:off x="6254496" y="1371600"/>
              <a:ext cx="5386070" cy="4160520"/>
            </a:xfrm>
            <a:custGeom>
              <a:avLst/>
              <a:gdLst/>
              <a:ahLst/>
              <a:cxnLst/>
              <a:rect l="l" t="t" r="r" b="b"/>
              <a:pathLst>
                <a:path w="5386070" h="4160520">
                  <a:moveTo>
                    <a:pt x="5312663"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5312663" y="4160520"/>
                  </a:lnTo>
                  <a:lnTo>
                    <a:pt x="5341131" y="4154769"/>
                  </a:lnTo>
                  <a:lnTo>
                    <a:pt x="5364384" y="4139088"/>
                  </a:lnTo>
                  <a:lnTo>
                    <a:pt x="5380065" y="4115835"/>
                  </a:lnTo>
                  <a:lnTo>
                    <a:pt x="5385815" y="4087368"/>
                  </a:lnTo>
                  <a:lnTo>
                    <a:pt x="5385815" y="73151"/>
                  </a:lnTo>
                  <a:lnTo>
                    <a:pt x="5380065" y="44684"/>
                  </a:lnTo>
                  <a:lnTo>
                    <a:pt x="5364384" y="21431"/>
                  </a:lnTo>
                  <a:lnTo>
                    <a:pt x="5341131" y="5750"/>
                  </a:lnTo>
                  <a:lnTo>
                    <a:pt x="5312663" y="0"/>
                  </a:lnTo>
                  <a:close/>
                </a:path>
              </a:pathLst>
            </a:custGeom>
            <a:solidFill>
              <a:srgbClr val="FFFFFF"/>
            </a:solidFill>
          </p:spPr>
          <p:txBody>
            <a:bodyPr wrap="square" lIns="0" tIns="0" rIns="0" bIns="0" rtlCol="0"/>
            <a:lstStyle/>
            <a:p>
              <a:endParaRPr/>
            </a:p>
          </p:txBody>
        </p:sp>
        <p:sp>
          <p:nvSpPr>
            <p:cNvPr id="23" name="object 23"/>
            <p:cNvSpPr/>
            <p:nvPr/>
          </p:nvSpPr>
          <p:spPr>
            <a:xfrm>
              <a:off x="6254496" y="1371600"/>
              <a:ext cx="5386070" cy="4160520"/>
            </a:xfrm>
            <a:custGeom>
              <a:avLst/>
              <a:gdLst/>
              <a:ahLst/>
              <a:cxnLst/>
              <a:rect l="l" t="t" r="r" b="b"/>
              <a:pathLst>
                <a:path w="5386070" h="4160520">
                  <a:moveTo>
                    <a:pt x="0" y="73151"/>
                  </a:moveTo>
                  <a:lnTo>
                    <a:pt x="5750" y="44684"/>
                  </a:lnTo>
                  <a:lnTo>
                    <a:pt x="21431" y="21431"/>
                  </a:lnTo>
                  <a:lnTo>
                    <a:pt x="44684" y="5750"/>
                  </a:lnTo>
                  <a:lnTo>
                    <a:pt x="73151" y="0"/>
                  </a:lnTo>
                  <a:lnTo>
                    <a:pt x="5312663" y="0"/>
                  </a:lnTo>
                  <a:lnTo>
                    <a:pt x="5341131" y="5750"/>
                  </a:lnTo>
                  <a:lnTo>
                    <a:pt x="5364384" y="21431"/>
                  </a:lnTo>
                  <a:lnTo>
                    <a:pt x="5380065" y="44684"/>
                  </a:lnTo>
                  <a:lnTo>
                    <a:pt x="5385815" y="73151"/>
                  </a:lnTo>
                  <a:lnTo>
                    <a:pt x="5385815" y="4087368"/>
                  </a:lnTo>
                  <a:lnTo>
                    <a:pt x="5380065" y="4115835"/>
                  </a:lnTo>
                  <a:lnTo>
                    <a:pt x="5364384" y="4139088"/>
                  </a:lnTo>
                  <a:lnTo>
                    <a:pt x="5341131" y="4154769"/>
                  </a:lnTo>
                  <a:lnTo>
                    <a:pt x="5312663" y="4160520"/>
                  </a:lnTo>
                  <a:lnTo>
                    <a:pt x="73151" y="4160520"/>
                  </a:lnTo>
                  <a:lnTo>
                    <a:pt x="44684" y="4154769"/>
                  </a:lnTo>
                  <a:lnTo>
                    <a:pt x="21431" y="4139088"/>
                  </a:lnTo>
                  <a:lnTo>
                    <a:pt x="5750" y="4115835"/>
                  </a:lnTo>
                  <a:lnTo>
                    <a:pt x="0" y="4087368"/>
                  </a:lnTo>
                  <a:lnTo>
                    <a:pt x="0" y="73151"/>
                  </a:lnTo>
                  <a:close/>
                </a:path>
              </a:pathLst>
            </a:custGeom>
            <a:ln w="12192">
              <a:solidFill>
                <a:srgbClr val="DDD2C4"/>
              </a:solidFill>
            </a:ln>
          </p:spPr>
          <p:txBody>
            <a:bodyPr wrap="square" lIns="0" tIns="0" rIns="0" bIns="0" rtlCol="0"/>
            <a:lstStyle/>
            <a:p>
              <a:endParaRPr/>
            </a:p>
          </p:txBody>
        </p:sp>
      </p:grpSp>
      <p:sp>
        <p:nvSpPr>
          <p:cNvPr id="24" name="object 24"/>
          <p:cNvSpPr txBox="1"/>
          <p:nvPr/>
        </p:nvSpPr>
        <p:spPr>
          <a:xfrm>
            <a:off x="7487817" y="1654605"/>
            <a:ext cx="2965423" cy="227626"/>
          </a:xfrm>
          <a:prstGeom prst="rect">
            <a:avLst/>
          </a:prstGeom>
        </p:spPr>
        <p:txBody>
          <a:bodyPr vert="horz" wrap="square" lIns="0" tIns="12065" rIns="0" bIns="0" rtlCol="0">
            <a:spAutoFit/>
          </a:bodyPr>
          <a:lstStyle/>
          <a:p>
            <a:pPr marL="12700">
              <a:lnSpc>
                <a:spcPct val="100000"/>
              </a:lnSpc>
              <a:spcBef>
                <a:spcPts val="95"/>
              </a:spcBef>
            </a:pPr>
            <a:r>
              <a:rPr lang="en-IN" sz="1400" b="1" dirty="0">
                <a:solidFill>
                  <a:srgbClr val="C00000"/>
                </a:solidFill>
              </a:rPr>
              <a:t>SOURCE / DATA OVERVIEW</a:t>
            </a:r>
            <a:endParaRPr sz="1300" b="1" dirty="0">
              <a:solidFill>
                <a:srgbClr val="C00000"/>
              </a:solidFill>
              <a:latin typeface="Calibri"/>
              <a:cs typeface="Calibri"/>
            </a:endParaRPr>
          </a:p>
        </p:txBody>
      </p:sp>
      <p:sp>
        <p:nvSpPr>
          <p:cNvPr id="25" name="object 25"/>
          <p:cNvSpPr txBox="1"/>
          <p:nvPr/>
        </p:nvSpPr>
        <p:spPr>
          <a:xfrm>
            <a:off x="6673977" y="2111197"/>
            <a:ext cx="4548505" cy="1520929"/>
          </a:xfrm>
          <a:prstGeom prst="rect">
            <a:avLst/>
          </a:prstGeom>
        </p:spPr>
        <p:txBody>
          <a:bodyPr vert="horz" wrap="square" lIns="0" tIns="12700" rIns="0" bIns="0" rtlCol="0">
            <a:spAutoFit/>
          </a:bodyPr>
          <a:lstStyle/>
          <a:p>
            <a:pPr algn="ctr"/>
            <a:r>
              <a:rPr lang="en-IN" sz="1400" dirty="0"/>
              <a:t>The dataset contains agricultural and environmental information used to predict crop yield. It includes factors such as </a:t>
            </a:r>
            <a:r>
              <a:rPr lang="en-IN" sz="1400" b="1" dirty="0"/>
              <a:t>crop type, cultivation area, production, rainfall, fertilizer, pesticide usage, year, state, and </a:t>
            </a:r>
            <a:r>
              <a:rPr lang="en-IN" sz="1400" b="1" dirty="0" err="1"/>
              <a:t>season</a:t>
            </a:r>
            <a:r>
              <a:rPr lang="en-IN" sz="1400" dirty="0" err="1"/>
              <a:t>.The</a:t>
            </a:r>
            <a:r>
              <a:rPr lang="en-IN" sz="1400" dirty="0"/>
              <a:t> data is used for preprocessing, exploratory analysis, and training </a:t>
            </a:r>
            <a:r>
              <a:rPr lang="en-IN" sz="1400" b="1" dirty="0"/>
              <a:t>Random Forest, XGBoost, and Support Vector Regression (SVR)</a:t>
            </a:r>
            <a:r>
              <a:rPr lang="en-IN" sz="1400" dirty="0"/>
              <a:t> models.</a:t>
            </a:r>
          </a:p>
        </p:txBody>
      </p:sp>
      <p:sp>
        <p:nvSpPr>
          <p:cNvPr id="26" name="object 26"/>
          <p:cNvSpPr/>
          <p:nvPr/>
        </p:nvSpPr>
        <p:spPr>
          <a:xfrm>
            <a:off x="7485888" y="4663440"/>
            <a:ext cx="2926080" cy="457200"/>
          </a:xfrm>
          <a:custGeom>
            <a:avLst/>
            <a:gdLst/>
            <a:ahLst/>
            <a:cxnLst/>
            <a:rect l="l" t="t" r="r" b="b"/>
            <a:pathLst>
              <a:path w="2926079" h="457200">
                <a:moveTo>
                  <a:pt x="2697479" y="0"/>
                </a:moveTo>
                <a:lnTo>
                  <a:pt x="228600" y="0"/>
                </a:lnTo>
                <a:lnTo>
                  <a:pt x="182533" y="4644"/>
                </a:lnTo>
                <a:lnTo>
                  <a:pt x="139624" y="17966"/>
                </a:lnTo>
                <a:lnTo>
                  <a:pt x="100793" y="39045"/>
                </a:lnTo>
                <a:lnTo>
                  <a:pt x="66960" y="66960"/>
                </a:lnTo>
                <a:lnTo>
                  <a:pt x="39045" y="100793"/>
                </a:lnTo>
                <a:lnTo>
                  <a:pt x="17966" y="139624"/>
                </a:lnTo>
                <a:lnTo>
                  <a:pt x="4644" y="182533"/>
                </a:lnTo>
                <a:lnTo>
                  <a:pt x="0" y="228600"/>
                </a:lnTo>
                <a:lnTo>
                  <a:pt x="4644" y="274666"/>
                </a:lnTo>
                <a:lnTo>
                  <a:pt x="17966" y="317575"/>
                </a:lnTo>
                <a:lnTo>
                  <a:pt x="39045" y="356406"/>
                </a:lnTo>
                <a:lnTo>
                  <a:pt x="66960" y="390239"/>
                </a:lnTo>
                <a:lnTo>
                  <a:pt x="100793" y="418154"/>
                </a:lnTo>
                <a:lnTo>
                  <a:pt x="139624" y="439233"/>
                </a:lnTo>
                <a:lnTo>
                  <a:pt x="182533" y="452555"/>
                </a:lnTo>
                <a:lnTo>
                  <a:pt x="228600" y="457200"/>
                </a:lnTo>
                <a:lnTo>
                  <a:pt x="2697479" y="457200"/>
                </a:lnTo>
                <a:lnTo>
                  <a:pt x="2743546" y="452555"/>
                </a:lnTo>
                <a:lnTo>
                  <a:pt x="2786455" y="439233"/>
                </a:lnTo>
                <a:lnTo>
                  <a:pt x="2825286" y="418154"/>
                </a:lnTo>
                <a:lnTo>
                  <a:pt x="2859119" y="390239"/>
                </a:lnTo>
                <a:lnTo>
                  <a:pt x="2887034" y="356406"/>
                </a:lnTo>
                <a:lnTo>
                  <a:pt x="2908113" y="317575"/>
                </a:lnTo>
                <a:lnTo>
                  <a:pt x="2921435" y="274666"/>
                </a:lnTo>
                <a:lnTo>
                  <a:pt x="2926079" y="228600"/>
                </a:lnTo>
                <a:lnTo>
                  <a:pt x="2921435" y="182533"/>
                </a:lnTo>
                <a:lnTo>
                  <a:pt x="2908113" y="139624"/>
                </a:lnTo>
                <a:lnTo>
                  <a:pt x="2887034" y="100793"/>
                </a:lnTo>
                <a:lnTo>
                  <a:pt x="2859119" y="66960"/>
                </a:lnTo>
                <a:lnTo>
                  <a:pt x="2825286" y="39045"/>
                </a:lnTo>
                <a:lnTo>
                  <a:pt x="2786455" y="17966"/>
                </a:lnTo>
                <a:lnTo>
                  <a:pt x="2743546" y="4644"/>
                </a:lnTo>
                <a:lnTo>
                  <a:pt x="2697479" y="0"/>
                </a:lnTo>
                <a:close/>
              </a:path>
            </a:pathLst>
          </a:custGeom>
          <a:solidFill>
            <a:srgbClr val="006FC0"/>
          </a:solidFill>
        </p:spPr>
        <p:txBody>
          <a:bodyPr wrap="square" lIns="0" tIns="0" rIns="0" bIns="0" rtlCol="0"/>
          <a:lstStyle/>
          <a:p>
            <a:endParaRPr/>
          </a:p>
        </p:txBody>
      </p:sp>
      <p:sp>
        <p:nvSpPr>
          <p:cNvPr id="27" name="object 27"/>
          <p:cNvSpPr txBox="1"/>
          <p:nvPr/>
        </p:nvSpPr>
        <p:spPr>
          <a:xfrm>
            <a:off x="7941436" y="4793295"/>
            <a:ext cx="2002410" cy="197490"/>
          </a:xfrm>
          <a:prstGeom prst="rect">
            <a:avLst/>
          </a:prstGeom>
        </p:spPr>
        <p:txBody>
          <a:bodyPr vert="horz" wrap="square" lIns="0" tIns="12700" rIns="0" bIns="0" rtlCol="0">
            <a:spAutoFit/>
          </a:bodyPr>
          <a:lstStyle/>
          <a:p>
            <a:pPr marL="12700">
              <a:lnSpc>
                <a:spcPct val="100000"/>
              </a:lnSpc>
              <a:spcBef>
                <a:spcPts val="100"/>
              </a:spcBef>
            </a:pPr>
            <a:r>
              <a:rPr lang="en-IN" sz="1200" dirty="0">
                <a:solidFill>
                  <a:schemeClr val="bg1"/>
                </a:solidFill>
              </a:rPr>
              <a:t>CROP YIELD PREDICTION</a:t>
            </a:r>
            <a:endParaRPr sz="1200" dirty="0">
              <a:solidFill>
                <a:schemeClr val="bg1"/>
              </a:solidFill>
              <a:latin typeface="Calibri"/>
              <a:cs typeface="Calibri"/>
            </a:endParaRPr>
          </a:p>
        </p:txBody>
      </p:sp>
      <p:sp>
        <p:nvSpPr>
          <p:cNvPr id="28" name="object 28"/>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29" name="object 29"/>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13</a:t>
            </a:fld>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7145">
              <a:lnSpc>
                <a:spcPct val="100000"/>
              </a:lnSpc>
              <a:spcBef>
                <a:spcPts val="105"/>
              </a:spcBef>
            </a:pPr>
            <a:r>
              <a:rPr dirty="0"/>
              <a:t>PROPOSED</a:t>
            </a:r>
            <a:r>
              <a:rPr spc="-55" dirty="0"/>
              <a:t> </a:t>
            </a:r>
            <a:r>
              <a:rPr dirty="0"/>
              <a:t>MODEL</a:t>
            </a:r>
            <a:r>
              <a:rPr spc="-50" dirty="0"/>
              <a:t> </a:t>
            </a:r>
            <a:r>
              <a:rPr spc="-10" dirty="0"/>
              <a:t>WORKFLOW</a:t>
            </a:r>
          </a:p>
        </p:txBody>
      </p:sp>
      <p:grpSp>
        <p:nvGrpSpPr>
          <p:cNvPr id="3" name="object 3"/>
          <p:cNvGrpSpPr/>
          <p:nvPr/>
        </p:nvGrpSpPr>
        <p:grpSpPr>
          <a:xfrm>
            <a:off x="463295" y="1331785"/>
            <a:ext cx="1874520" cy="3569335"/>
            <a:chOff x="463295" y="1331785"/>
            <a:chExt cx="1874520" cy="3569335"/>
          </a:xfrm>
        </p:grpSpPr>
        <p:pic>
          <p:nvPicPr>
            <p:cNvPr id="4" name="object 4"/>
            <p:cNvPicPr/>
            <p:nvPr/>
          </p:nvPicPr>
          <p:blipFill>
            <a:blip r:embed="rId2" cstate="print"/>
            <a:stretch>
              <a:fillRect/>
            </a:stretch>
          </p:blipFill>
          <p:spPr>
            <a:xfrm>
              <a:off x="463295" y="1539239"/>
              <a:ext cx="1874139" cy="3361563"/>
            </a:xfrm>
            <a:prstGeom prst="rect">
              <a:avLst/>
            </a:prstGeom>
          </p:spPr>
        </p:pic>
        <p:sp>
          <p:nvSpPr>
            <p:cNvPr id="5" name="object 5"/>
            <p:cNvSpPr/>
            <p:nvPr/>
          </p:nvSpPr>
          <p:spPr>
            <a:xfrm>
              <a:off x="548639" y="1600199"/>
              <a:ext cx="1713230" cy="3200400"/>
            </a:xfrm>
            <a:custGeom>
              <a:avLst/>
              <a:gdLst/>
              <a:ahLst/>
              <a:cxnLst/>
              <a:rect l="l" t="t" r="r" b="b"/>
              <a:pathLst>
                <a:path w="1713230" h="3200400">
                  <a:moveTo>
                    <a:pt x="1639824" y="0"/>
                  </a:moveTo>
                  <a:lnTo>
                    <a:pt x="73215" y="0"/>
                  </a:lnTo>
                  <a:lnTo>
                    <a:pt x="44716" y="5750"/>
                  </a:lnTo>
                  <a:lnTo>
                    <a:pt x="21443" y="21431"/>
                  </a:lnTo>
                  <a:lnTo>
                    <a:pt x="5753" y="44684"/>
                  </a:lnTo>
                  <a:lnTo>
                    <a:pt x="0" y="73151"/>
                  </a:lnTo>
                  <a:lnTo>
                    <a:pt x="0" y="3127248"/>
                  </a:lnTo>
                  <a:lnTo>
                    <a:pt x="5753" y="3155715"/>
                  </a:lnTo>
                  <a:lnTo>
                    <a:pt x="21443" y="3178968"/>
                  </a:lnTo>
                  <a:lnTo>
                    <a:pt x="44716" y="3194649"/>
                  </a:lnTo>
                  <a:lnTo>
                    <a:pt x="73215"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6" name="object 6"/>
            <p:cNvSpPr/>
            <p:nvPr/>
          </p:nvSpPr>
          <p:spPr>
            <a:xfrm>
              <a:off x="548639" y="1600199"/>
              <a:ext cx="1713230" cy="3200400"/>
            </a:xfrm>
            <a:custGeom>
              <a:avLst/>
              <a:gdLst/>
              <a:ahLst/>
              <a:cxnLst/>
              <a:rect l="l" t="t" r="r" b="b"/>
              <a:pathLst>
                <a:path w="1713230" h="3200400">
                  <a:moveTo>
                    <a:pt x="0" y="73151"/>
                  </a:moveTo>
                  <a:lnTo>
                    <a:pt x="5753" y="44684"/>
                  </a:lnTo>
                  <a:lnTo>
                    <a:pt x="21443" y="21431"/>
                  </a:lnTo>
                  <a:lnTo>
                    <a:pt x="44716" y="5750"/>
                  </a:lnTo>
                  <a:lnTo>
                    <a:pt x="73215"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215" y="3200400"/>
                  </a:lnTo>
                  <a:lnTo>
                    <a:pt x="44716" y="3194649"/>
                  </a:lnTo>
                  <a:lnTo>
                    <a:pt x="21443" y="3178968"/>
                  </a:lnTo>
                  <a:lnTo>
                    <a:pt x="5753"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7" name="object 7"/>
            <p:cNvSpPr/>
            <p:nvPr/>
          </p:nvSpPr>
          <p:spPr>
            <a:xfrm>
              <a:off x="1149095" y="1344167"/>
              <a:ext cx="512445" cy="512445"/>
            </a:xfrm>
            <a:custGeom>
              <a:avLst/>
              <a:gdLst/>
              <a:ahLst/>
              <a:cxnLst/>
              <a:rect l="l" t="t" r="r" b="b"/>
              <a:pathLst>
                <a:path w="512444" h="512444">
                  <a:moveTo>
                    <a:pt x="256031" y="0"/>
                  </a:moveTo>
                  <a:lnTo>
                    <a:pt x="210010" y="4126"/>
                  </a:lnTo>
                  <a:lnTo>
                    <a:pt x="166694" y="16023"/>
                  </a:lnTo>
                  <a:lnTo>
                    <a:pt x="126808" y="34967"/>
                  </a:lnTo>
                  <a:lnTo>
                    <a:pt x="91074" y="60232"/>
                  </a:lnTo>
                  <a:lnTo>
                    <a:pt x="60215" y="91095"/>
                  </a:lnTo>
                  <a:lnTo>
                    <a:pt x="34956" y="126830"/>
                  </a:lnTo>
                  <a:lnTo>
                    <a:pt x="16018" y="166714"/>
                  </a:lnTo>
                  <a:lnTo>
                    <a:pt x="4125" y="210023"/>
                  </a:lnTo>
                  <a:lnTo>
                    <a:pt x="0" y="256032"/>
                  </a:lnTo>
                  <a:lnTo>
                    <a:pt x="4125" y="302040"/>
                  </a:lnTo>
                  <a:lnTo>
                    <a:pt x="16018" y="345349"/>
                  </a:lnTo>
                  <a:lnTo>
                    <a:pt x="34956" y="385233"/>
                  </a:lnTo>
                  <a:lnTo>
                    <a:pt x="60215" y="420968"/>
                  </a:lnTo>
                  <a:lnTo>
                    <a:pt x="91074" y="451831"/>
                  </a:lnTo>
                  <a:lnTo>
                    <a:pt x="126808" y="477096"/>
                  </a:lnTo>
                  <a:lnTo>
                    <a:pt x="166694" y="496040"/>
                  </a:lnTo>
                  <a:lnTo>
                    <a:pt x="210010"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4"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8" name="object 8"/>
            <p:cNvSpPr/>
            <p:nvPr/>
          </p:nvSpPr>
          <p:spPr>
            <a:xfrm>
              <a:off x="1149095" y="1344167"/>
              <a:ext cx="512445" cy="512445"/>
            </a:xfrm>
            <a:custGeom>
              <a:avLst/>
              <a:gdLst/>
              <a:ahLst/>
              <a:cxnLst/>
              <a:rect l="l" t="t" r="r" b="b"/>
              <a:pathLst>
                <a:path w="512444" h="512444">
                  <a:moveTo>
                    <a:pt x="0" y="256032"/>
                  </a:moveTo>
                  <a:lnTo>
                    <a:pt x="4125" y="210023"/>
                  </a:lnTo>
                  <a:lnTo>
                    <a:pt x="16018" y="166714"/>
                  </a:lnTo>
                  <a:lnTo>
                    <a:pt x="34956" y="126830"/>
                  </a:lnTo>
                  <a:lnTo>
                    <a:pt x="60215" y="91095"/>
                  </a:lnTo>
                  <a:lnTo>
                    <a:pt x="91074" y="60232"/>
                  </a:lnTo>
                  <a:lnTo>
                    <a:pt x="126808" y="34967"/>
                  </a:lnTo>
                  <a:lnTo>
                    <a:pt x="166694" y="16023"/>
                  </a:lnTo>
                  <a:lnTo>
                    <a:pt x="210010"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4"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10" y="507937"/>
                  </a:lnTo>
                  <a:lnTo>
                    <a:pt x="166694" y="496040"/>
                  </a:lnTo>
                  <a:lnTo>
                    <a:pt x="126808" y="477096"/>
                  </a:lnTo>
                  <a:lnTo>
                    <a:pt x="91074" y="451831"/>
                  </a:lnTo>
                  <a:lnTo>
                    <a:pt x="60215" y="420968"/>
                  </a:lnTo>
                  <a:lnTo>
                    <a:pt x="34956" y="385233"/>
                  </a:lnTo>
                  <a:lnTo>
                    <a:pt x="16018" y="345349"/>
                  </a:lnTo>
                  <a:lnTo>
                    <a:pt x="4125" y="302040"/>
                  </a:lnTo>
                  <a:lnTo>
                    <a:pt x="0" y="256032"/>
                  </a:lnTo>
                  <a:close/>
                </a:path>
              </a:pathLst>
            </a:custGeom>
            <a:ln w="24383">
              <a:solidFill>
                <a:srgbClr val="FFFFFF"/>
              </a:solidFill>
            </a:ln>
          </p:spPr>
          <p:txBody>
            <a:bodyPr wrap="square" lIns="0" tIns="0" rIns="0" bIns="0" rtlCol="0"/>
            <a:lstStyle/>
            <a:p>
              <a:endParaRPr/>
            </a:p>
          </p:txBody>
        </p:sp>
      </p:grpSp>
      <p:sp>
        <p:nvSpPr>
          <p:cNvPr id="9" name="object 9"/>
          <p:cNvSpPr txBox="1"/>
          <p:nvPr/>
        </p:nvSpPr>
        <p:spPr>
          <a:xfrm>
            <a:off x="1340611"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1</a:t>
            </a:r>
            <a:endParaRPr sz="1600">
              <a:latin typeface="Calibri"/>
              <a:cs typeface="Calibri"/>
            </a:endParaRPr>
          </a:p>
        </p:txBody>
      </p:sp>
      <p:sp>
        <p:nvSpPr>
          <p:cNvPr id="10" name="object 10"/>
          <p:cNvSpPr txBox="1"/>
          <p:nvPr/>
        </p:nvSpPr>
        <p:spPr>
          <a:xfrm>
            <a:off x="1102233" y="1988546"/>
            <a:ext cx="608521" cy="190437"/>
          </a:xfrm>
          <a:prstGeom prst="rect">
            <a:avLst/>
          </a:prstGeom>
        </p:spPr>
        <p:txBody>
          <a:bodyPr vert="horz" wrap="square" lIns="0" tIns="13335" rIns="0" bIns="0" rtlCol="0">
            <a:spAutoFit/>
          </a:bodyPr>
          <a:lstStyle/>
          <a:p>
            <a:pPr marL="12700">
              <a:lnSpc>
                <a:spcPct val="100000"/>
              </a:lnSpc>
              <a:spcBef>
                <a:spcPts val="105"/>
              </a:spcBef>
            </a:pPr>
            <a:r>
              <a:rPr lang="en-IN" sz="1150" b="1" dirty="0">
                <a:solidFill>
                  <a:srgbClr val="C00000"/>
                </a:solidFill>
                <a:latin typeface="Calibri"/>
                <a:cs typeface="Calibri"/>
              </a:rPr>
              <a:t>DATASET</a:t>
            </a:r>
            <a:endParaRPr sz="1150" b="1" dirty="0">
              <a:solidFill>
                <a:srgbClr val="C00000"/>
              </a:solidFill>
              <a:latin typeface="Calibri"/>
              <a:cs typeface="Calibri"/>
            </a:endParaRPr>
          </a:p>
        </p:txBody>
      </p:sp>
      <p:sp>
        <p:nvSpPr>
          <p:cNvPr id="11" name="object 11"/>
          <p:cNvSpPr txBox="1"/>
          <p:nvPr/>
        </p:nvSpPr>
        <p:spPr>
          <a:xfrm>
            <a:off x="398779" y="2633577"/>
            <a:ext cx="1668527" cy="566822"/>
          </a:xfrm>
          <a:prstGeom prst="rect">
            <a:avLst/>
          </a:prstGeom>
        </p:spPr>
        <p:txBody>
          <a:bodyPr vert="horz" wrap="square" lIns="0" tIns="12700" rIns="0" bIns="0" rtlCol="0">
            <a:spAutoFit/>
          </a:bodyPr>
          <a:lstStyle/>
          <a:p>
            <a:pPr marL="341630" marR="5080" lvl="6" indent="-329565" algn="ctr">
              <a:spcBef>
                <a:spcPts val="100"/>
              </a:spcBef>
            </a:pPr>
            <a:r>
              <a:rPr lang="en-IN" sz="900" dirty="0"/>
              <a:t>           Load the crop yield dataset containing agricultural and environmental features.</a:t>
            </a:r>
            <a:endParaRPr sz="900" dirty="0">
              <a:latin typeface="Calibri"/>
              <a:cs typeface="Calibri"/>
            </a:endParaRPr>
          </a:p>
        </p:txBody>
      </p:sp>
      <p:grpSp>
        <p:nvGrpSpPr>
          <p:cNvPr id="12" name="object 12"/>
          <p:cNvGrpSpPr/>
          <p:nvPr/>
        </p:nvGrpSpPr>
        <p:grpSpPr>
          <a:xfrm>
            <a:off x="2340864" y="1331785"/>
            <a:ext cx="1871345" cy="3569335"/>
            <a:chOff x="2340864" y="1331785"/>
            <a:chExt cx="1871345" cy="3569335"/>
          </a:xfrm>
        </p:grpSpPr>
        <p:pic>
          <p:nvPicPr>
            <p:cNvPr id="13" name="object 13"/>
            <p:cNvPicPr/>
            <p:nvPr/>
          </p:nvPicPr>
          <p:blipFill>
            <a:blip r:embed="rId3" cstate="print"/>
            <a:stretch>
              <a:fillRect/>
            </a:stretch>
          </p:blipFill>
          <p:spPr>
            <a:xfrm>
              <a:off x="2340864" y="1539239"/>
              <a:ext cx="1871090" cy="3361563"/>
            </a:xfrm>
            <a:prstGeom prst="rect">
              <a:avLst/>
            </a:prstGeom>
          </p:spPr>
        </p:pic>
        <p:sp>
          <p:nvSpPr>
            <p:cNvPr id="14" name="object 14"/>
            <p:cNvSpPr/>
            <p:nvPr/>
          </p:nvSpPr>
          <p:spPr>
            <a:xfrm>
              <a:off x="2426208" y="1600199"/>
              <a:ext cx="1710055" cy="3200400"/>
            </a:xfrm>
            <a:custGeom>
              <a:avLst/>
              <a:gdLst/>
              <a:ahLst/>
              <a:cxnLst/>
              <a:rect l="l" t="t" r="r" b="b"/>
              <a:pathLst>
                <a:path w="1710054" h="3200400">
                  <a:moveTo>
                    <a:pt x="1636903"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3" y="3200400"/>
                  </a:lnTo>
                  <a:lnTo>
                    <a:pt x="1665297" y="3194651"/>
                  </a:lnTo>
                  <a:lnTo>
                    <a:pt x="1688512" y="3178984"/>
                  </a:lnTo>
                  <a:lnTo>
                    <a:pt x="1704179" y="3155769"/>
                  </a:lnTo>
                  <a:lnTo>
                    <a:pt x="1709928" y="3127375"/>
                  </a:lnTo>
                  <a:lnTo>
                    <a:pt x="1709928" y="73025"/>
                  </a:lnTo>
                  <a:lnTo>
                    <a:pt x="1704179" y="44630"/>
                  </a:lnTo>
                  <a:lnTo>
                    <a:pt x="1688512" y="21415"/>
                  </a:lnTo>
                  <a:lnTo>
                    <a:pt x="1665297" y="5748"/>
                  </a:lnTo>
                  <a:lnTo>
                    <a:pt x="1636903" y="0"/>
                  </a:lnTo>
                  <a:close/>
                </a:path>
              </a:pathLst>
            </a:custGeom>
            <a:solidFill>
              <a:srgbClr val="FFFFFF"/>
            </a:solidFill>
          </p:spPr>
          <p:txBody>
            <a:bodyPr wrap="square" lIns="0" tIns="0" rIns="0" bIns="0" rtlCol="0"/>
            <a:lstStyle/>
            <a:p>
              <a:endParaRPr/>
            </a:p>
          </p:txBody>
        </p:sp>
        <p:sp>
          <p:nvSpPr>
            <p:cNvPr id="15" name="object 15"/>
            <p:cNvSpPr/>
            <p:nvPr/>
          </p:nvSpPr>
          <p:spPr>
            <a:xfrm>
              <a:off x="2426208"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3" y="0"/>
                  </a:lnTo>
                  <a:lnTo>
                    <a:pt x="1665297" y="5748"/>
                  </a:lnTo>
                  <a:lnTo>
                    <a:pt x="1688512" y="21415"/>
                  </a:lnTo>
                  <a:lnTo>
                    <a:pt x="1704179" y="44630"/>
                  </a:lnTo>
                  <a:lnTo>
                    <a:pt x="1709928" y="73025"/>
                  </a:lnTo>
                  <a:lnTo>
                    <a:pt x="1709928" y="3127375"/>
                  </a:lnTo>
                  <a:lnTo>
                    <a:pt x="1704179" y="3155769"/>
                  </a:lnTo>
                  <a:lnTo>
                    <a:pt x="1688512" y="3178984"/>
                  </a:lnTo>
                  <a:lnTo>
                    <a:pt x="1665297" y="3194651"/>
                  </a:lnTo>
                  <a:lnTo>
                    <a:pt x="1636903" y="3200400"/>
                  </a:lnTo>
                  <a:lnTo>
                    <a:pt x="73025" y="3200400"/>
                  </a:lnTo>
                  <a:lnTo>
                    <a:pt x="44630" y="3194651"/>
                  </a:lnTo>
                  <a:lnTo>
                    <a:pt x="21415" y="3178984"/>
                  </a:lnTo>
                  <a:lnTo>
                    <a:pt x="5748" y="3155769"/>
                  </a:lnTo>
                  <a:lnTo>
                    <a:pt x="0" y="3127375"/>
                  </a:lnTo>
                  <a:lnTo>
                    <a:pt x="0" y="73025"/>
                  </a:lnTo>
                  <a:close/>
                </a:path>
              </a:pathLst>
            </a:custGeom>
            <a:ln w="12192">
              <a:solidFill>
                <a:srgbClr val="DDD2C4"/>
              </a:solidFill>
            </a:ln>
          </p:spPr>
          <p:txBody>
            <a:bodyPr wrap="square" lIns="0" tIns="0" rIns="0" bIns="0" rtlCol="0"/>
            <a:lstStyle/>
            <a:p>
              <a:endParaRPr/>
            </a:p>
          </p:txBody>
        </p:sp>
        <p:sp>
          <p:nvSpPr>
            <p:cNvPr id="16" name="object 16"/>
            <p:cNvSpPr/>
            <p:nvPr/>
          </p:nvSpPr>
          <p:spPr>
            <a:xfrm>
              <a:off x="3023616"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17" name="object 17"/>
            <p:cNvSpPr/>
            <p:nvPr/>
          </p:nvSpPr>
          <p:spPr>
            <a:xfrm>
              <a:off x="3023616"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18" name="object 18"/>
          <p:cNvSpPr txBox="1"/>
          <p:nvPr/>
        </p:nvSpPr>
        <p:spPr>
          <a:xfrm>
            <a:off x="3217291"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2</a:t>
            </a:r>
            <a:endParaRPr sz="1600">
              <a:latin typeface="Calibri"/>
              <a:cs typeface="Calibri"/>
            </a:endParaRPr>
          </a:p>
        </p:txBody>
      </p:sp>
      <p:sp>
        <p:nvSpPr>
          <p:cNvPr id="19" name="object 19"/>
          <p:cNvSpPr txBox="1"/>
          <p:nvPr/>
        </p:nvSpPr>
        <p:spPr>
          <a:xfrm>
            <a:off x="2891028" y="2041929"/>
            <a:ext cx="802005" cy="167354"/>
          </a:xfrm>
          <a:prstGeom prst="rect">
            <a:avLst/>
          </a:prstGeom>
        </p:spPr>
        <p:txBody>
          <a:bodyPr vert="horz" wrap="square" lIns="0" tIns="13335" rIns="0" bIns="0" rtlCol="0">
            <a:spAutoFit/>
          </a:bodyPr>
          <a:lstStyle/>
          <a:p>
            <a:pPr marL="12700">
              <a:lnSpc>
                <a:spcPct val="100000"/>
              </a:lnSpc>
              <a:spcBef>
                <a:spcPts val="105"/>
              </a:spcBef>
            </a:pPr>
            <a:r>
              <a:rPr sz="1000" b="1" spc="-10" dirty="0">
                <a:solidFill>
                  <a:srgbClr val="C00000"/>
                </a:solidFill>
                <a:latin typeface="Calibri"/>
                <a:cs typeface="Calibri"/>
              </a:rPr>
              <a:t>PREPROCESS</a:t>
            </a:r>
            <a:endParaRPr sz="1000" dirty="0">
              <a:latin typeface="Calibri"/>
              <a:cs typeface="Calibri"/>
            </a:endParaRPr>
          </a:p>
        </p:txBody>
      </p:sp>
      <p:sp>
        <p:nvSpPr>
          <p:cNvPr id="20" name="object 20"/>
          <p:cNvSpPr txBox="1"/>
          <p:nvPr/>
        </p:nvSpPr>
        <p:spPr>
          <a:xfrm>
            <a:off x="2495167" y="2679294"/>
            <a:ext cx="1565531" cy="567463"/>
          </a:xfrm>
          <a:prstGeom prst="rect">
            <a:avLst/>
          </a:prstGeom>
        </p:spPr>
        <p:txBody>
          <a:bodyPr vert="horz" wrap="square" lIns="0" tIns="13335" rIns="0" bIns="0" rtlCol="0">
            <a:spAutoFit/>
          </a:bodyPr>
          <a:lstStyle/>
          <a:p>
            <a:pPr marL="12700" algn="ctr">
              <a:lnSpc>
                <a:spcPct val="100000"/>
              </a:lnSpc>
              <a:spcBef>
                <a:spcPts val="105"/>
              </a:spcBef>
            </a:pPr>
            <a:r>
              <a:rPr lang="en-IN" sz="900" dirty="0"/>
              <a:t>Clean the data and encode categorical features. Prepare the input variables for model training.</a:t>
            </a:r>
            <a:endParaRPr sz="900" dirty="0">
              <a:latin typeface="Calibri"/>
              <a:cs typeface="Calibri"/>
            </a:endParaRPr>
          </a:p>
        </p:txBody>
      </p:sp>
      <p:grpSp>
        <p:nvGrpSpPr>
          <p:cNvPr id="21" name="object 21"/>
          <p:cNvGrpSpPr/>
          <p:nvPr/>
        </p:nvGrpSpPr>
        <p:grpSpPr>
          <a:xfrm>
            <a:off x="4215384" y="1331785"/>
            <a:ext cx="1874520" cy="3569335"/>
            <a:chOff x="4215384" y="1331785"/>
            <a:chExt cx="1874520" cy="3569335"/>
          </a:xfrm>
        </p:grpSpPr>
        <p:pic>
          <p:nvPicPr>
            <p:cNvPr id="22" name="object 22"/>
            <p:cNvPicPr/>
            <p:nvPr/>
          </p:nvPicPr>
          <p:blipFill>
            <a:blip r:embed="rId2" cstate="print"/>
            <a:stretch>
              <a:fillRect/>
            </a:stretch>
          </p:blipFill>
          <p:spPr>
            <a:xfrm>
              <a:off x="4215384" y="1539239"/>
              <a:ext cx="1874139" cy="3361563"/>
            </a:xfrm>
            <a:prstGeom prst="rect">
              <a:avLst/>
            </a:prstGeom>
          </p:spPr>
        </p:pic>
        <p:sp>
          <p:nvSpPr>
            <p:cNvPr id="23" name="object 23"/>
            <p:cNvSpPr/>
            <p:nvPr/>
          </p:nvSpPr>
          <p:spPr>
            <a:xfrm>
              <a:off x="4300728" y="1600199"/>
              <a:ext cx="1713230" cy="3200400"/>
            </a:xfrm>
            <a:custGeom>
              <a:avLst/>
              <a:gdLst/>
              <a:ahLst/>
              <a:cxnLst/>
              <a:rect l="l" t="t" r="r" b="b"/>
              <a:pathLst>
                <a:path w="1713229" h="3200400">
                  <a:moveTo>
                    <a:pt x="1639824" y="0"/>
                  </a:moveTo>
                  <a:lnTo>
                    <a:pt x="73151" y="0"/>
                  </a:lnTo>
                  <a:lnTo>
                    <a:pt x="44684" y="5750"/>
                  </a:lnTo>
                  <a:lnTo>
                    <a:pt x="21431" y="21431"/>
                  </a:lnTo>
                  <a:lnTo>
                    <a:pt x="5750" y="44684"/>
                  </a:lnTo>
                  <a:lnTo>
                    <a:pt x="0" y="73151"/>
                  </a:lnTo>
                  <a:lnTo>
                    <a:pt x="0" y="3127248"/>
                  </a:lnTo>
                  <a:lnTo>
                    <a:pt x="5750" y="3155715"/>
                  </a:lnTo>
                  <a:lnTo>
                    <a:pt x="21431" y="3178968"/>
                  </a:lnTo>
                  <a:lnTo>
                    <a:pt x="44684" y="3194649"/>
                  </a:lnTo>
                  <a:lnTo>
                    <a:pt x="73151"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24" name="object 24"/>
            <p:cNvSpPr/>
            <p:nvPr/>
          </p:nvSpPr>
          <p:spPr>
            <a:xfrm>
              <a:off x="4300728" y="1600199"/>
              <a:ext cx="1713230" cy="3200400"/>
            </a:xfrm>
            <a:custGeom>
              <a:avLst/>
              <a:gdLst/>
              <a:ahLst/>
              <a:cxnLst/>
              <a:rect l="l" t="t" r="r" b="b"/>
              <a:pathLst>
                <a:path w="1713229" h="3200400">
                  <a:moveTo>
                    <a:pt x="0" y="73151"/>
                  </a:moveTo>
                  <a:lnTo>
                    <a:pt x="5750" y="44684"/>
                  </a:lnTo>
                  <a:lnTo>
                    <a:pt x="21431" y="21431"/>
                  </a:lnTo>
                  <a:lnTo>
                    <a:pt x="44684" y="5750"/>
                  </a:lnTo>
                  <a:lnTo>
                    <a:pt x="73151"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151" y="3200400"/>
                  </a:lnTo>
                  <a:lnTo>
                    <a:pt x="44684" y="3194649"/>
                  </a:lnTo>
                  <a:lnTo>
                    <a:pt x="21431" y="3178968"/>
                  </a:lnTo>
                  <a:lnTo>
                    <a:pt x="5750"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25" name="object 25"/>
            <p:cNvSpPr/>
            <p:nvPr/>
          </p:nvSpPr>
          <p:spPr>
            <a:xfrm>
              <a:off x="4901184"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26" name="object 26"/>
            <p:cNvSpPr/>
            <p:nvPr/>
          </p:nvSpPr>
          <p:spPr>
            <a:xfrm>
              <a:off x="4901184"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27" name="object 27"/>
          <p:cNvSpPr txBox="1"/>
          <p:nvPr/>
        </p:nvSpPr>
        <p:spPr>
          <a:xfrm>
            <a:off x="4358893" y="2051684"/>
            <a:ext cx="1655066"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FEATURE PREPARATION</a:t>
            </a:r>
            <a:endParaRPr sz="1000" b="1" dirty="0">
              <a:solidFill>
                <a:srgbClr val="C00000"/>
              </a:solidFill>
              <a:latin typeface="Calibri"/>
              <a:cs typeface="Calibri"/>
            </a:endParaRPr>
          </a:p>
        </p:txBody>
      </p:sp>
      <p:sp>
        <p:nvSpPr>
          <p:cNvPr id="28" name="object 28"/>
          <p:cNvSpPr txBox="1"/>
          <p:nvPr/>
        </p:nvSpPr>
        <p:spPr>
          <a:xfrm>
            <a:off x="4021202" y="2633577"/>
            <a:ext cx="1961260" cy="705321"/>
          </a:xfrm>
          <a:prstGeom prst="rect">
            <a:avLst/>
          </a:prstGeom>
        </p:spPr>
        <p:txBody>
          <a:bodyPr vert="horz" wrap="square" lIns="0" tIns="12700" rIns="0" bIns="0" rtlCol="0">
            <a:spAutoFit/>
          </a:bodyPr>
          <a:lstStyle/>
          <a:p>
            <a:pPr marL="360045" marR="5080" indent="-347980" algn="ctr">
              <a:lnSpc>
                <a:spcPct val="100000"/>
              </a:lnSpc>
              <a:spcBef>
                <a:spcPts val="100"/>
              </a:spcBef>
            </a:pPr>
            <a:r>
              <a:rPr lang="en-IN" sz="900" dirty="0"/>
              <a:t>           Select the relevant input features such as </a:t>
            </a:r>
            <a:r>
              <a:rPr lang="en-IN" sz="900" b="1" dirty="0"/>
              <a:t>Year, State, Crop, Season, Area, Production, Annual Rainfall, Fertilizer, and Pesticide</a:t>
            </a:r>
            <a:r>
              <a:rPr lang="en-IN" sz="900" dirty="0"/>
              <a:t>.</a:t>
            </a:r>
            <a:endParaRPr sz="900" dirty="0">
              <a:latin typeface="Calibri"/>
              <a:cs typeface="Calibri"/>
            </a:endParaRPr>
          </a:p>
        </p:txBody>
      </p:sp>
      <p:grpSp>
        <p:nvGrpSpPr>
          <p:cNvPr id="29" name="object 29"/>
          <p:cNvGrpSpPr/>
          <p:nvPr/>
        </p:nvGrpSpPr>
        <p:grpSpPr>
          <a:xfrm>
            <a:off x="6092952" y="1331785"/>
            <a:ext cx="1871345" cy="3569335"/>
            <a:chOff x="6092952" y="1331785"/>
            <a:chExt cx="1871345" cy="3569335"/>
          </a:xfrm>
        </p:grpSpPr>
        <p:pic>
          <p:nvPicPr>
            <p:cNvPr id="30" name="object 30"/>
            <p:cNvPicPr/>
            <p:nvPr/>
          </p:nvPicPr>
          <p:blipFill>
            <a:blip r:embed="rId3" cstate="print"/>
            <a:stretch>
              <a:fillRect/>
            </a:stretch>
          </p:blipFill>
          <p:spPr>
            <a:xfrm>
              <a:off x="6092952" y="1539239"/>
              <a:ext cx="1871091" cy="3361563"/>
            </a:xfrm>
            <a:prstGeom prst="rect">
              <a:avLst/>
            </a:prstGeom>
          </p:spPr>
        </p:pic>
        <p:sp>
          <p:nvSpPr>
            <p:cNvPr id="31" name="object 31"/>
            <p:cNvSpPr/>
            <p:nvPr/>
          </p:nvSpPr>
          <p:spPr>
            <a:xfrm>
              <a:off x="6178296" y="1600199"/>
              <a:ext cx="1710055" cy="3200400"/>
            </a:xfrm>
            <a:custGeom>
              <a:avLst/>
              <a:gdLst/>
              <a:ahLst/>
              <a:cxnLst/>
              <a:rect l="l" t="t" r="r" b="b"/>
              <a:pathLst>
                <a:path w="1710054" h="3200400">
                  <a:moveTo>
                    <a:pt x="1636902"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2" y="3200400"/>
                  </a:lnTo>
                  <a:lnTo>
                    <a:pt x="1665297" y="3194651"/>
                  </a:lnTo>
                  <a:lnTo>
                    <a:pt x="1688512" y="3178984"/>
                  </a:lnTo>
                  <a:lnTo>
                    <a:pt x="1704179" y="3155769"/>
                  </a:lnTo>
                  <a:lnTo>
                    <a:pt x="1709927" y="3127375"/>
                  </a:lnTo>
                  <a:lnTo>
                    <a:pt x="1709927" y="73025"/>
                  </a:lnTo>
                  <a:lnTo>
                    <a:pt x="1704179" y="44630"/>
                  </a:lnTo>
                  <a:lnTo>
                    <a:pt x="1688512" y="21415"/>
                  </a:lnTo>
                  <a:lnTo>
                    <a:pt x="1665297" y="5748"/>
                  </a:lnTo>
                  <a:lnTo>
                    <a:pt x="1636902" y="0"/>
                  </a:lnTo>
                  <a:close/>
                </a:path>
              </a:pathLst>
            </a:custGeom>
            <a:solidFill>
              <a:srgbClr val="FFFFFF"/>
            </a:solidFill>
          </p:spPr>
          <p:txBody>
            <a:bodyPr wrap="square" lIns="0" tIns="0" rIns="0" bIns="0" rtlCol="0"/>
            <a:lstStyle/>
            <a:p>
              <a:endParaRPr/>
            </a:p>
          </p:txBody>
        </p:sp>
        <p:sp>
          <p:nvSpPr>
            <p:cNvPr id="32" name="object 32"/>
            <p:cNvSpPr/>
            <p:nvPr/>
          </p:nvSpPr>
          <p:spPr>
            <a:xfrm>
              <a:off x="6178296"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2" y="0"/>
                  </a:lnTo>
                  <a:lnTo>
                    <a:pt x="1665297" y="5748"/>
                  </a:lnTo>
                  <a:lnTo>
                    <a:pt x="1688512" y="21415"/>
                  </a:lnTo>
                  <a:lnTo>
                    <a:pt x="1704179" y="44630"/>
                  </a:lnTo>
                  <a:lnTo>
                    <a:pt x="1709927" y="73025"/>
                  </a:lnTo>
                  <a:lnTo>
                    <a:pt x="1709927" y="3127375"/>
                  </a:lnTo>
                  <a:lnTo>
                    <a:pt x="1704179" y="3155769"/>
                  </a:lnTo>
                  <a:lnTo>
                    <a:pt x="1688512" y="3178984"/>
                  </a:lnTo>
                  <a:lnTo>
                    <a:pt x="1665297" y="3194651"/>
                  </a:lnTo>
                  <a:lnTo>
                    <a:pt x="1636902" y="3200400"/>
                  </a:lnTo>
                  <a:lnTo>
                    <a:pt x="73025" y="3200400"/>
                  </a:lnTo>
                  <a:lnTo>
                    <a:pt x="44630" y="3194651"/>
                  </a:lnTo>
                  <a:lnTo>
                    <a:pt x="21415" y="3178984"/>
                  </a:lnTo>
                  <a:lnTo>
                    <a:pt x="5748" y="3155769"/>
                  </a:lnTo>
                  <a:lnTo>
                    <a:pt x="0" y="3127375"/>
                  </a:lnTo>
                  <a:lnTo>
                    <a:pt x="0" y="73025"/>
                  </a:lnTo>
                  <a:close/>
                </a:path>
              </a:pathLst>
            </a:custGeom>
            <a:ln w="12191">
              <a:solidFill>
                <a:srgbClr val="DDD2C4"/>
              </a:solidFill>
            </a:ln>
          </p:spPr>
          <p:txBody>
            <a:bodyPr wrap="square" lIns="0" tIns="0" rIns="0" bIns="0" rtlCol="0"/>
            <a:lstStyle/>
            <a:p>
              <a:endParaRPr/>
            </a:p>
          </p:txBody>
        </p:sp>
        <p:sp>
          <p:nvSpPr>
            <p:cNvPr id="33" name="object 33"/>
            <p:cNvSpPr/>
            <p:nvPr/>
          </p:nvSpPr>
          <p:spPr>
            <a:xfrm>
              <a:off x="6775704"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4"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34" name="object 34"/>
            <p:cNvSpPr/>
            <p:nvPr/>
          </p:nvSpPr>
          <p:spPr>
            <a:xfrm>
              <a:off x="6775704"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4"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35" name="object 35"/>
          <p:cNvSpPr txBox="1"/>
          <p:nvPr/>
        </p:nvSpPr>
        <p:spPr>
          <a:xfrm>
            <a:off x="4075938" y="933449"/>
            <a:ext cx="4037965" cy="788670"/>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Hybrid</a:t>
            </a:r>
            <a:r>
              <a:rPr sz="1150" i="1" spc="20" dirty="0">
                <a:solidFill>
                  <a:srgbClr val="6D6D6D"/>
                </a:solidFill>
                <a:latin typeface="Calibri"/>
                <a:cs typeface="Calibri"/>
              </a:rPr>
              <a:t> </a:t>
            </a:r>
            <a:r>
              <a:rPr sz="1150" i="1" dirty="0">
                <a:solidFill>
                  <a:srgbClr val="6D6D6D"/>
                </a:solidFill>
                <a:latin typeface="Calibri"/>
                <a:cs typeface="Calibri"/>
              </a:rPr>
              <a:t>temporal</a:t>
            </a:r>
            <a:r>
              <a:rPr sz="1150" i="1" spc="-10" dirty="0">
                <a:solidFill>
                  <a:srgbClr val="6D6D6D"/>
                </a:solidFill>
                <a:latin typeface="Calibri"/>
                <a:cs typeface="Calibri"/>
              </a:rPr>
              <a:t> </a:t>
            </a:r>
            <a:r>
              <a:rPr sz="1150" i="1" dirty="0">
                <a:solidFill>
                  <a:srgbClr val="6D6D6D"/>
                </a:solidFill>
                <a:latin typeface="Calibri"/>
                <a:cs typeface="Calibri"/>
              </a:rPr>
              <a:t>learning</a:t>
            </a:r>
            <a:r>
              <a:rPr sz="1150" i="1" spc="-25" dirty="0">
                <a:solidFill>
                  <a:srgbClr val="6D6D6D"/>
                </a:solidFill>
                <a:latin typeface="Calibri"/>
                <a:cs typeface="Calibri"/>
              </a:rPr>
              <a:t> </a:t>
            </a:r>
            <a:r>
              <a:rPr sz="1150" i="1" dirty="0">
                <a:solidFill>
                  <a:srgbClr val="6D6D6D"/>
                </a:solidFill>
                <a:latin typeface="Calibri"/>
                <a:cs typeface="Calibri"/>
              </a:rPr>
              <a:t>+</a:t>
            </a:r>
            <a:r>
              <a:rPr sz="1150" i="1" spc="20" dirty="0">
                <a:solidFill>
                  <a:srgbClr val="6D6D6D"/>
                </a:solidFill>
                <a:latin typeface="Calibri"/>
                <a:cs typeface="Calibri"/>
              </a:rPr>
              <a:t> </a:t>
            </a:r>
            <a:r>
              <a:rPr sz="1150" i="1" spc="-10" dirty="0">
                <a:solidFill>
                  <a:srgbClr val="6D6D6D"/>
                </a:solidFill>
                <a:latin typeface="Calibri"/>
                <a:cs typeface="Calibri"/>
              </a:rPr>
              <a:t>reconstruction-based</a:t>
            </a:r>
            <a:r>
              <a:rPr sz="1150" i="1" spc="-45" dirty="0">
                <a:solidFill>
                  <a:srgbClr val="6D6D6D"/>
                </a:solidFill>
                <a:latin typeface="Calibri"/>
                <a:cs typeface="Calibri"/>
              </a:rPr>
              <a:t> </a:t>
            </a:r>
            <a:r>
              <a:rPr sz="1150" i="1" dirty="0">
                <a:solidFill>
                  <a:srgbClr val="6D6D6D"/>
                </a:solidFill>
                <a:latin typeface="Calibri"/>
                <a:cs typeface="Calibri"/>
              </a:rPr>
              <a:t>anomaly</a:t>
            </a:r>
            <a:r>
              <a:rPr sz="1150" i="1" spc="-45" dirty="0">
                <a:solidFill>
                  <a:srgbClr val="6D6D6D"/>
                </a:solidFill>
                <a:latin typeface="Calibri"/>
                <a:cs typeface="Calibri"/>
              </a:rPr>
              <a:t> </a:t>
            </a:r>
            <a:r>
              <a:rPr sz="1150" i="1" spc="-10" dirty="0">
                <a:solidFill>
                  <a:srgbClr val="6D6D6D"/>
                </a:solidFill>
                <a:latin typeface="Calibri"/>
                <a:cs typeface="Calibri"/>
              </a:rPr>
              <a:t>detection</a:t>
            </a:r>
            <a:endParaRPr sz="1150">
              <a:latin typeface="Calibri"/>
              <a:cs typeface="Calibri"/>
            </a:endParaRPr>
          </a:p>
          <a:p>
            <a:pPr>
              <a:lnSpc>
                <a:spcPct val="100000"/>
              </a:lnSpc>
              <a:spcBef>
                <a:spcPts val="1300"/>
              </a:spcBef>
            </a:pPr>
            <a:endParaRPr sz="1150">
              <a:latin typeface="Calibri"/>
              <a:cs typeface="Calibri"/>
            </a:endParaRPr>
          </a:p>
          <a:p>
            <a:pPr marL="1029969">
              <a:lnSpc>
                <a:spcPct val="100000"/>
              </a:lnSpc>
              <a:tabLst>
                <a:tab pos="2906395" algn="l"/>
              </a:tabLst>
            </a:pPr>
            <a:r>
              <a:rPr sz="1600" b="1" spc="-50" dirty="0">
                <a:solidFill>
                  <a:srgbClr val="FFFFFF"/>
                </a:solidFill>
                <a:latin typeface="Calibri"/>
                <a:cs typeface="Calibri"/>
              </a:rPr>
              <a:t>3</a:t>
            </a:r>
            <a:r>
              <a:rPr sz="1600" b="1" dirty="0">
                <a:solidFill>
                  <a:srgbClr val="FFFFFF"/>
                </a:solidFill>
                <a:latin typeface="Calibri"/>
                <a:cs typeface="Calibri"/>
              </a:rPr>
              <a:t>	</a:t>
            </a:r>
            <a:r>
              <a:rPr sz="1600" b="1" spc="-50" dirty="0">
                <a:solidFill>
                  <a:srgbClr val="FFFFFF"/>
                </a:solidFill>
                <a:latin typeface="Calibri"/>
                <a:cs typeface="Calibri"/>
              </a:rPr>
              <a:t>4</a:t>
            </a:r>
            <a:endParaRPr sz="1600">
              <a:latin typeface="Calibri"/>
              <a:cs typeface="Calibri"/>
            </a:endParaRPr>
          </a:p>
        </p:txBody>
      </p:sp>
      <p:sp>
        <p:nvSpPr>
          <p:cNvPr id="36" name="object 36"/>
          <p:cNvSpPr txBox="1"/>
          <p:nvPr/>
        </p:nvSpPr>
        <p:spPr>
          <a:xfrm>
            <a:off x="6388100" y="2041929"/>
            <a:ext cx="1710055"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RANDOM FOREST</a:t>
            </a:r>
            <a:endParaRPr sz="1000" b="1" dirty="0">
              <a:solidFill>
                <a:srgbClr val="C00000"/>
              </a:solidFill>
              <a:latin typeface="Calibri"/>
              <a:cs typeface="Calibri"/>
            </a:endParaRPr>
          </a:p>
        </p:txBody>
      </p:sp>
      <p:sp>
        <p:nvSpPr>
          <p:cNvPr id="37" name="object 37"/>
          <p:cNvSpPr txBox="1"/>
          <p:nvPr/>
        </p:nvSpPr>
        <p:spPr>
          <a:xfrm>
            <a:off x="6109590" y="2633577"/>
            <a:ext cx="1754377" cy="566822"/>
          </a:xfrm>
          <a:prstGeom prst="rect">
            <a:avLst/>
          </a:prstGeom>
        </p:spPr>
        <p:txBody>
          <a:bodyPr vert="horz" wrap="square" lIns="0" tIns="12700" rIns="0" bIns="0" rtlCol="0">
            <a:spAutoFit/>
          </a:bodyPr>
          <a:lstStyle/>
          <a:p>
            <a:pPr marL="48895" marR="5080" indent="-36830" algn="ctr">
              <a:lnSpc>
                <a:spcPct val="100000"/>
              </a:lnSpc>
              <a:spcBef>
                <a:spcPts val="100"/>
              </a:spcBef>
            </a:pPr>
            <a:r>
              <a:rPr lang="en-IN" sz="900" dirty="0"/>
              <a:t> Train a Random Forest regression model to learn relationships between input features and crop yield.</a:t>
            </a:r>
            <a:endParaRPr sz="900" dirty="0">
              <a:latin typeface="Calibri"/>
              <a:cs typeface="Calibri"/>
            </a:endParaRPr>
          </a:p>
        </p:txBody>
      </p:sp>
      <p:grpSp>
        <p:nvGrpSpPr>
          <p:cNvPr id="38" name="object 38"/>
          <p:cNvGrpSpPr/>
          <p:nvPr/>
        </p:nvGrpSpPr>
        <p:grpSpPr>
          <a:xfrm>
            <a:off x="7967471" y="1331785"/>
            <a:ext cx="1874520" cy="3569335"/>
            <a:chOff x="7967471" y="1331785"/>
            <a:chExt cx="1874520" cy="3569335"/>
          </a:xfrm>
        </p:grpSpPr>
        <p:pic>
          <p:nvPicPr>
            <p:cNvPr id="39" name="object 39"/>
            <p:cNvPicPr/>
            <p:nvPr/>
          </p:nvPicPr>
          <p:blipFill>
            <a:blip r:embed="rId2" cstate="print"/>
            <a:stretch>
              <a:fillRect/>
            </a:stretch>
          </p:blipFill>
          <p:spPr>
            <a:xfrm>
              <a:off x="7967471" y="1539239"/>
              <a:ext cx="1874139" cy="3361563"/>
            </a:xfrm>
            <a:prstGeom prst="rect">
              <a:avLst/>
            </a:prstGeom>
          </p:spPr>
        </p:pic>
        <p:sp>
          <p:nvSpPr>
            <p:cNvPr id="40" name="object 40"/>
            <p:cNvSpPr/>
            <p:nvPr/>
          </p:nvSpPr>
          <p:spPr>
            <a:xfrm>
              <a:off x="8052815" y="1600199"/>
              <a:ext cx="1713230" cy="3200400"/>
            </a:xfrm>
            <a:custGeom>
              <a:avLst/>
              <a:gdLst/>
              <a:ahLst/>
              <a:cxnLst/>
              <a:rect l="l" t="t" r="r" b="b"/>
              <a:pathLst>
                <a:path w="1713229" h="3200400">
                  <a:moveTo>
                    <a:pt x="1639824" y="0"/>
                  </a:moveTo>
                  <a:lnTo>
                    <a:pt x="73151" y="0"/>
                  </a:lnTo>
                  <a:lnTo>
                    <a:pt x="44684" y="5750"/>
                  </a:lnTo>
                  <a:lnTo>
                    <a:pt x="21431" y="21431"/>
                  </a:lnTo>
                  <a:lnTo>
                    <a:pt x="5750" y="44684"/>
                  </a:lnTo>
                  <a:lnTo>
                    <a:pt x="0" y="73151"/>
                  </a:lnTo>
                  <a:lnTo>
                    <a:pt x="0" y="3127248"/>
                  </a:lnTo>
                  <a:lnTo>
                    <a:pt x="5750" y="3155715"/>
                  </a:lnTo>
                  <a:lnTo>
                    <a:pt x="21431" y="3178968"/>
                  </a:lnTo>
                  <a:lnTo>
                    <a:pt x="44684" y="3194649"/>
                  </a:lnTo>
                  <a:lnTo>
                    <a:pt x="73151"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41" name="object 41"/>
            <p:cNvSpPr/>
            <p:nvPr/>
          </p:nvSpPr>
          <p:spPr>
            <a:xfrm>
              <a:off x="8052815" y="1600199"/>
              <a:ext cx="1713230" cy="3200400"/>
            </a:xfrm>
            <a:custGeom>
              <a:avLst/>
              <a:gdLst/>
              <a:ahLst/>
              <a:cxnLst/>
              <a:rect l="l" t="t" r="r" b="b"/>
              <a:pathLst>
                <a:path w="1713229" h="3200400">
                  <a:moveTo>
                    <a:pt x="0" y="73151"/>
                  </a:moveTo>
                  <a:lnTo>
                    <a:pt x="5750" y="44684"/>
                  </a:lnTo>
                  <a:lnTo>
                    <a:pt x="21431" y="21431"/>
                  </a:lnTo>
                  <a:lnTo>
                    <a:pt x="44684" y="5750"/>
                  </a:lnTo>
                  <a:lnTo>
                    <a:pt x="73151"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151" y="3200400"/>
                  </a:lnTo>
                  <a:lnTo>
                    <a:pt x="44684" y="3194649"/>
                  </a:lnTo>
                  <a:lnTo>
                    <a:pt x="21431" y="3178968"/>
                  </a:lnTo>
                  <a:lnTo>
                    <a:pt x="5750"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42" name="object 42"/>
            <p:cNvSpPr/>
            <p:nvPr/>
          </p:nvSpPr>
          <p:spPr>
            <a:xfrm>
              <a:off x="8653271"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43" name="object 43"/>
            <p:cNvSpPr/>
            <p:nvPr/>
          </p:nvSpPr>
          <p:spPr>
            <a:xfrm>
              <a:off x="8653271"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44" name="object 44"/>
          <p:cNvSpPr txBox="1"/>
          <p:nvPr/>
        </p:nvSpPr>
        <p:spPr>
          <a:xfrm>
            <a:off x="8846566"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5</a:t>
            </a:r>
            <a:endParaRPr sz="1600">
              <a:latin typeface="Calibri"/>
              <a:cs typeface="Calibri"/>
            </a:endParaRPr>
          </a:p>
        </p:txBody>
      </p:sp>
      <p:sp>
        <p:nvSpPr>
          <p:cNvPr id="45" name="object 45"/>
          <p:cNvSpPr txBox="1"/>
          <p:nvPr/>
        </p:nvSpPr>
        <p:spPr>
          <a:xfrm>
            <a:off x="8286876" y="2045664"/>
            <a:ext cx="1326643"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XGBOOST + SVR</a:t>
            </a:r>
            <a:endParaRPr sz="1000" b="1" dirty="0">
              <a:solidFill>
                <a:srgbClr val="C00000"/>
              </a:solidFill>
              <a:latin typeface="Calibri"/>
              <a:cs typeface="Calibri"/>
            </a:endParaRPr>
          </a:p>
        </p:txBody>
      </p:sp>
      <p:sp>
        <p:nvSpPr>
          <p:cNvPr id="46" name="object 46"/>
          <p:cNvSpPr txBox="1"/>
          <p:nvPr/>
        </p:nvSpPr>
        <p:spPr>
          <a:xfrm>
            <a:off x="7955407" y="2605160"/>
            <a:ext cx="1713229" cy="566822"/>
          </a:xfrm>
          <a:prstGeom prst="rect">
            <a:avLst/>
          </a:prstGeom>
        </p:spPr>
        <p:txBody>
          <a:bodyPr vert="horz" wrap="square" lIns="0" tIns="12700" rIns="0" bIns="0" rtlCol="0">
            <a:spAutoFit/>
          </a:bodyPr>
          <a:lstStyle/>
          <a:p>
            <a:pPr marL="271145" marR="5080" indent="-259079" algn="ctr">
              <a:lnSpc>
                <a:spcPct val="100000"/>
              </a:lnSpc>
              <a:spcBef>
                <a:spcPts val="100"/>
              </a:spcBef>
            </a:pPr>
            <a:r>
              <a:rPr lang="en-IN" sz="900" dirty="0"/>
              <a:t>       Train </a:t>
            </a:r>
            <a:r>
              <a:rPr lang="en-IN" sz="900" b="1" dirty="0"/>
              <a:t>XGBoost</a:t>
            </a:r>
            <a:r>
              <a:rPr lang="en-IN" sz="900" dirty="0"/>
              <a:t> and </a:t>
            </a:r>
            <a:r>
              <a:rPr lang="en-IN" sz="900" b="1" dirty="0"/>
              <a:t>Support Vector Regression (SVR)</a:t>
            </a:r>
            <a:r>
              <a:rPr lang="en-IN" sz="900" dirty="0"/>
              <a:t> models for crop-yield prediction.</a:t>
            </a:r>
            <a:endParaRPr sz="900" dirty="0">
              <a:latin typeface="Calibri"/>
              <a:cs typeface="Calibri"/>
            </a:endParaRPr>
          </a:p>
        </p:txBody>
      </p:sp>
      <p:grpSp>
        <p:nvGrpSpPr>
          <p:cNvPr id="47" name="object 47"/>
          <p:cNvGrpSpPr/>
          <p:nvPr/>
        </p:nvGrpSpPr>
        <p:grpSpPr>
          <a:xfrm>
            <a:off x="9845040" y="1331975"/>
            <a:ext cx="1871345" cy="3569335"/>
            <a:chOff x="9845040" y="1331975"/>
            <a:chExt cx="1871345" cy="3569335"/>
          </a:xfrm>
        </p:grpSpPr>
        <p:pic>
          <p:nvPicPr>
            <p:cNvPr id="48" name="object 48"/>
            <p:cNvPicPr/>
            <p:nvPr/>
          </p:nvPicPr>
          <p:blipFill>
            <a:blip r:embed="rId3" cstate="print"/>
            <a:stretch>
              <a:fillRect/>
            </a:stretch>
          </p:blipFill>
          <p:spPr>
            <a:xfrm>
              <a:off x="9845040" y="1539239"/>
              <a:ext cx="1871091" cy="3361563"/>
            </a:xfrm>
            <a:prstGeom prst="rect">
              <a:avLst/>
            </a:prstGeom>
          </p:spPr>
        </p:pic>
        <p:sp>
          <p:nvSpPr>
            <p:cNvPr id="49" name="object 49"/>
            <p:cNvSpPr/>
            <p:nvPr/>
          </p:nvSpPr>
          <p:spPr>
            <a:xfrm>
              <a:off x="9930384" y="1600199"/>
              <a:ext cx="1710055" cy="3200400"/>
            </a:xfrm>
            <a:custGeom>
              <a:avLst/>
              <a:gdLst/>
              <a:ahLst/>
              <a:cxnLst/>
              <a:rect l="l" t="t" r="r" b="b"/>
              <a:pathLst>
                <a:path w="1710054" h="3200400">
                  <a:moveTo>
                    <a:pt x="1636902"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2" y="3200400"/>
                  </a:lnTo>
                  <a:lnTo>
                    <a:pt x="1665297" y="3194651"/>
                  </a:lnTo>
                  <a:lnTo>
                    <a:pt x="1688512" y="3178984"/>
                  </a:lnTo>
                  <a:lnTo>
                    <a:pt x="1704179" y="3155769"/>
                  </a:lnTo>
                  <a:lnTo>
                    <a:pt x="1709927" y="3127375"/>
                  </a:lnTo>
                  <a:lnTo>
                    <a:pt x="1709927" y="73025"/>
                  </a:lnTo>
                  <a:lnTo>
                    <a:pt x="1704179" y="44630"/>
                  </a:lnTo>
                  <a:lnTo>
                    <a:pt x="1688512" y="21415"/>
                  </a:lnTo>
                  <a:lnTo>
                    <a:pt x="1665297" y="5748"/>
                  </a:lnTo>
                  <a:lnTo>
                    <a:pt x="1636902" y="0"/>
                  </a:lnTo>
                  <a:close/>
                </a:path>
              </a:pathLst>
            </a:custGeom>
            <a:solidFill>
              <a:srgbClr val="FFFFFF"/>
            </a:solidFill>
          </p:spPr>
          <p:txBody>
            <a:bodyPr wrap="square" lIns="0" tIns="0" rIns="0" bIns="0" rtlCol="0"/>
            <a:lstStyle/>
            <a:p>
              <a:endParaRPr/>
            </a:p>
          </p:txBody>
        </p:sp>
        <p:sp>
          <p:nvSpPr>
            <p:cNvPr id="50" name="object 50"/>
            <p:cNvSpPr/>
            <p:nvPr/>
          </p:nvSpPr>
          <p:spPr>
            <a:xfrm>
              <a:off x="9930384"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2" y="0"/>
                  </a:lnTo>
                  <a:lnTo>
                    <a:pt x="1665297" y="5748"/>
                  </a:lnTo>
                  <a:lnTo>
                    <a:pt x="1688512" y="21415"/>
                  </a:lnTo>
                  <a:lnTo>
                    <a:pt x="1704179" y="44630"/>
                  </a:lnTo>
                  <a:lnTo>
                    <a:pt x="1709927" y="73025"/>
                  </a:lnTo>
                  <a:lnTo>
                    <a:pt x="1709927" y="3127375"/>
                  </a:lnTo>
                  <a:lnTo>
                    <a:pt x="1704179" y="3155769"/>
                  </a:lnTo>
                  <a:lnTo>
                    <a:pt x="1688512" y="3178984"/>
                  </a:lnTo>
                  <a:lnTo>
                    <a:pt x="1665297" y="3194651"/>
                  </a:lnTo>
                  <a:lnTo>
                    <a:pt x="1636902" y="3200400"/>
                  </a:lnTo>
                  <a:lnTo>
                    <a:pt x="73025" y="3200400"/>
                  </a:lnTo>
                  <a:lnTo>
                    <a:pt x="44630" y="3194651"/>
                  </a:lnTo>
                  <a:lnTo>
                    <a:pt x="21415" y="3178984"/>
                  </a:lnTo>
                  <a:lnTo>
                    <a:pt x="5748" y="3155769"/>
                  </a:lnTo>
                  <a:lnTo>
                    <a:pt x="0" y="3127375"/>
                  </a:lnTo>
                  <a:lnTo>
                    <a:pt x="0" y="73025"/>
                  </a:lnTo>
                  <a:close/>
                </a:path>
              </a:pathLst>
            </a:custGeom>
            <a:ln w="12191">
              <a:solidFill>
                <a:srgbClr val="DDD2C4"/>
              </a:solidFill>
            </a:ln>
          </p:spPr>
          <p:txBody>
            <a:bodyPr wrap="square" lIns="0" tIns="0" rIns="0" bIns="0" rtlCol="0"/>
            <a:lstStyle/>
            <a:p>
              <a:endParaRPr/>
            </a:p>
          </p:txBody>
        </p:sp>
        <p:sp>
          <p:nvSpPr>
            <p:cNvPr id="51" name="object 51"/>
            <p:cNvSpPr/>
            <p:nvPr/>
          </p:nvSpPr>
          <p:spPr>
            <a:xfrm>
              <a:off x="10527792"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52" name="object 52"/>
            <p:cNvSpPr/>
            <p:nvPr/>
          </p:nvSpPr>
          <p:spPr>
            <a:xfrm>
              <a:off x="10527792"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53" name="object 53"/>
          <p:cNvSpPr txBox="1"/>
          <p:nvPr/>
        </p:nvSpPr>
        <p:spPr>
          <a:xfrm>
            <a:off x="10723244"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6</a:t>
            </a:r>
            <a:endParaRPr sz="1600">
              <a:latin typeface="Calibri"/>
              <a:cs typeface="Calibri"/>
            </a:endParaRPr>
          </a:p>
        </p:txBody>
      </p:sp>
      <p:sp>
        <p:nvSpPr>
          <p:cNvPr id="57" name="object 57"/>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8" name="object 58"/>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14</a:t>
            </a:fld>
            <a:endParaRPr spc="-25" dirty="0"/>
          </a:p>
        </p:txBody>
      </p:sp>
      <p:sp>
        <p:nvSpPr>
          <p:cNvPr id="54" name="object 54"/>
          <p:cNvSpPr txBox="1"/>
          <p:nvPr/>
        </p:nvSpPr>
        <p:spPr>
          <a:xfrm>
            <a:off x="10075671" y="2045357"/>
            <a:ext cx="1708658"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MODEL COMPARISON</a:t>
            </a:r>
            <a:endParaRPr sz="1000" b="1" dirty="0">
              <a:solidFill>
                <a:srgbClr val="C00000"/>
              </a:solidFill>
              <a:latin typeface="Calibri"/>
              <a:cs typeface="Calibri"/>
            </a:endParaRPr>
          </a:p>
        </p:txBody>
      </p:sp>
      <p:sp>
        <p:nvSpPr>
          <p:cNvPr id="55" name="object 55"/>
          <p:cNvSpPr txBox="1"/>
          <p:nvPr/>
        </p:nvSpPr>
        <p:spPr>
          <a:xfrm>
            <a:off x="9836783" y="2575868"/>
            <a:ext cx="1759331" cy="820738"/>
          </a:xfrm>
          <a:prstGeom prst="rect">
            <a:avLst/>
          </a:prstGeom>
        </p:spPr>
        <p:txBody>
          <a:bodyPr vert="horz" wrap="square" lIns="0" tIns="12700" rIns="0" bIns="0" rtlCol="0">
            <a:spAutoFit/>
          </a:bodyPr>
          <a:lstStyle/>
          <a:p>
            <a:pPr marL="289560" marR="5080" indent="-277495" algn="ctr">
              <a:lnSpc>
                <a:spcPct val="100000"/>
              </a:lnSpc>
              <a:spcBef>
                <a:spcPts val="100"/>
              </a:spcBef>
            </a:pPr>
            <a:r>
              <a:rPr lang="en-IN" sz="1050" dirty="0"/>
              <a:t>       Compare the three models and select the best-performing model based on evaluation metrics.</a:t>
            </a:r>
            <a:endParaRPr sz="1050" dirty="0">
              <a:latin typeface="Calibri"/>
              <a:cs typeface="Calibri"/>
            </a:endParaRPr>
          </a:p>
        </p:txBody>
      </p:sp>
      <p:sp>
        <p:nvSpPr>
          <p:cNvPr id="56" name="object 56"/>
          <p:cNvSpPr txBox="1"/>
          <p:nvPr/>
        </p:nvSpPr>
        <p:spPr>
          <a:xfrm>
            <a:off x="3244088" y="5338648"/>
            <a:ext cx="5706110" cy="260328"/>
          </a:xfrm>
          <a:prstGeom prst="rect">
            <a:avLst/>
          </a:prstGeom>
        </p:spPr>
        <p:txBody>
          <a:bodyPr vert="horz" wrap="square" lIns="0" tIns="13970" rIns="0" bIns="0" rtlCol="0">
            <a:spAutoFit/>
          </a:bodyPr>
          <a:lstStyle/>
          <a:p>
            <a:pPr marL="12700">
              <a:lnSpc>
                <a:spcPct val="100000"/>
              </a:lnSpc>
              <a:spcBef>
                <a:spcPts val="110"/>
              </a:spcBef>
            </a:pPr>
            <a:r>
              <a:rPr sz="1600" b="1" dirty="0">
                <a:solidFill>
                  <a:srgbClr val="C00000"/>
                </a:solidFill>
                <a:latin typeface="Calibri"/>
                <a:cs typeface="Calibri"/>
              </a:rPr>
              <a:t>Evaluation:</a:t>
            </a:r>
            <a:r>
              <a:rPr sz="1600" b="1" spc="310" dirty="0">
                <a:solidFill>
                  <a:srgbClr val="C00000"/>
                </a:solidFill>
                <a:latin typeface="Calibri"/>
                <a:cs typeface="Calibri"/>
              </a:rPr>
              <a:t> </a:t>
            </a:r>
            <a:r>
              <a:rPr lang="en-IN" sz="1600" b="1" dirty="0">
                <a:solidFill>
                  <a:srgbClr val="C00000"/>
                </a:solidFill>
              </a:rPr>
              <a:t>MAE • MSE • RMSE • R² Score</a:t>
            </a:r>
            <a:endParaRPr sz="1600" b="1" dirty="0">
              <a:solidFill>
                <a:srgbClr val="C00000"/>
              </a:solidFill>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090295">
              <a:lnSpc>
                <a:spcPct val="100000"/>
              </a:lnSpc>
              <a:spcBef>
                <a:spcPts val="105"/>
              </a:spcBef>
            </a:pPr>
            <a:r>
              <a:rPr spc="-10" dirty="0"/>
              <a:t>CONCLUSION</a:t>
            </a:r>
          </a:p>
        </p:txBody>
      </p:sp>
      <p:sp>
        <p:nvSpPr>
          <p:cNvPr id="3" name="object 3"/>
          <p:cNvSpPr txBox="1"/>
          <p:nvPr/>
        </p:nvSpPr>
        <p:spPr>
          <a:xfrm>
            <a:off x="4798314" y="933449"/>
            <a:ext cx="259080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Key</a:t>
            </a:r>
            <a:r>
              <a:rPr sz="1150" i="1" spc="-35" dirty="0">
                <a:solidFill>
                  <a:srgbClr val="6D6D6D"/>
                </a:solidFill>
                <a:latin typeface="Calibri"/>
                <a:cs typeface="Calibri"/>
              </a:rPr>
              <a:t> </a:t>
            </a:r>
            <a:r>
              <a:rPr sz="1150" i="1" dirty="0">
                <a:solidFill>
                  <a:srgbClr val="6D6D6D"/>
                </a:solidFill>
                <a:latin typeface="Calibri"/>
                <a:cs typeface="Calibri"/>
              </a:rPr>
              <a:t>takeaways</a:t>
            </a:r>
            <a:r>
              <a:rPr sz="1150" i="1" spc="-35" dirty="0">
                <a:solidFill>
                  <a:srgbClr val="6D6D6D"/>
                </a:solidFill>
                <a:latin typeface="Calibri"/>
                <a:cs typeface="Calibri"/>
              </a:rPr>
              <a:t> </a:t>
            </a:r>
            <a:r>
              <a:rPr sz="1150" i="1" dirty="0">
                <a:solidFill>
                  <a:srgbClr val="6D6D6D"/>
                </a:solidFill>
                <a:latin typeface="Calibri"/>
                <a:cs typeface="Calibri"/>
              </a:rPr>
              <a:t>from</a:t>
            </a:r>
            <a:r>
              <a:rPr sz="1150" i="1" spc="-20" dirty="0">
                <a:solidFill>
                  <a:srgbClr val="6D6D6D"/>
                </a:solidFill>
                <a:latin typeface="Calibri"/>
                <a:cs typeface="Calibri"/>
              </a:rPr>
              <a:t> </a:t>
            </a:r>
            <a:r>
              <a:rPr sz="1150" i="1" dirty="0">
                <a:solidFill>
                  <a:srgbClr val="6D6D6D"/>
                </a:solidFill>
                <a:latin typeface="Calibri"/>
                <a:cs typeface="Calibri"/>
              </a:rPr>
              <a:t>the</a:t>
            </a:r>
            <a:r>
              <a:rPr sz="1150" i="1" spc="-45" dirty="0">
                <a:solidFill>
                  <a:srgbClr val="6D6D6D"/>
                </a:solidFill>
                <a:latin typeface="Calibri"/>
                <a:cs typeface="Calibri"/>
              </a:rPr>
              <a:t> </a:t>
            </a:r>
            <a:r>
              <a:rPr sz="1150" i="1" dirty="0">
                <a:solidFill>
                  <a:srgbClr val="6D6D6D"/>
                </a:solidFill>
                <a:latin typeface="Calibri"/>
                <a:cs typeface="Calibri"/>
              </a:rPr>
              <a:t>project</a:t>
            </a:r>
            <a:r>
              <a:rPr sz="1150" i="1" spc="-20" dirty="0">
                <a:solidFill>
                  <a:srgbClr val="6D6D6D"/>
                </a:solidFill>
                <a:latin typeface="Calibri"/>
                <a:cs typeface="Calibri"/>
              </a:rPr>
              <a:t> </a:t>
            </a:r>
            <a:r>
              <a:rPr sz="1150" i="1" spc="-10" dirty="0">
                <a:solidFill>
                  <a:srgbClr val="6D6D6D"/>
                </a:solidFill>
                <a:latin typeface="Calibri"/>
                <a:cs typeface="Calibri"/>
              </a:rPr>
              <a:t>foundation</a:t>
            </a:r>
            <a:endParaRPr sz="1150">
              <a:latin typeface="Calibri"/>
              <a:cs typeface="Calibri"/>
            </a:endParaRPr>
          </a:p>
        </p:txBody>
      </p:sp>
      <p:grpSp>
        <p:nvGrpSpPr>
          <p:cNvPr id="4" name="object 4"/>
          <p:cNvGrpSpPr/>
          <p:nvPr/>
        </p:nvGrpSpPr>
        <p:grpSpPr>
          <a:xfrm>
            <a:off x="554736" y="1402080"/>
            <a:ext cx="11069955" cy="4184650"/>
            <a:chOff x="554736" y="1402080"/>
            <a:chExt cx="11069955" cy="4184650"/>
          </a:xfrm>
        </p:grpSpPr>
        <p:pic>
          <p:nvPicPr>
            <p:cNvPr id="5" name="object 5"/>
            <p:cNvPicPr/>
            <p:nvPr/>
          </p:nvPicPr>
          <p:blipFill>
            <a:blip r:embed="rId2" cstate="print"/>
            <a:stretch>
              <a:fillRect/>
            </a:stretch>
          </p:blipFill>
          <p:spPr>
            <a:xfrm>
              <a:off x="554736" y="1402080"/>
              <a:ext cx="11069955" cy="4184523"/>
            </a:xfrm>
            <a:prstGeom prst="rect">
              <a:avLst/>
            </a:prstGeom>
          </p:spPr>
        </p:pic>
        <p:sp>
          <p:nvSpPr>
            <p:cNvPr id="6" name="object 6"/>
            <p:cNvSpPr/>
            <p:nvPr/>
          </p:nvSpPr>
          <p:spPr>
            <a:xfrm>
              <a:off x="640080" y="1463040"/>
              <a:ext cx="10909300" cy="4023360"/>
            </a:xfrm>
            <a:custGeom>
              <a:avLst/>
              <a:gdLst/>
              <a:ahLst/>
              <a:cxnLst/>
              <a:rect l="l" t="t" r="r" b="b"/>
              <a:pathLst>
                <a:path w="10909300" h="4023360">
                  <a:moveTo>
                    <a:pt x="10835640" y="0"/>
                  </a:moveTo>
                  <a:lnTo>
                    <a:pt x="73139" y="0"/>
                  </a:lnTo>
                  <a:lnTo>
                    <a:pt x="44673" y="5750"/>
                  </a:lnTo>
                  <a:lnTo>
                    <a:pt x="21424" y="21431"/>
                  </a:lnTo>
                  <a:lnTo>
                    <a:pt x="5748" y="44684"/>
                  </a:lnTo>
                  <a:lnTo>
                    <a:pt x="0" y="73151"/>
                  </a:lnTo>
                  <a:lnTo>
                    <a:pt x="0" y="3950208"/>
                  </a:lnTo>
                  <a:lnTo>
                    <a:pt x="5748" y="3978675"/>
                  </a:lnTo>
                  <a:lnTo>
                    <a:pt x="21424" y="4001928"/>
                  </a:lnTo>
                  <a:lnTo>
                    <a:pt x="44673" y="4017609"/>
                  </a:lnTo>
                  <a:lnTo>
                    <a:pt x="73139" y="4023360"/>
                  </a:lnTo>
                  <a:lnTo>
                    <a:pt x="10835640" y="4023360"/>
                  </a:lnTo>
                  <a:lnTo>
                    <a:pt x="10864107" y="4017609"/>
                  </a:lnTo>
                  <a:lnTo>
                    <a:pt x="10887360" y="4001928"/>
                  </a:lnTo>
                  <a:lnTo>
                    <a:pt x="10903041" y="3978675"/>
                  </a:lnTo>
                  <a:lnTo>
                    <a:pt x="10908792" y="3950208"/>
                  </a:lnTo>
                  <a:lnTo>
                    <a:pt x="10908792" y="73151"/>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a:p>
          </p:txBody>
        </p:sp>
        <p:sp>
          <p:nvSpPr>
            <p:cNvPr id="7" name="object 7"/>
            <p:cNvSpPr/>
            <p:nvPr/>
          </p:nvSpPr>
          <p:spPr>
            <a:xfrm>
              <a:off x="640080" y="1463040"/>
              <a:ext cx="10909300" cy="4023360"/>
            </a:xfrm>
            <a:custGeom>
              <a:avLst/>
              <a:gdLst/>
              <a:ahLst/>
              <a:cxnLst/>
              <a:rect l="l" t="t" r="r" b="b"/>
              <a:pathLst>
                <a:path w="10909300" h="4023360">
                  <a:moveTo>
                    <a:pt x="0" y="73151"/>
                  </a:moveTo>
                  <a:lnTo>
                    <a:pt x="5748" y="44684"/>
                  </a:lnTo>
                  <a:lnTo>
                    <a:pt x="21424" y="21431"/>
                  </a:lnTo>
                  <a:lnTo>
                    <a:pt x="44673" y="5750"/>
                  </a:lnTo>
                  <a:lnTo>
                    <a:pt x="73139" y="0"/>
                  </a:lnTo>
                  <a:lnTo>
                    <a:pt x="10835640" y="0"/>
                  </a:lnTo>
                  <a:lnTo>
                    <a:pt x="10864107" y="5750"/>
                  </a:lnTo>
                  <a:lnTo>
                    <a:pt x="10887360" y="21431"/>
                  </a:lnTo>
                  <a:lnTo>
                    <a:pt x="10903041" y="44684"/>
                  </a:lnTo>
                  <a:lnTo>
                    <a:pt x="10908792" y="73151"/>
                  </a:lnTo>
                  <a:lnTo>
                    <a:pt x="10908792" y="3950208"/>
                  </a:lnTo>
                  <a:lnTo>
                    <a:pt x="10903041" y="3978675"/>
                  </a:lnTo>
                  <a:lnTo>
                    <a:pt x="10887360" y="4001928"/>
                  </a:lnTo>
                  <a:lnTo>
                    <a:pt x="10864107" y="4017609"/>
                  </a:lnTo>
                  <a:lnTo>
                    <a:pt x="10835640" y="4023360"/>
                  </a:lnTo>
                  <a:lnTo>
                    <a:pt x="73139" y="4023360"/>
                  </a:lnTo>
                  <a:lnTo>
                    <a:pt x="44673" y="4017609"/>
                  </a:lnTo>
                  <a:lnTo>
                    <a:pt x="21424" y="4001928"/>
                  </a:lnTo>
                  <a:lnTo>
                    <a:pt x="5748" y="3978675"/>
                  </a:lnTo>
                  <a:lnTo>
                    <a:pt x="0" y="395020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993444" y="1788717"/>
            <a:ext cx="10008870" cy="935513"/>
          </a:xfrm>
          <a:prstGeom prst="rect">
            <a:avLst/>
          </a:prstGeom>
        </p:spPr>
        <p:txBody>
          <a:bodyPr vert="horz" wrap="square" lIns="0" tIns="12065" rIns="0" bIns="0" rtlCol="0">
            <a:spAutoFit/>
          </a:bodyPr>
          <a:lstStyle/>
          <a:p>
            <a:pPr marL="12700" marR="5080" algn="ctr">
              <a:lnSpc>
                <a:spcPct val="100000"/>
              </a:lnSpc>
              <a:spcBef>
                <a:spcPts val="95"/>
              </a:spcBef>
            </a:pPr>
            <a:r>
              <a:rPr lang="en-IN" sz="1500" dirty="0"/>
              <a:t>This project presents a machine learning-based approach for predicting crop yield using important agricultural and environmental factors such as crop type, area, production, rainfall, fertilizer, pesticide usage, year, state, and season. The dataset is cleaned and </a:t>
            </a:r>
            <a:r>
              <a:rPr lang="en-IN" sz="1500" dirty="0" err="1"/>
              <a:t>analyzed</a:t>
            </a:r>
            <a:r>
              <a:rPr lang="en-IN" sz="1500" dirty="0"/>
              <a:t> before applying </a:t>
            </a:r>
            <a:r>
              <a:rPr lang="en-IN" sz="1500" b="1" dirty="0"/>
              <a:t>Random Forest, XGBoost, and Support Vector Regression (SVR)</a:t>
            </a:r>
            <a:r>
              <a:rPr lang="en-IN" sz="1500" dirty="0"/>
              <a:t> models.</a:t>
            </a:r>
            <a:endParaRPr sz="1500" dirty="0">
              <a:latin typeface="Calibri"/>
              <a:cs typeface="Calibri"/>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15</a:t>
            </a:fld>
            <a:endParaRPr spc="-25" dirty="0"/>
          </a:p>
        </p:txBody>
      </p:sp>
      <p:sp>
        <p:nvSpPr>
          <p:cNvPr id="9" name="object 9"/>
          <p:cNvSpPr txBox="1"/>
          <p:nvPr/>
        </p:nvSpPr>
        <p:spPr>
          <a:xfrm>
            <a:off x="993444" y="3297159"/>
            <a:ext cx="10108565" cy="936795"/>
          </a:xfrm>
          <a:prstGeom prst="rect">
            <a:avLst/>
          </a:prstGeom>
        </p:spPr>
        <p:txBody>
          <a:bodyPr vert="horz" wrap="square" lIns="0" tIns="13335" rIns="0" bIns="0" rtlCol="0">
            <a:spAutoFit/>
          </a:bodyPr>
          <a:lstStyle/>
          <a:p>
            <a:pPr marL="12700" marR="5080" algn="ctr">
              <a:lnSpc>
                <a:spcPct val="100000"/>
              </a:lnSpc>
              <a:spcBef>
                <a:spcPts val="105"/>
              </a:spcBef>
            </a:pPr>
            <a:r>
              <a:rPr lang="en-IN" sz="1500" dirty="0"/>
              <a:t>The performance of the models is compared using </a:t>
            </a:r>
            <a:r>
              <a:rPr lang="en-IN" sz="1500" b="1" dirty="0"/>
              <a:t>MAE, MSE, RMSE, and R² Score</a:t>
            </a:r>
            <a:r>
              <a:rPr lang="en-IN" sz="1500" dirty="0"/>
              <a:t>. The best-performing model can be selected based on these evaluation metrics to provide more reliable crop-yield predictions. The proposed system can support farmers and agricultural organizations in better planning, resource management, crop selection, irrigation, and fertilizer usage.</a:t>
            </a:r>
            <a:endParaRPr sz="1500" dirty="0">
              <a:latin typeface="Calibri"/>
              <a:cs typeface="Calibri"/>
            </a:endParaRPr>
          </a:p>
        </p:txBody>
      </p:sp>
      <p:sp>
        <p:nvSpPr>
          <p:cNvPr id="10" name="object 10"/>
          <p:cNvSpPr txBox="1"/>
          <p:nvPr/>
        </p:nvSpPr>
        <p:spPr>
          <a:xfrm>
            <a:off x="4871973" y="4714113"/>
            <a:ext cx="2447925" cy="329565"/>
          </a:xfrm>
          <a:prstGeom prst="rect">
            <a:avLst/>
          </a:prstGeom>
        </p:spPr>
        <p:txBody>
          <a:bodyPr vert="horz" wrap="square" lIns="0" tIns="11430" rIns="0" bIns="0" rtlCol="0">
            <a:spAutoFit/>
          </a:bodyPr>
          <a:lstStyle/>
          <a:p>
            <a:pPr marL="12700">
              <a:lnSpc>
                <a:spcPct val="100000"/>
              </a:lnSpc>
              <a:spcBef>
                <a:spcPts val="90"/>
              </a:spcBef>
            </a:pPr>
            <a:r>
              <a:rPr sz="2000" b="1" dirty="0">
                <a:solidFill>
                  <a:srgbClr val="C00000"/>
                </a:solidFill>
                <a:latin typeface="Calibri"/>
                <a:cs typeface="Calibri"/>
              </a:rPr>
              <a:t>END</a:t>
            </a:r>
            <a:r>
              <a:rPr sz="2000" b="1" spc="-20" dirty="0">
                <a:solidFill>
                  <a:srgbClr val="C00000"/>
                </a:solidFill>
                <a:latin typeface="Calibri"/>
                <a:cs typeface="Calibri"/>
              </a:rPr>
              <a:t> </a:t>
            </a:r>
            <a:r>
              <a:rPr sz="2000" b="1" dirty="0">
                <a:solidFill>
                  <a:srgbClr val="C00000"/>
                </a:solidFill>
                <a:latin typeface="Calibri"/>
                <a:cs typeface="Calibri"/>
              </a:rPr>
              <a:t>OF</a:t>
            </a:r>
            <a:r>
              <a:rPr sz="2000" b="1" spc="-40" dirty="0">
                <a:solidFill>
                  <a:srgbClr val="C00000"/>
                </a:solidFill>
                <a:latin typeface="Calibri"/>
                <a:cs typeface="Calibri"/>
              </a:rPr>
              <a:t> </a:t>
            </a:r>
            <a:r>
              <a:rPr sz="2000" b="1" spc="-35" dirty="0">
                <a:solidFill>
                  <a:srgbClr val="C00000"/>
                </a:solidFill>
                <a:latin typeface="Calibri"/>
                <a:cs typeface="Calibri"/>
              </a:rPr>
              <a:t>PRESENTATION</a:t>
            </a:r>
            <a:endParaRPr sz="20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138</TotalTime>
  <Words>2338</Words>
  <Application>Microsoft Office PowerPoint</Application>
  <PresentationFormat>Widescreen</PresentationFormat>
  <Paragraphs>313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CROP YIELD PREDICTION</vt:lpstr>
      <vt:lpstr>ABSTRACT</vt:lpstr>
      <vt:lpstr>INTRODUCTION</vt:lpstr>
      <vt:lpstr>REQUIREMENT ANALYSIS</vt:lpstr>
      <vt:lpstr>LITERATURE REVIEW • PART 1</vt:lpstr>
      <vt:lpstr>LITERATURE REVIEW • PART 2</vt:lpstr>
      <vt:lpstr>LITERATURE REVIEW • PART 3</vt:lpstr>
      <vt:lpstr>LITERATURE REVIEW • PART 4</vt:lpstr>
      <vt:lpstr>EDA • DATASET QUALITY</vt:lpstr>
      <vt:lpstr>EDA • CLASS DISTRIBUTION</vt:lpstr>
      <vt:lpstr>EDA • FLOW DURATION</vt:lpstr>
      <vt:lpstr>EDA • AGRICULTURAL FEATURES</vt:lpstr>
      <vt:lpstr>DATASET DESCRIPTION</vt:lpstr>
      <vt:lpstr>PROPOSED MODEL WORKFLOW</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MD AMAN</cp:lastModifiedBy>
  <cp:revision>4</cp:revision>
  <dcterms:created xsi:type="dcterms:W3CDTF">2026-09-02T05:44:30Z</dcterms:created>
  <dcterms:modified xsi:type="dcterms:W3CDTF">2026-09-03T07:03:02Z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2026-09-02T00:00:00Z</vt:filetime>
  </property>
  <property fmtid="{D5CDD505-2E9C-101B-9397-08002B2CF9AE}" pid="4" name="Creator">
    <vt:lpwstr>Microsoft® PowerPoint® 2016</vt:lpwstr>
  </property>
  <property fmtid="{D5CDD505-2E9C-101B-9397-08002B2CF9AE}" pid="5" name="LastSaved">
    <vt:filetime>2026-09-02T00:00:00Z</vt:filetime>
  </property>
  <property fmtid="{D5CDD505-2E9C-101B-9397-08002B2CF9AE}" pid="6" name="Producer">
    <vt:lpwstr>www.ilovepdf.com</vt:lpwstr>
  </property>
</Properties>
</file>